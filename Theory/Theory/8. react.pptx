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7F5B8-23B7-5C81-A5FC-D22C1A68ED95}" v="88" dt="2024-02-11T15:20:59.429"/>
    <p1510:client id="{2CE5636D-1A21-4A34-8DC2-650F5F95D38E}" v="84" dt="2024-02-11T15:03:05.0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91" d="100"/>
          <a:sy n="91" d="100"/>
        </p:scale>
        <p:origin x="3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41F0A1-1FE2-44C1-97E0-4A5A701878C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2E444E46-B0A1-4E31-9AAF-B6694D5A5A0D}">
      <dgm:prSet/>
      <dgm:spPr/>
      <dgm:t>
        <a:bodyPr/>
        <a:lstStyle/>
        <a:p>
          <a:r>
            <a:rPr lang="en-US"/>
            <a:t>Traditional Web Development Challenges</a:t>
          </a:r>
        </a:p>
      </dgm:t>
    </dgm:pt>
    <dgm:pt modelId="{5F8CCE2B-CE9E-46C4-BCEC-AA806B158BCD}" type="parTrans" cxnId="{AA4BE0B9-EFE1-4EB6-81C7-9A7773B5B269}">
      <dgm:prSet/>
      <dgm:spPr/>
      <dgm:t>
        <a:bodyPr/>
        <a:lstStyle/>
        <a:p>
          <a:endParaRPr lang="en-US"/>
        </a:p>
      </dgm:t>
    </dgm:pt>
    <dgm:pt modelId="{9DCC0EEA-3DBD-40C9-9EC4-2753619D631A}" type="sibTrans" cxnId="{AA4BE0B9-EFE1-4EB6-81C7-9A7773B5B269}">
      <dgm:prSet/>
      <dgm:spPr/>
      <dgm:t>
        <a:bodyPr/>
        <a:lstStyle/>
        <a:p>
          <a:endParaRPr lang="en-US"/>
        </a:p>
      </dgm:t>
    </dgm:pt>
    <dgm:pt modelId="{67D9AF00-E6AB-45A0-8307-3A87BEBE653B}">
      <dgm:prSet/>
      <dgm:spPr/>
      <dgm:t>
        <a:bodyPr/>
        <a:lstStyle/>
        <a:p>
          <a:r>
            <a:rPr lang="en-US"/>
            <a:t>Managing DOM manipulation can be complex and error-prone.</a:t>
          </a:r>
        </a:p>
      </dgm:t>
    </dgm:pt>
    <dgm:pt modelId="{5DD7BC5F-335E-41E7-A91A-5A0BBBFEFCA5}" type="parTrans" cxnId="{9F73AF52-A30A-45C0-AC7F-9CE0FDB1D2BD}">
      <dgm:prSet/>
      <dgm:spPr/>
      <dgm:t>
        <a:bodyPr/>
        <a:lstStyle/>
        <a:p>
          <a:endParaRPr lang="en-US"/>
        </a:p>
      </dgm:t>
    </dgm:pt>
    <dgm:pt modelId="{271EC86B-30A7-4B23-BDC1-06EF6FE2AAA3}" type="sibTrans" cxnId="{9F73AF52-A30A-45C0-AC7F-9CE0FDB1D2BD}">
      <dgm:prSet/>
      <dgm:spPr/>
      <dgm:t>
        <a:bodyPr/>
        <a:lstStyle/>
        <a:p>
          <a:endParaRPr lang="en-US"/>
        </a:p>
      </dgm:t>
    </dgm:pt>
    <dgm:pt modelId="{104C313A-CDFF-4FBB-96F5-2AA3AF46DFC5}">
      <dgm:prSet/>
      <dgm:spPr/>
      <dgm:t>
        <a:bodyPr/>
        <a:lstStyle/>
        <a:p>
          <a:r>
            <a:rPr lang="en-US"/>
            <a:t>Codebase maintenance becomes challenging with increasing complexity.</a:t>
          </a:r>
        </a:p>
      </dgm:t>
    </dgm:pt>
    <dgm:pt modelId="{239764CF-CC2C-4271-B390-F70938A9C33C}" type="parTrans" cxnId="{F00A5D52-2DEF-44D3-A01C-4DE8266D7C60}">
      <dgm:prSet/>
      <dgm:spPr/>
      <dgm:t>
        <a:bodyPr/>
        <a:lstStyle/>
        <a:p>
          <a:endParaRPr lang="en-US"/>
        </a:p>
      </dgm:t>
    </dgm:pt>
    <dgm:pt modelId="{92C12D16-5374-43A4-93B7-45E641578420}" type="sibTrans" cxnId="{F00A5D52-2DEF-44D3-A01C-4DE8266D7C60}">
      <dgm:prSet/>
      <dgm:spPr/>
      <dgm:t>
        <a:bodyPr/>
        <a:lstStyle/>
        <a:p>
          <a:endParaRPr lang="en-US"/>
        </a:p>
      </dgm:t>
    </dgm:pt>
    <dgm:pt modelId="{11AF248E-30D0-4305-BEC8-F74EA310D18E}">
      <dgm:prSet/>
      <dgm:spPr/>
      <dgm:t>
        <a:bodyPr/>
        <a:lstStyle/>
        <a:p>
          <a:r>
            <a:rPr lang="en-US"/>
            <a:t>React's Solution</a:t>
          </a:r>
        </a:p>
      </dgm:t>
    </dgm:pt>
    <dgm:pt modelId="{251306D6-E971-4F83-9092-9E21DEF25B4D}" type="parTrans" cxnId="{2A0CE136-228B-4671-AE56-13A7CA094621}">
      <dgm:prSet/>
      <dgm:spPr/>
      <dgm:t>
        <a:bodyPr/>
        <a:lstStyle/>
        <a:p>
          <a:endParaRPr lang="en-US"/>
        </a:p>
      </dgm:t>
    </dgm:pt>
    <dgm:pt modelId="{100C3070-B31C-46C9-BEC3-08896F9D5CC2}" type="sibTrans" cxnId="{2A0CE136-228B-4671-AE56-13A7CA094621}">
      <dgm:prSet/>
      <dgm:spPr/>
      <dgm:t>
        <a:bodyPr/>
        <a:lstStyle/>
        <a:p>
          <a:endParaRPr lang="en-US"/>
        </a:p>
      </dgm:t>
    </dgm:pt>
    <dgm:pt modelId="{5850AD2E-B0A4-4F96-A438-9686497E3C6D}">
      <dgm:prSet/>
      <dgm:spPr/>
      <dgm:t>
        <a:bodyPr/>
        <a:lstStyle/>
        <a:p>
          <a:r>
            <a:rPr lang="en-US"/>
            <a:t>React introduces a component-based architecture, simplifying UI development.</a:t>
          </a:r>
        </a:p>
      </dgm:t>
    </dgm:pt>
    <dgm:pt modelId="{2B717151-4BF5-43AE-AB12-AC534C8616DC}" type="parTrans" cxnId="{A11A9BD1-7D7F-4DA1-BA3E-49CBA47ACAF3}">
      <dgm:prSet/>
      <dgm:spPr/>
      <dgm:t>
        <a:bodyPr/>
        <a:lstStyle/>
        <a:p>
          <a:endParaRPr lang="en-US"/>
        </a:p>
      </dgm:t>
    </dgm:pt>
    <dgm:pt modelId="{5A626B55-5B28-4458-BED3-AC165849EC30}" type="sibTrans" cxnId="{A11A9BD1-7D7F-4DA1-BA3E-49CBA47ACAF3}">
      <dgm:prSet/>
      <dgm:spPr/>
      <dgm:t>
        <a:bodyPr/>
        <a:lstStyle/>
        <a:p>
          <a:endParaRPr lang="en-US"/>
        </a:p>
      </dgm:t>
    </dgm:pt>
    <dgm:pt modelId="{EA5D0DC3-633B-4F64-ACCA-FF5701CBB9E0}">
      <dgm:prSet/>
      <dgm:spPr/>
      <dgm:t>
        <a:bodyPr/>
        <a:lstStyle/>
        <a:p>
          <a:r>
            <a:rPr lang="en-US"/>
            <a:t>It abstracts away the complexity of DOM manipulation, improving efficiency and performance.</a:t>
          </a:r>
        </a:p>
      </dgm:t>
    </dgm:pt>
    <dgm:pt modelId="{914612F3-3F8C-4620-9E02-0198D4236D1B}" type="parTrans" cxnId="{BA24337F-3D00-4FBF-8861-7DBADC45C7DC}">
      <dgm:prSet/>
      <dgm:spPr/>
      <dgm:t>
        <a:bodyPr/>
        <a:lstStyle/>
        <a:p>
          <a:endParaRPr lang="en-US"/>
        </a:p>
      </dgm:t>
    </dgm:pt>
    <dgm:pt modelId="{D39F8D8B-64B3-4EA0-A2BF-0948C9207056}" type="sibTrans" cxnId="{BA24337F-3D00-4FBF-8861-7DBADC45C7DC}">
      <dgm:prSet/>
      <dgm:spPr/>
      <dgm:t>
        <a:bodyPr/>
        <a:lstStyle/>
        <a:p>
          <a:endParaRPr lang="en-US"/>
        </a:p>
      </dgm:t>
    </dgm:pt>
    <dgm:pt modelId="{C2D0D291-E375-4323-81D4-2C678D2793AE}" type="pres">
      <dgm:prSet presAssocID="{8F41F0A1-1FE2-44C1-97E0-4A5A701878CF}" presName="vert0" presStyleCnt="0">
        <dgm:presLayoutVars>
          <dgm:dir/>
          <dgm:animOne val="branch"/>
          <dgm:animLvl val="lvl"/>
        </dgm:presLayoutVars>
      </dgm:prSet>
      <dgm:spPr/>
      <dgm:t>
        <a:bodyPr/>
        <a:lstStyle/>
        <a:p>
          <a:endParaRPr lang="en-US"/>
        </a:p>
      </dgm:t>
    </dgm:pt>
    <dgm:pt modelId="{CC92629A-10DD-44B7-A298-D0F18F7DD3F4}" type="pres">
      <dgm:prSet presAssocID="{2E444E46-B0A1-4E31-9AAF-B6694D5A5A0D}" presName="thickLine" presStyleLbl="alignNode1" presStyleIdx="0" presStyleCnt="6"/>
      <dgm:spPr/>
    </dgm:pt>
    <dgm:pt modelId="{29D3210E-B85A-4141-ADD8-27C88B708955}" type="pres">
      <dgm:prSet presAssocID="{2E444E46-B0A1-4E31-9AAF-B6694D5A5A0D}" presName="horz1" presStyleCnt="0"/>
      <dgm:spPr/>
    </dgm:pt>
    <dgm:pt modelId="{E2187CED-58A5-4390-A926-386E27AD0FDF}" type="pres">
      <dgm:prSet presAssocID="{2E444E46-B0A1-4E31-9AAF-B6694D5A5A0D}" presName="tx1" presStyleLbl="revTx" presStyleIdx="0" presStyleCnt="6"/>
      <dgm:spPr/>
      <dgm:t>
        <a:bodyPr/>
        <a:lstStyle/>
        <a:p>
          <a:endParaRPr lang="en-US"/>
        </a:p>
      </dgm:t>
    </dgm:pt>
    <dgm:pt modelId="{2C13786A-79CA-4223-A040-8137AB1C402D}" type="pres">
      <dgm:prSet presAssocID="{2E444E46-B0A1-4E31-9AAF-B6694D5A5A0D}" presName="vert1" presStyleCnt="0"/>
      <dgm:spPr/>
    </dgm:pt>
    <dgm:pt modelId="{AC4DB940-6EA7-4C1E-A09D-28E1926B4DC7}" type="pres">
      <dgm:prSet presAssocID="{67D9AF00-E6AB-45A0-8307-3A87BEBE653B}" presName="thickLine" presStyleLbl="alignNode1" presStyleIdx="1" presStyleCnt="6"/>
      <dgm:spPr/>
    </dgm:pt>
    <dgm:pt modelId="{B00D0FC7-031B-4F2D-9EB2-F08FD893E4D6}" type="pres">
      <dgm:prSet presAssocID="{67D9AF00-E6AB-45A0-8307-3A87BEBE653B}" presName="horz1" presStyleCnt="0"/>
      <dgm:spPr/>
    </dgm:pt>
    <dgm:pt modelId="{DE705F2C-E06E-43DD-8311-5DB6CBE945F3}" type="pres">
      <dgm:prSet presAssocID="{67D9AF00-E6AB-45A0-8307-3A87BEBE653B}" presName="tx1" presStyleLbl="revTx" presStyleIdx="1" presStyleCnt="6"/>
      <dgm:spPr/>
      <dgm:t>
        <a:bodyPr/>
        <a:lstStyle/>
        <a:p>
          <a:endParaRPr lang="en-US"/>
        </a:p>
      </dgm:t>
    </dgm:pt>
    <dgm:pt modelId="{EB5A927B-2441-4749-A642-5306E2FF4CE0}" type="pres">
      <dgm:prSet presAssocID="{67D9AF00-E6AB-45A0-8307-3A87BEBE653B}" presName="vert1" presStyleCnt="0"/>
      <dgm:spPr/>
    </dgm:pt>
    <dgm:pt modelId="{0771AE2C-31EC-49CD-B34E-BD988E0282A6}" type="pres">
      <dgm:prSet presAssocID="{104C313A-CDFF-4FBB-96F5-2AA3AF46DFC5}" presName="thickLine" presStyleLbl="alignNode1" presStyleIdx="2" presStyleCnt="6"/>
      <dgm:spPr/>
    </dgm:pt>
    <dgm:pt modelId="{5857FC37-394A-44B0-A106-7A0355A63745}" type="pres">
      <dgm:prSet presAssocID="{104C313A-CDFF-4FBB-96F5-2AA3AF46DFC5}" presName="horz1" presStyleCnt="0"/>
      <dgm:spPr/>
    </dgm:pt>
    <dgm:pt modelId="{EAEECB7E-96C0-4DD0-A37C-E92E51AF0B7C}" type="pres">
      <dgm:prSet presAssocID="{104C313A-CDFF-4FBB-96F5-2AA3AF46DFC5}" presName="tx1" presStyleLbl="revTx" presStyleIdx="2" presStyleCnt="6"/>
      <dgm:spPr/>
      <dgm:t>
        <a:bodyPr/>
        <a:lstStyle/>
        <a:p>
          <a:endParaRPr lang="en-US"/>
        </a:p>
      </dgm:t>
    </dgm:pt>
    <dgm:pt modelId="{8FFCEFBD-6625-413C-8536-405A30FE2A3A}" type="pres">
      <dgm:prSet presAssocID="{104C313A-CDFF-4FBB-96F5-2AA3AF46DFC5}" presName="vert1" presStyleCnt="0"/>
      <dgm:spPr/>
    </dgm:pt>
    <dgm:pt modelId="{1A5D8B00-3266-4E5B-9F37-0D677C38B032}" type="pres">
      <dgm:prSet presAssocID="{11AF248E-30D0-4305-BEC8-F74EA310D18E}" presName="thickLine" presStyleLbl="alignNode1" presStyleIdx="3" presStyleCnt="6"/>
      <dgm:spPr/>
    </dgm:pt>
    <dgm:pt modelId="{9864C28F-B584-4654-91AE-8D4B16D10CC2}" type="pres">
      <dgm:prSet presAssocID="{11AF248E-30D0-4305-BEC8-F74EA310D18E}" presName="horz1" presStyleCnt="0"/>
      <dgm:spPr/>
    </dgm:pt>
    <dgm:pt modelId="{E9FF51F5-B8A7-4685-A067-7BCFA7E17845}" type="pres">
      <dgm:prSet presAssocID="{11AF248E-30D0-4305-BEC8-F74EA310D18E}" presName="tx1" presStyleLbl="revTx" presStyleIdx="3" presStyleCnt="6"/>
      <dgm:spPr/>
      <dgm:t>
        <a:bodyPr/>
        <a:lstStyle/>
        <a:p>
          <a:endParaRPr lang="en-US"/>
        </a:p>
      </dgm:t>
    </dgm:pt>
    <dgm:pt modelId="{ED9BAA01-CBA4-44BC-B175-A6C7CFBAE200}" type="pres">
      <dgm:prSet presAssocID="{11AF248E-30D0-4305-BEC8-F74EA310D18E}" presName="vert1" presStyleCnt="0"/>
      <dgm:spPr/>
    </dgm:pt>
    <dgm:pt modelId="{AA04F1DD-C544-47E2-836B-4DA107FD6D42}" type="pres">
      <dgm:prSet presAssocID="{5850AD2E-B0A4-4F96-A438-9686497E3C6D}" presName="thickLine" presStyleLbl="alignNode1" presStyleIdx="4" presStyleCnt="6"/>
      <dgm:spPr/>
    </dgm:pt>
    <dgm:pt modelId="{F9D1ED74-6FAA-410D-9CE9-8BE6C75EAAC4}" type="pres">
      <dgm:prSet presAssocID="{5850AD2E-B0A4-4F96-A438-9686497E3C6D}" presName="horz1" presStyleCnt="0"/>
      <dgm:spPr/>
    </dgm:pt>
    <dgm:pt modelId="{CACC3309-1747-406A-8B81-C2AA58CDB9A9}" type="pres">
      <dgm:prSet presAssocID="{5850AD2E-B0A4-4F96-A438-9686497E3C6D}" presName="tx1" presStyleLbl="revTx" presStyleIdx="4" presStyleCnt="6"/>
      <dgm:spPr/>
      <dgm:t>
        <a:bodyPr/>
        <a:lstStyle/>
        <a:p>
          <a:endParaRPr lang="en-US"/>
        </a:p>
      </dgm:t>
    </dgm:pt>
    <dgm:pt modelId="{F667D0DA-2985-41D6-B580-71544C54C5D9}" type="pres">
      <dgm:prSet presAssocID="{5850AD2E-B0A4-4F96-A438-9686497E3C6D}" presName="vert1" presStyleCnt="0"/>
      <dgm:spPr/>
    </dgm:pt>
    <dgm:pt modelId="{3523FF9E-A23A-4A57-956E-A33B28C806D2}" type="pres">
      <dgm:prSet presAssocID="{EA5D0DC3-633B-4F64-ACCA-FF5701CBB9E0}" presName="thickLine" presStyleLbl="alignNode1" presStyleIdx="5" presStyleCnt="6"/>
      <dgm:spPr/>
    </dgm:pt>
    <dgm:pt modelId="{7CC07BED-27D2-49DA-B376-84CA059BB167}" type="pres">
      <dgm:prSet presAssocID="{EA5D0DC3-633B-4F64-ACCA-FF5701CBB9E0}" presName="horz1" presStyleCnt="0"/>
      <dgm:spPr/>
    </dgm:pt>
    <dgm:pt modelId="{6C6E5EFC-EFF8-4763-B7CE-834AC76818D0}" type="pres">
      <dgm:prSet presAssocID="{EA5D0DC3-633B-4F64-ACCA-FF5701CBB9E0}" presName="tx1" presStyleLbl="revTx" presStyleIdx="5" presStyleCnt="6"/>
      <dgm:spPr/>
      <dgm:t>
        <a:bodyPr/>
        <a:lstStyle/>
        <a:p>
          <a:endParaRPr lang="en-US"/>
        </a:p>
      </dgm:t>
    </dgm:pt>
    <dgm:pt modelId="{D86BF43D-A67A-4FFA-B107-BC876BE422E5}" type="pres">
      <dgm:prSet presAssocID="{EA5D0DC3-633B-4F64-ACCA-FF5701CBB9E0}" presName="vert1" presStyleCnt="0"/>
      <dgm:spPr/>
    </dgm:pt>
  </dgm:ptLst>
  <dgm:cxnLst>
    <dgm:cxn modelId="{1DBCC8E0-1458-4D94-AE57-98EE4E7BE443}" type="presOf" srcId="{67D9AF00-E6AB-45A0-8307-3A87BEBE653B}" destId="{DE705F2C-E06E-43DD-8311-5DB6CBE945F3}" srcOrd="0" destOrd="0" presId="urn:microsoft.com/office/officeart/2008/layout/LinedList"/>
    <dgm:cxn modelId="{6C549EF6-24DD-43D9-BB5A-0D1F1C6B0E16}" type="presOf" srcId="{EA5D0DC3-633B-4F64-ACCA-FF5701CBB9E0}" destId="{6C6E5EFC-EFF8-4763-B7CE-834AC76818D0}" srcOrd="0" destOrd="0" presId="urn:microsoft.com/office/officeart/2008/layout/LinedList"/>
    <dgm:cxn modelId="{2A0CE136-228B-4671-AE56-13A7CA094621}" srcId="{8F41F0A1-1FE2-44C1-97E0-4A5A701878CF}" destId="{11AF248E-30D0-4305-BEC8-F74EA310D18E}" srcOrd="3" destOrd="0" parTransId="{251306D6-E971-4F83-9092-9E21DEF25B4D}" sibTransId="{100C3070-B31C-46C9-BEC3-08896F9D5CC2}"/>
    <dgm:cxn modelId="{A11A9BD1-7D7F-4DA1-BA3E-49CBA47ACAF3}" srcId="{8F41F0A1-1FE2-44C1-97E0-4A5A701878CF}" destId="{5850AD2E-B0A4-4F96-A438-9686497E3C6D}" srcOrd="4" destOrd="0" parTransId="{2B717151-4BF5-43AE-AB12-AC534C8616DC}" sibTransId="{5A626B55-5B28-4458-BED3-AC165849EC30}"/>
    <dgm:cxn modelId="{0643A927-7A1B-43A1-AE8A-2A6C2AE59463}" type="presOf" srcId="{2E444E46-B0A1-4E31-9AAF-B6694D5A5A0D}" destId="{E2187CED-58A5-4390-A926-386E27AD0FDF}" srcOrd="0" destOrd="0" presId="urn:microsoft.com/office/officeart/2008/layout/LinedList"/>
    <dgm:cxn modelId="{C0DB6ECA-84D1-45C8-B9D2-E85F9B04ADA3}" type="presOf" srcId="{5850AD2E-B0A4-4F96-A438-9686497E3C6D}" destId="{CACC3309-1747-406A-8B81-C2AA58CDB9A9}" srcOrd="0" destOrd="0" presId="urn:microsoft.com/office/officeart/2008/layout/LinedList"/>
    <dgm:cxn modelId="{AA4BE0B9-EFE1-4EB6-81C7-9A7773B5B269}" srcId="{8F41F0A1-1FE2-44C1-97E0-4A5A701878CF}" destId="{2E444E46-B0A1-4E31-9AAF-B6694D5A5A0D}" srcOrd="0" destOrd="0" parTransId="{5F8CCE2B-CE9E-46C4-BCEC-AA806B158BCD}" sibTransId="{9DCC0EEA-3DBD-40C9-9EC4-2753619D631A}"/>
    <dgm:cxn modelId="{BA24337F-3D00-4FBF-8861-7DBADC45C7DC}" srcId="{8F41F0A1-1FE2-44C1-97E0-4A5A701878CF}" destId="{EA5D0DC3-633B-4F64-ACCA-FF5701CBB9E0}" srcOrd="5" destOrd="0" parTransId="{914612F3-3F8C-4620-9E02-0198D4236D1B}" sibTransId="{D39F8D8B-64B3-4EA0-A2BF-0948C9207056}"/>
    <dgm:cxn modelId="{69A2D6A6-DE91-4929-B7C5-19A0975FD6E8}" type="presOf" srcId="{104C313A-CDFF-4FBB-96F5-2AA3AF46DFC5}" destId="{EAEECB7E-96C0-4DD0-A37C-E92E51AF0B7C}" srcOrd="0" destOrd="0" presId="urn:microsoft.com/office/officeart/2008/layout/LinedList"/>
    <dgm:cxn modelId="{FB434D4A-3E84-49DB-8708-62DEA9CA376A}" type="presOf" srcId="{11AF248E-30D0-4305-BEC8-F74EA310D18E}" destId="{E9FF51F5-B8A7-4685-A067-7BCFA7E17845}" srcOrd="0" destOrd="0" presId="urn:microsoft.com/office/officeart/2008/layout/LinedList"/>
    <dgm:cxn modelId="{F00A5D52-2DEF-44D3-A01C-4DE8266D7C60}" srcId="{8F41F0A1-1FE2-44C1-97E0-4A5A701878CF}" destId="{104C313A-CDFF-4FBB-96F5-2AA3AF46DFC5}" srcOrd="2" destOrd="0" parTransId="{239764CF-CC2C-4271-B390-F70938A9C33C}" sibTransId="{92C12D16-5374-43A4-93B7-45E641578420}"/>
    <dgm:cxn modelId="{9F73AF52-A30A-45C0-AC7F-9CE0FDB1D2BD}" srcId="{8F41F0A1-1FE2-44C1-97E0-4A5A701878CF}" destId="{67D9AF00-E6AB-45A0-8307-3A87BEBE653B}" srcOrd="1" destOrd="0" parTransId="{5DD7BC5F-335E-41E7-A91A-5A0BBBFEFCA5}" sibTransId="{271EC86B-30A7-4B23-BDC1-06EF6FE2AAA3}"/>
    <dgm:cxn modelId="{6A3B5EEF-7FC0-4140-9225-E5476E0E32C4}" type="presOf" srcId="{8F41F0A1-1FE2-44C1-97E0-4A5A701878CF}" destId="{C2D0D291-E375-4323-81D4-2C678D2793AE}" srcOrd="0" destOrd="0" presId="urn:microsoft.com/office/officeart/2008/layout/LinedList"/>
    <dgm:cxn modelId="{DBD5DD20-1B59-42EB-94D5-85BA88F93FDA}" type="presParOf" srcId="{C2D0D291-E375-4323-81D4-2C678D2793AE}" destId="{CC92629A-10DD-44B7-A298-D0F18F7DD3F4}" srcOrd="0" destOrd="0" presId="urn:microsoft.com/office/officeart/2008/layout/LinedList"/>
    <dgm:cxn modelId="{D3BF6683-83B3-4CD5-AA8A-A2AF912D8901}" type="presParOf" srcId="{C2D0D291-E375-4323-81D4-2C678D2793AE}" destId="{29D3210E-B85A-4141-ADD8-27C88B708955}" srcOrd="1" destOrd="0" presId="urn:microsoft.com/office/officeart/2008/layout/LinedList"/>
    <dgm:cxn modelId="{1A6FEEC1-A089-4CB4-B53A-C44A5B558437}" type="presParOf" srcId="{29D3210E-B85A-4141-ADD8-27C88B708955}" destId="{E2187CED-58A5-4390-A926-386E27AD0FDF}" srcOrd="0" destOrd="0" presId="urn:microsoft.com/office/officeart/2008/layout/LinedList"/>
    <dgm:cxn modelId="{5233A076-1EF7-4EB0-9BBD-3574ECC3562F}" type="presParOf" srcId="{29D3210E-B85A-4141-ADD8-27C88B708955}" destId="{2C13786A-79CA-4223-A040-8137AB1C402D}" srcOrd="1" destOrd="0" presId="urn:microsoft.com/office/officeart/2008/layout/LinedList"/>
    <dgm:cxn modelId="{9655537D-18BA-4A51-80D9-51BFF4030847}" type="presParOf" srcId="{C2D0D291-E375-4323-81D4-2C678D2793AE}" destId="{AC4DB940-6EA7-4C1E-A09D-28E1926B4DC7}" srcOrd="2" destOrd="0" presId="urn:microsoft.com/office/officeart/2008/layout/LinedList"/>
    <dgm:cxn modelId="{2E1D56C1-4E73-47E3-8CAA-9BCB76CA9183}" type="presParOf" srcId="{C2D0D291-E375-4323-81D4-2C678D2793AE}" destId="{B00D0FC7-031B-4F2D-9EB2-F08FD893E4D6}" srcOrd="3" destOrd="0" presId="urn:microsoft.com/office/officeart/2008/layout/LinedList"/>
    <dgm:cxn modelId="{5E8D1805-1EAA-4E9F-B61C-418F96439CCC}" type="presParOf" srcId="{B00D0FC7-031B-4F2D-9EB2-F08FD893E4D6}" destId="{DE705F2C-E06E-43DD-8311-5DB6CBE945F3}" srcOrd="0" destOrd="0" presId="urn:microsoft.com/office/officeart/2008/layout/LinedList"/>
    <dgm:cxn modelId="{43B24F88-08CF-4104-823E-0A5983E5A749}" type="presParOf" srcId="{B00D0FC7-031B-4F2D-9EB2-F08FD893E4D6}" destId="{EB5A927B-2441-4749-A642-5306E2FF4CE0}" srcOrd="1" destOrd="0" presId="urn:microsoft.com/office/officeart/2008/layout/LinedList"/>
    <dgm:cxn modelId="{97C68AD0-C14B-4AD4-B990-B38BAA323A87}" type="presParOf" srcId="{C2D0D291-E375-4323-81D4-2C678D2793AE}" destId="{0771AE2C-31EC-49CD-B34E-BD988E0282A6}" srcOrd="4" destOrd="0" presId="urn:microsoft.com/office/officeart/2008/layout/LinedList"/>
    <dgm:cxn modelId="{4D00146F-6F72-4F03-8777-6A845187EB43}" type="presParOf" srcId="{C2D0D291-E375-4323-81D4-2C678D2793AE}" destId="{5857FC37-394A-44B0-A106-7A0355A63745}" srcOrd="5" destOrd="0" presId="urn:microsoft.com/office/officeart/2008/layout/LinedList"/>
    <dgm:cxn modelId="{6A8D33CA-8B7B-4C13-81C6-5AFEC186108A}" type="presParOf" srcId="{5857FC37-394A-44B0-A106-7A0355A63745}" destId="{EAEECB7E-96C0-4DD0-A37C-E92E51AF0B7C}" srcOrd="0" destOrd="0" presId="urn:microsoft.com/office/officeart/2008/layout/LinedList"/>
    <dgm:cxn modelId="{88363673-4F43-4F60-91C9-F101AF1CDCC9}" type="presParOf" srcId="{5857FC37-394A-44B0-A106-7A0355A63745}" destId="{8FFCEFBD-6625-413C-8536-405A30FE2A3A}" srcOrd="1" destOrd="0" presId="urn:microsoft.com/office/officeart/2008/layout/LinedList"/>
    <dgm:cxn modelId="{84E7E097-C873-44BA-9882-FB7E8355B4E0}" type="presParOf" srcId="{C2D0D291-E375-4323-81D4-2C678D2793AE}" destId="{1A5D8B00-3266-4E5B-9F37-0D677C38B032}" srcOrd="6" destOrd="0" presId="urn:microsoft.com/office/officeart/2008/layout/LinedList"/>
    <dgm:cxn modelId="{7FED0733-F19D-487D-8D60-0D8A30B7E2DE}" type="presParOf" srcId="{C2D0D291-E375-4323-81D4-2C678D2793AE}" destId="{9864C28F-B584-4654-91AE-8D4B16D10CC2}" srcOrd="7" destOrd="0" presId="urn:microsoft.com/office/officeart/2008/layout/LinedList"/>
    <dgm:cxn modelId="{E69BF0FE-AB5A-4D74-8755-213F6C35FC3E}" type="presParOf" srcId="{9864C28F-B584-4654-91AE-8D4B16D10CC2}" destId="{E9FF51F5-B8A7-4685-A067-7BCFA7E17845}" srcOrd="0" destOrd="0" presId="urn:microsoft.com/office/officeart/2008/layout/LinedList"/>
    <dgm:cxn modelId="{BDF4C201-A5CC-4E93-AE33-ADD8706082B6}" type="presParOf" srcId="{9864C28F-B584-4654-91AE-8D4B16D10CC2}" destId="{ED9BAA01-CBA4-44BC-B175-A6C7CFBAE200}" srcOrd="1" destOrd="0" presId="urn:microsoft.com/office/officeart/2008/layout/LinedList"/>
    <dgm:cxn modelId="{22C2EF23-1DB9-4BD6-9BB7-1F33E2220598}" type="presParOf" srcId="{C2D0D291-E375-4323-81D4-2C678D2793AE}" destId="{AA04F1DD-C544-47E2-836B-4DA107FD6D42}" srcOrd="8" destOrd="0" presId="urn:microsoft.com/office/officeart/2008/layout/LinedList"/>
    <dgm:cxn modelId="{A28DC7B0-6420-4650-90C2-1257CA1D1FA8}" type="presParOf" srcId="{C2D0D291-E375-4323-81D4-2C678D2793AE}" destId="{F9D1ED74-6FAA-410D-9CE9-8BE6C75EAAC4}" srcOrd="9" destOrd="0" presId="urn:microsoft.com/office/officeart/2008/layout/LinedList"/>
    <dgm:cxn modelId="{BCFB61ED-9F3C-44E0-A9C4-69F1E2CBB405}" type="presParOf" srcId="{F9D1ED74-6FAA-410D-9CE9-8BE6C75EAAC4}" destId="{CACC3309-1747-406A-8B81-C2AA58CDB9A9}" srcOrd="0" destOrd="0" presId="urn:microsoft.com/office/officeart/2008/layout/LinedList"/>
    <dgm:cxn modelId="{4E8A4763-1431-4C5E-9F1E-99DFFDD6ACD4}" type="presParOf" srcId="{F9D1ED74-6FAA-410D-9CE9-8BE6C75EAAC4}" destId="{F667D0DA-2985-41D6-B580-71544C54C5D9}" srcOrd="1" destOrd="0" presId="urn:microsoft.com/office/officeart/2008/layout/LinedList"/>
    <dgm:cxn modelId="{0224D2B8-47C3-4C0B-A8CA-C648B4DB155C}" type="presParOf" srcId="{C2D0D291-E375-4323-81D4-2C678D2793AE}" destId="{3523FF9E-A23A-4A57-956E-A33B28C806D2}" srcOrd="10" destOrd="0" presId="urn:microsoft.com/office/officeart/2008/layout/LinedList"/>
    <dgm:cxn modelId="{FA69742F-F17E-479B-A22E-A497D322E449}" type="presParOf" srcId="{C2D0D291-E375-4323-81D4-2C678D2793AE}" destId="{7CC07BED-27D2-49DA-B376-84CA059BB167}" srcOrd="11" destOrd="0" presId="urn:microsoft.com/office/officeart/2008/layout/LinedList"/>
    <dgm:cxn modelId="{8B6A823A-DE7C-4E0F-97FB-CE88B1AAB0B0}" type="presParOf" srcId="{7CC07BED-27D2-49DA-B376-84CA059BB167}" destId="{6C6E5EFC-EFF8-4763-B7CE-834AC76818D0}" srcOrd="0" destOrd="0" presId="urn:microsoft.com/office/officeart/2008/layout/LinedList"/>
    <dgm:cxn modelId="{0890129D-0278-4474-B4DA-213B331FFBD8}" type="presParOf" srcId="{7CC07BED-27D2-49DA-B376-84CA059BB167}" destId="{D86BF43D-A67A-4FFA-B107-BC876BE422E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099526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14105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25277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47025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2/20/2024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996120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594738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825143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449339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44909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149179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78128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95503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420035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085185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0440083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608315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2/20/2024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509200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2/20/2024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2697090476"/>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17382510-079F-338C-F4C2-3B90951C549B}"/>
              </a:ext>
            </a:extLst>
          </p:cNvPr>
          <p:cNvPicPr>
            <a:picLocks noChangeAspect="1"/>
          </p:cNvPicPr>
          <p:nvPr/>
        </p:nvPicPr>
        <p:blipFill rotWithShape="1">
          <a:blip r:embed="rId2">
            <a:alphaModFix amt="60000"/>
          </a:blip>
          <a:srcRect t="24111" r="-2" b="-2"/>
          <a:stretch/>
        </p:blipFill>
        <p:spPr>
          <a:xfrm>
            <a:off x="20" y="10"/>
            <a:ext cx="12191979" cy="6857989"/>
          </a:xfrm>
          <a:prstGeom prst="rect">
            <a:avLst/>
          </a:prstGeom>
        </p:spPr>
      </p:pic>
      <p:sp>
        <p:nvSpPr>
          <p:cNvPr id="2" name="Title 1"/>
          <p:cNvSpPr>
            <a:spLocks noGrp="1"/>
          </p:cNvSpPr>
          <p:nvPr>
            <p:ph type="ctrTitle"/>
          </p:nvPr>
        </p:nvSpPr>
        <p:spPr>
          <a:xfrm>
            <a:off x="521208" y="908791"/>
            <a:ext cx="6108192" cy="5099101"/>
          </a:xfrm>
        </p:spPr>
        <p:txBody>
          <a:bodyPr anchor="b">
            <a:normAutofit/>
          </a:bodyPr>
          <a:lstStyle/>
          <a:p>
            <a:r>
              <a:rPr lang="en-US" sz="6000">
                <a:solidFill>
                  <a:srgbClr val="FFFFFF"/>
                </a:solidFill>
              </a:rPr>
              <a:t>React</a:t>
            </a:r>
          </a:p>
        </p:txBody>
      </p:sp>
      <p:sp>
        <p:nvSpPr>
          <p:cNvPr id="3" name="Subtitle 2"/>
          <p:cNvSpPr>
            <a:spLocks noGrp="1"/>
          </p:cNvSpPr>
          <p:nvPr>
            <p:ph type="subTitle" idx="1"/>
          </p:nvPr>
        </p:nvSpPr>
        <p:spPr>
          <a:xfrm>
            <a:off x="9261099" y="917843"/>
            <a:ext cx="2359397" cy="5020747"/>
          </a:xfrm>
        </p:spPr>
        <p:txBody>
          <a:bodyPr vert="horz" lIns="91440" tIns="45720" rIns="91440" bIns="45720" rtlCol="0" anchor="t">
            <a:normAutofit/>
          </a:bodyPr>
          <a:lstStyle/>
          <a:p>
            <a:r>
              <a:rPr lang="en-US">
                <a:solidFill>
                  <a:srgbClr val="FFFFFF"/>
                </a:solidFill>
              </a:rPr>
              <a:t>By Komal Singh</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358A92-840F-9EDA-6961-7E56E6CB32B3}"/>
              </a:ext>
            </a:extLst>
          </p:cNvPr>
          <p:cNvSpPr>
            <a:spLocks noGrp="1"/>
          </p:cNvSpPr>
          <p:nvPr>
            <p:ph type="title"/>
          </p:nvPr>
        </p:nvSpPr>
        <p:spPr>
          <a:xfrm>
            <a:off x="6742108" y="629266"/>
            <a:ext cx="3307744" cy="1641986"/>
          </a:xfrm>
        </p:spPr>
        <p:txBody>
          <a:bodyPr>
            <a:normAutofit/>
          </a:bodyPr>
          <a:lstStyle/>
          <a:p>
            <a:r>
              <a:rPr lang="en-US">
                <a:latin typeface="Batang"/>
                <a:ea typeface="Batang"/>
              </a:rPr>
              <a:t>Introduction to React</a:t>
            </a:r>
            <a:endParaRPr lang="en-US" dirty="0"/>
          </a:p>
        </p:txBody>
      </p:sp>
      <p:pic>
        <p:nvPicPr>
          <p:cNvPr id="7" name="Picture 6" descr="Technological background">
            <a:extLst>
              <a:ext uri="{FF2B5EF4-FFF2-40B4-BE49-F238E27FC236}">
                <a16:creationId xmlns:a16="http://schemas.microsoft.com/office/drawing/2014/main" xmlns="" id="{FE3A81C2-A34F-5259-AB34-51B84FF59165}"/>
              </a:ext>
            </a:extLst>
          </p:cNvPr>
          <p:cNvPicPr>
            <a:picLocks noChangeAspect="1"/>
          </p:cNvPicPr>
          <p:nvPr/>
        </p:nvPicPr>
        <p:blipFill rotWithShape="1">
          <a:blip r:embed="rId3"/>
          <a:srcRect l="13536" r="27233" b="-3"/>
          <a:stretch/>
        </p:blipFill>
        <p:spPr>
          <a:xfrm>
            <a:off x="-2" y="10"/>
            <a:ext cx="6094407" cy="6857990"/>
          </a:xfrm>
          <a:prstGeom prst="rect">
            <a:avLst/>
          </a:prstGeom>
        </p:spPr>
      </p:pic>
      <p:sp>
        <p:nvSpPr>
          <p:cNvPr id="3" name="Content Placeholder 2">
            <a:extLst>
              <a:ext uri="{FF2B5EF4-FFF2-40B4-BE49-F238E27FC236}">
                <a16:creationId xmlns:a16="http://schemas.microsoft.com/office/drawing/2014/main" xmlns="" id="{DE84A58E-491C-C42A-F0F4-96C40B311F75}"/>
              </a:ext>
            </a:extLst>
          </p:cNvPr>
          <p:cNvSpPr>
            <a:spLocks noGrp="1"/>
          </p:cNvSpPr>
          <p:nvPr>
            <p:ph idx="1"/>
          </p:nvPr>
        </p:nvSpPr>
        <p:spPr>
          <a:xfrm>
            <a:off x="6742108" y="2438400"/>
            <a:ext cx="3307744" cy="3809999"/>
          </a:xfrm>
        </p:spPr>
        <p:txBody>
          <a:bodyPr vert="horz" lIns="91440" tIns="45720" rIns="91440" bIns="45720" rtlCol="0" anchor="t">
            <a:normAutofit/>
          </a:bodyPr>
          <a:lstStyle/>
          <a:p>
            <a:pPr>
              <a:lnSpc>
                <a:spcPct val="90000"/>
              </a:lnSpc>
            </a:pPr>
            <a:r>
              <a:rPr lang="en-US" sz="1600" dirty="0">
                <a:ea typeface="+mn-lt"/>
                <a:cs typeface="+mn-lt"/>
              </a:rPr>
              <a:t>What is React?</a:t>
            </a:r>
            <a:endParaRPr lang="en-US" sz="1600" dirty="0"/>
          </a:p>
          <a:p>
            <a:pPr>
              <a:lnSpc>
                <a:spcPct val="90000"/>
              </a:lnSpc>
            </a:pPr>
            <a:r>
              <a:rPr lang="en-US" sz="1600" dirty="0">
                <a:ea typeface="+mn-lt"/>
                <a:cs typeface="+mn-lt"/>
              </a:rPr>
              <a:t>React is a JavaScript library for building user interfaces.</a:t>
            </a:r>
            <a:endParaRPr lang="en-US" sz="1600" dirty="0"/>
          </a:p>
          <a:p>
            <a:pPr>
              <a:lnSpc>
                <a:spcPct val="90000"/>
              </a:lnSpc>
            </a:pPr>
            <a:r>
              <a:rPr lang="en-US" sz="1600" dirty="0">
                <a:ea typeface="+mn-lt"/>
                <a:cs typeface="+mn-lt"/>
              </a:rPr>
              <a:t>Developed by Facebook, it has become a cornerstone of modern web development.</a:t>
            </a:r>
            <a:endParaRPr lang="en-US" sz="1600" dirty="0"/>
          </a:p>
          <a:p>
            <a:pPr>
              <a:lnSpc>
                <a:spcPct val="90000"/>
              </a:lnSpc>
            </a:pPr>
            <a:r>
              <a:rPr lang="en-US" sz="1600" dirty="0">
                <a:ea typeface="+mn-lt"/>
                <a:cs typeface="+mn-lt"/>
              </a:rPr>
              <a:t>Why React?</a:t>
            </a:r>
            <a:endParaRPr lang="en-US" sz="1600" dirty="0"/>
          </a:p>
          <a:p>
            <a:pPr>
              <a:lnSpc>
                <a:spcPct val="90000"/>
              </a:lnSpc>
            </a:pPr>
            <a:r>
              <a:rPr lang="en-US" sz="1600" dirty="0">
                <a:ea typeface="+mn-lt"/>
                <a:cs typeface="+mn-lt"/>
              </a:rPr>
              <a:t>React simplifies the process of creating interactive and dynamic user interfaces.</a:t>
            </a:r>
            <a:endParaRPr lang="en-US" sz="1600" dirty="0"/>
          </a:p>
          <a:p>
            <a:pPr marL="0" indent="0">
              <a:lnSpc>
                <a:spcPct val="90000"/>
              </a:lnSpc>
              <a:buNone/>
            </a:pPr>
            <a:r>
              <a:rPr lang="en-US" sz="1600" dirty="0"/>
              <a:t/>
            </a:r>
            <a:br>
              <a:rPr lang="en-US" sz="1600" dirty="0"/>
            </a:br>
            <a:endParaRPr lang="en-US" sz="1600"/>
          </a:p>
        </p:txBody>
      </p:sp>
    </p:spTree>
    <p:extLst>
      <p:ext uri="{BB962C8B-B14F-4D97-AF65-F5344CB8AC3E}">
        <p14:creationId xmlns:p14="http://schemas.microsoft.com/office/powerpoint/2010/main" val="113666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C1F1BD-9B87-903E-DBCB-D349455C2B60}"/>
              </a:ext>
            </a:extLst>
          </p:cNvPr>
          <p:cNvSpPr>
            <a:spLocks noGrp="1"/>
          </p:cNvSpPr>
          <p:nvPr>
            <p:ph type="title"/>
          </p:nvPr>
        </p:nvSpPr>
        <p:spPr>
          <a:xfrm>
            <a:off x="646111" y="452718"/>
            <a:ext cx="9404723" cy="1400530"/>
          </a:xfrm>
        </p:spPr>
        <p:txBody>
          <a:bodyPr>
            <a:normAutofit/>
          </a:bodyPr>
          <a:lstStyle/>
          <a:p>
            <a:r>
              <a:rPr lang="en-US">
                <a:latin typeface="Batang"/>
                <a:ea typeface="Batang"/>
              </a:rPr>
              <a:t>The Need for React</a:t>
            </a:r>
            <a:endParaRPr lang="en-US"/>
          </a:p>
        </p:txBody>
      </p:sp>
      <p:graphicFrame>
        <p:nvGraphicFramePr>
          <p:cNvPr id="32" name="Content Placeholder 2">
            <a:extLst>
              <a:ext uri="{FF2B5EF4-FFF2-40B4-BE49-F238E27FC236}">
                <a16:creationId xmlns:a16="http://schemas.microsoft.com/office/drawing/2014/main" xmlns="" id="{7E44CC84-E548-7561-0FD9-B9DAF33A3437}"/>
              </a:ext>
            </a:extLst>
          </p:cNvPr>
          <p:cNvGraphicFramePr>
            <a:graphicFrameLocks noGrp="1"/>
          </p:cNvGraphicFramePr>
          <p:nvPr>
            <p:ph idx="1"/>
            <p:extLst>
              <p:ext uri="{D42A27DB-BD31-4B8C-83A1-F6EECF244321}">
                <p14:modId xmlns:p14="http://schemas.microsoft.com/office/powerpoint/2010/main" val="1067992047"/>
              </p:ext>
            </p:extLst>
          </p:nvPr>
        </p:nvGraphicFramePr>
        <p:xfrm>
          <a:off x="646111" y="2140085"/>
          <a:ext cx="9404352" cy="4056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9859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C8A3C342-1D03-412F-8DD3-BF519E8E0AE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D0E462F-947F-1681-921B-B1DF64337322}"/>
              </a:ext>
            </a:extLst>
          </p:cNvPr>
          <p:cNvSpPr>
            <a:spLocks noGrp="1"/>
          </p:cNvSpPr>
          <p:nvPr>
            <p:ph type="title"/>
          </p:nvPr>
        </p:nvSpPr>
        <p:spPr>
          <a:xfrm>
            <a:off x="648930" y="629266"/>
            <a:ext cx="6188190" cy="1622321"/>
          </a:xfrm>
        </p:spPr>
        <p:txBody>
          <a:bodyPr>
            <a:normAutofit/>
          </a:bodyPr>
          <a:lstStyle/>
          <a:p>
            <a:r>
              <a:rPr lang="en-US">
                <a:solidFill>
                  <a:srgbClr val="EBEBEB"/>
                </a:solidFill>
                <a:latin typeface="Batang"/>
                <a:ea typeface="Batang"/>
              </a:rPr>
              <a:t>Key Features of React</a:t>
            </a:r>
            <a:endParaRPr lang="en-US">
              <a:solidFill>
                <a:srgbClr val="EBEBEB"/>
              </a:solidFill>
            </a:endParaRPr>
          </a:p>
        </p:txBody>
      </p:sp>
      <p:sp>
        <p:nvSpPr>
          <p:cNvPr id="13" name="Content Placeholder 2">
            <a:extLst>
              <a:ext uri="{FF2B5EF4-FFF2-40B4-BE49-F238E27FC236}">
                <a16:creationId xmlns:a16="http://schemas.microsoft.com/office/drawing/2014/main" xmlns="" id="{A95B5228-F9A7-C95E-63FA-6B2C2F5D1A4C}"/>
              </a:ext>
            </a:extLst>
          </p:cNvPr>
          <p:cNvSpPr>
            <a:spLocks noGrp="1"/>
          </p:cNvSpPr>
          <p:nvPr>
            <p:ph idx="1"/>
          </p:nvPr>
        </p:nvSpPr>
        <p:spPr>
          <a:xfrm>
            <a:off x="648930" y="2438400"/>
            <a:ext cx="6188189" cy="3785419"/>
          </a:xfrm>
        </p:spPr>
        <p:txBody>
          <a:bodyPr vert="horz" lIns="91440" tIns="45720" rIns="91440" bIns="45720" rtlCol="0" anchor="t">
            <a:normAutofit fontScale="92500" lnSpcReduction="10000"/>
          </a:bodyPr>
          <a:lstStyle/>
          <a:p>
            <a:pPr>
              <a:lnSpc>
                <a:spcPct val="90000"/>
              </a:lnSpc>
            </a:pPr>
            <a:r>
              <a:rPr lang="en-US" sz="1600" dirty="0">
                <a:solidFill>
                  <a:srgbClr val="FFFFFF"/>
                </a:solidFill>
                <a:ea typeface="+mn-lt"/>
                <a:cs typeface="+mn-lt"/>
              </a:rPr>
              <a:t>Component-Based Architecture</a:t>
            </a:r>
            <a:endParaRPr lang="en-US" sz="1600" dirty="0">
              <a:solidFill>
                <a:srgbClr val="FFFFFF"/>
              </a:solidFill>
            </a:endParaRPr>
          </a:p>
          <a:p>
            <a:pPr>
              <a:lnSpc>
                <a:spcPct val="90000"/>
              </a:lnSpc>
            </a:pPr>
            <a:r>
              <a:rPr lang="en-US" sz="1600" dirty="0">
                <a:solidFill>
                  <a:srgbClr val="FFFFFF"/>
                </a:solidFill>
                <a:ea typeface="+mn-lt"/>
                <a:cs typeface="+mn-lt"/>
              </a:rPr>
              <a:t>UI is broken down into reusable components.</a:t>
            </a:r>
            <a:endParaRPr lang="en-US" sz="1600" dirty="0">
              <a:solidFill>
                <a:srgbClr val="FFFFFF"/>
              </a:solidFill>
            </a:endParaRPr>
          </a:p>
          <a:p>
            <a:pPr>
              <a:lnSpc>
                <a:spcPct val="90000"/>
              </a:lnSpc>
            </a:pPr>
            <a:r>
              <a:rPr lang="en-US" sz="1600" dirty="0">
                <a:solidFill>
                  <a:srgbClr val="FFFFFF"/>
                </a:solidFill>
                <a:ea typeface="+mn-lt"/>
                <a:cs typeface="+mn-lt"/>
              </a:rPr>
              <a:t>Encourages a modular approach to development.</a:t>
            </a:r>
            <a:endParaRPr lang="en-US" sz="1600" dirty="0">
              <a:solidFill>
                <a:srgbClr val="FFFFFF"/>
              </a:solidFill>
            </a:endParaRPr>
          </a:p>
          <a:p>
            <a:pPr>
              <a:lnSpc>
                <a:spcPct val="90000"/>
              </a:lnSpc>
            </a:pPr>
            <a:r>
              <a:rPr lang="en-US" sz="1600" dirty="0">
                <a:solidFill>
                  <a:srgbClr val="FFFFFF"/>
                </a:solidFill>
                <a:ea typeface="+mn-lt"/>
                <a:cs typeface="+mn-lt"/>
              </a:rPr>
              <a:t>Virtual DOM</a:t>
            </a:r>
            <a:endParaRPr lang="en-US" sz="1600" dirty="0">
              <a:solidFill>
                <a:srgbClr val="FFFFFF"/>
              </a:solidFill>
            </a:endParaRPr>
          </a:p>
          <a:p>
            <a:pPr>
              <a:lnSpc>
                <a:spcPct val="90000"/>
              </a:lnSpc>
            </a:pPr>
            <a:r>
              <a:rPr lang="en-US" sz="1600" dirty="0">
                <a:solidFill>
                  <a:srgbClr val="FFFFFF"/>
                </a:solidFill>
                <a:ea typeface="+mn-lt"/>
                <a:cs typeface="+mn-lt"/>
              </a:rPr>
              <a:t>React uses a virtual representation of the DOM for efficient updates.</a:t>
            </a:r>
            <a:endParaRPr lang="en-US" sz="1600" dirty="0">
              <a:solidFill>
                <a:srgbClr val="FFFFFF"/>
              </a:solidFill>
            </a:endParaRPr>
          </a:p>
          <a:p>
            <a:pPr>
              <a:lnSpc>
                <a:spcPct val="90000"/>
              </a:lnSpc>
            </a:pPr>
            <a:r>
              <a:rPr lang="en-US" sz="1600" dirty="0">
                <a:solidFill>
                  <a:srgbClr val="FFFFFF"/>
                </a:solidFill>
                <a:ea typeface="+mn-lt"/>
                <a:cs typeface="+mn-lt"/>
              </a:rPr>
              <a:t>Minimizes direct DOM manipulations, enhancing performance.</a:t>
            </a:r>
            <a:endParaRPr lang="en-US" sz="1600" dirty="0">
              <a:solidFill>
                <a:srgbClr val="FFFFFF"/>
              </a:solidFill>
            </a:endParaRPr>
          </a:p>
          <a:p>
            <a:pPr>
              <a:lnSpc>
                <a:spcPct val="90000"/>
              </a:lnSpc>
            </a:pPr>
            <a:r>
              <a:rPr lang="en-US" sz="1600" dirty="0">
                <a:solidFill>
                  <a:srgbClr val="FFFFFF"/>
                </a:solidFill>
                <a:ea typeface="+mn-lt"/>
                <a:cs typeface="+mn-lt"/>
              </a:rPr>
              <a:t>JSX Syntax</a:t>
            </a:r>
            <a:endParaRPr lang="en-US" sz="1600" dirty="0">
              <a:solidFill>
                <a:srgbClr val="FFFFFF"/>
              </a:solidFill>
            </a:endParaRPr>
          </a:p>
          <a:p>
            <a:pPr>
              <a:lnSpc>
                <a:spcPct val="90000"/>
              </a:lnSpc>
            </a:pPr>
            <a:r>
              <a:rPr lang="en-US" sz="1600" dirty="0">
                <a:solidFill>
                  <a:srgbClr val="FFFFFF"/>
                </a:solidFill>
                <a:ea typeface="+mn-lt"/>
                <a:cs typeface="+mn-lt"/>
              </a:rPr>
              <a:t>Combines JavaScript and HTML-like syntax for defining UI components.</a:t>
            </a:r>
            <a:endParaRPr lang="en-US" sz="1600" dirty="0">
              <a:solidFill>
                <a:srgbClr val="FFFFFF"/>
              </a:solidFill>
            </a:endParaRPr>
          </a:p>
          <a:p>
            <a:pPr>
              <a:lnSpc>
                <a:spcPct val="90000"/>
              </a:lnSpc>
            </a:pPr>
            <a:r>
              <a:rPr lang="en-US" sz="1600" dirty="0">
                <a:solidFill>
                  <a:srgbClr val="FFFFFF"/>
                </a:solidFill>
                <a:ea typeface="+mn-lt"/>
                <a:cs typeface="+mn-lt"/>
              </a:rPr>
              <a:t>Makes UI development more intuitive and readable.</a:t>
            </a:r>
            <a:endParaRPr lang="en-US" sz="1600" dirty="0">
              <a:solidFill>
                <a:srgbClr val="FFFFFF"/>
              </a:solidFill>
            </a:endParaRPr>
          </a:p>
          <a:p>
            <a:pPr marL="0" indent="0">
              <a:lnSpc>
                <a:spcPct val="90000"/>
              </a:lnSpc>
              <a:buNone/>
            </a:pPr>
            <a:r>
              <a:rPr lang="en-US" sz="1400" dirty="0"/>
              <a:t/>
            </a:r>
            <a:br>
              <a:rPr lang="en-US" sz="1400" dirty="0"/>
            </a:br>
            <a:endParaRPr lang="en-US" sz="1400">
              <a:solidFill>
                <a:srgbClr val="FFFFFF"/>
              </a:solidFill>
            </a:endParaRPr>
          </a:p>
        </p:txBody>
      </p:sp>
      <p:sp>
        <p:nvSpPr>
          <p:cNvPr id="12" name="Freeform 31">
            <a:extLst>
              <a:ext uri="{FF2B5EF4-FFF2-40B4-BE49-F238E27FC236}">
                <a16:creationId xmlns:a16="http://schemas.microsoft.com/office/drawing/2014/main" xmlns="" id="{81CC9B02-E087-4350-AEBD-2C3CF001AF0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Top view of cubes connected with black lines">
            <a:extLst>
              <a:ext uri="{FF2B5EF4-FFF2-40B4-BE49-F238E27FC236}">
                <a16:creationId xmlns:a16="http://schemas.microsoft.com/office/drawing/2014/main" xmlns="" id="{28F9D822-8C73-5E60-6DCD-62E330470022}"/>
              </a:ext>
            </a:extLst>
          </p:cNvPr>
          <p:cNvPicPr>
            <a:picLocks noChangeAspect="1"/>
          </p:cNvPicPr>
          <p:nvPr/>
        </p:nvPicPr>
        <p:blipFill rotWithShape="1">
          <a:blip r:embed="rId3"/>
          <a:srcRect l="28004" r="17718"/>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387057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466DD3-13BA-4117-11CC-BA5A2784D504}"/>
              </a:ext>
            </a:extLst>
          </p:cNvPr>
          <p:cNvSpPr>
            <a:spLocks noGrp="1"/>
          </p:cNvSpPr>
          <p:nvPr>
            <p:ph type="title"/>
          </p:nvPr>
        </p:nvSpPr>
        <p:spPr/>
        <p:txBody>
          <a:bodyPr/>
          <a:lstStyle/>
          <a:p>
            <a:r>
              <a:rPr lang="en-US" dirty="0">
                <a:solidFill>
                  <a:srgbClr val="EBEBEB"/>
                </a:solidFill>
                <a:ea typeface="+mj-lt"/>
                <a:cs typeface="+mj-lt"/>
              </a:rPr>
              <a:t>The Purpose Behind React</a:t>
            </a:r>
            <a:endParaRPr lang="en-US" dirty="0"/>
          </a:p>
        </p:txBody>
      </p:sp>
      <p:sp>
        <p:nvSpPr>
          <p:cNvPr id="3" name="Content Placeholder 2">
            <a:extLst>
              <a:ext uri="{FF2B5EF4-FFF2-40B4-BE49-F238E27FC236}">
                <a16:creationId xmlns:a16="http://schemas.microsoft.com/office/drawing/2014/main" xmlns="" id="{4226F6F0-8481-1E89-BE75-55AACF43401B}"/>
              </a:ext>
            </a:extLst>
          </p:cNvPr>
          <p:cNvSpPr>
            <a:spLocks noGrp="1"/>
          </p:cNvSpPr>
          <p:nvPr>
            <p:ph idx="1"/>
          </p:nvPr>
        </p:nvSpPr>
        <p:spPr/>
        <p:txBody>
          <a:bodyPr vert="horz" lIns="91440" tIns="45720" rIns="91440" bIns="45720" rtlCol="0" anchor="t">
            <a:normAutofit/>
          </a:bodyPr>
          <a:lstStyle/>
          <a:p>
            <a:r>
              <a:rPr lang="en-US" sz="1600" dirty="0">
                <a:solidFill>
                  <a:srgbClr val="F9F9F9"/>
                </a:solidFill>
                <a:ea typeface="+mj-lt"/>
                <a:cs typeface="+mj-lt"/>
              </a:rPr>
              <a:t>Declarative Syntax</a:t>
            </a:r>
            <a:endParaRPr lang="en-US" sz="1600"/>
          </a:p>
          <a:p>
            <a:pPr lvl="1">
              <a:buClr>
                <a:srgbClr val="8AD0D6"/>
              </a:buClr>
            </a:pPr>
            <a:r>
              <a:rPr lang="en-US" sz="1600" dirty="0">
                <a:solidFill>
                  <a:srgbClr val="F9F9F9"/>
                </a:solidFill>
                <a:ea typeface="+mj-lt"/>
                <a:cs typeface="+mj-lt"/>
              </a:rPr>
              <a:t>Describes what the UI should look like rather than how to achieve it.</a:t>
            </a:r>
            <a:endParaRPr lang="en-US" sz="1600"/>
          </a:p>
          <a:p>
            <a:pPr lvl="1">
              <a:buClr>
                <a:srgbClr val="8AD0D6"/>
              </a:buClr>
            </a:pPr>
            <a:r>
              <a:rPr lang="en-US" sz="1600" dirty="0">
                <a:solidFill>
                  <a:srgbClr val="F9F9F9"/>
                </a:solidFill>
                <a:ea typeface="+mj-lt"/>
                <a:cs typeface="+mj-lt"/>
              </a:rPr>
              <a:t>Improves code readability and maintainability.</a:t>
            </a:r>
            <a:endParaRPr lang="en-US" sz="1600"/>
          </a:p>
          <a:p>
            <a:pPr>
              <a:buClr>
                <a:srgbClr val="8AD0D6"/>
              </a:buClr>
            </a:pPr>
            <a:r>
              <a:rPr lang="en-US" sz="1600" dirty="0">
                <a:solidFill>
                  <a:srgbClr val="F9F9F9"/>
                </a:solidFill>
                <a:ea typeface="+mj-lt"/>
                <a:cs typeface="+mj-lt"/>
              </a:rPr>
              <a:t>Unidirectional Data Flow</a:t>
            </a:r>
            <a:endParaRPr lang="en-US" sz="1600"/>
          </a:p>
          <a:p>
            <a:pPr lvl="1">
              <a:buClr>
                <a:srgbClr val="8AD0D6"/>
              </a:buClr>
            </a:pPr>
            <a:r>
              <a:rPr lang="en-US" sz="1600" dirty="0">
                <a:solidFill>
                  <a:srgbClr val="F9F9F9"/>
                </a:solidFill>
                <a:ea typeface="+mj-lt"/>
                <a:cs typeface="+mj-lt"/>
              </a:rPr>
              <a:t>Promotes a clear data flow from parent to child components.</a:t>
            </a:r>
            <a:endParaRPr lang="en-US" sz="1600"/>
          </a:p>
          <a:p>
            <a:pPr lvl="1">
              <a:buClr>
                <a:srgbClr val="8AD0D6"/>
              </a:buClr>
            </a:pPr>
            <a:r>
              <a:rPr lang="en-US" sz="1600" dirty="0">
                <a:solidFill>
                  <a:srgbClr val="F9F9F9"/>
                </a:solidFill>
                <a:ea typeface="+mj-lt"/>
                <a:cs typeface="+mj-lt"/>
              </a:rPr>
              <a:t>Enhances predictability and debugging.</a:t>
            </a:r>
            <a:endParaRPr lang="en-US" sz="1600"/>
          </a:p>
          <a:p>
            <a:pPr>
              <a:buClr>
                <a:srgbClr val="8AD0D6"/>
              </a:buClr>
            </a:pPr>
            <a:r>
              <a:rPr lang="en-US" sz="1600" dirty="0">
                <a:solidFill>
                  <a:srgbClr val="F9F9F9"/>
                </a:solidFill>
                <a:ea typeface="+mj-lt"/>
                <a:cs typeface="+mj-lt"/>
              </a:rPr>
              <a:t>React Hooks</a:t>
            </a:r>
            <a:endParaRPr lang="en-US" sz="1600"/>
          </a:p>
          <a:p>
            <a:pPr lvl="1">
              <a:buClr>
                <a:srgbClr val="8AD0D6"/>
              </a:buClr>
            </a:pPr>
            <a:r>
              <a:rPr lang="en-US" sz="1600" dirty="0">
                <a:solidFill>
                  <a:srgbClr val="F9F9F9"/>
                </a:solidFill>
                <a:ea typeface="+mj-lt"/>
                <a:cs typeface="+mj-lt"/>
              </a:rPr>
              <a:t>Introduces a simpler way to manage state and side effects in functional components.</a:t>
            </a:r>
            <a:endParaRPr lang="en-US" sz="1600"/>
          </a:p>
          <a:p>
            <a:pPr lvl="1">
              <a:buClr>
                <a:srgbClr val="8AD0D6"/>
              </a:buClr>
            </a:pPr>
            <a:r>
              <a:rPr lang="en-US" sz="1600" dirty="0">
                <a:solidFill>
                  <a:srgbClr val="F9F9F9"/>
                </a:solidFill>
                <a:ea typeface="+mj-lt"/>
                <a:cs typeface="+mj-lt"/>
              </a:rPr>
              <a:t>Eliminates the need for class components in many cases.</a:t>
            </a:r>
            <a:endParaRPr lang="en-US" sz="1600"/>
          </a:p>
          <a:p>
            <a:pPr>
              <a:buClr>
                <a:srgbClr val="8AD0D6"/>
              </a:buClr>
            </a:pPr>
            <a:endParaRPr lang="en-US" dirty="0"/>
          </a:p>
        </p:txBody>
      </p:sp>
    </p:spTree>
    <p:extLst>
      <p:ext uri="{BB962C8B-B14F-4D97-AF65-F5344CB8AC3E}">
        <p14:creationId xmlns:p14="http://schemas.microsoft.com/office/powerpoint/2010/main" val="2685518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AF6B77-1AD1-03E2-D010-484913F576E0}"/>
              </a:ext>
            </a:extLst>
          </p:cNvPr>
          <p:cNvSpPr>
            <a:spLocks noGrp="1"/>
          </p:cNvSpPr>
          <p:nvPr>
            <p:ph type="title"/>
          </p:nvPr>
        </p:nvSpPr>
        <p:spPr/>
        <p:txBody>
          <a:bodyPr/>
          <a:lstStyle/>
          <a:p>
            <a:r>
              <a:rPr lang="en-US" dirty="0">
                <a:solidFill>
                  <a:srgbClr val="EBEBEB"/>
                </a:solidFill>
                <a:ea typeface="+mj-lt"/>
                <a:cs typeface="+mj-lt"/>
              </a:rPr>
              <a:t>React Ecosystem</a:t>
            </a:r>
            <a:endParaRPr lang="en-US" dirty="0"/>
          </a:p>
        </p:txBody>
      </p:sp>
      <p:sp>
        <p:nvSpPr>
          <p:cNvPr id="3" name="Content Placeholder 2">
            <a:extLst>
              <a:ext uri="{FF2B5EF4-FFF2-40B4-BE49-F238E27FC236}">
                <a16:creationId xmlns:a16="http://schemas.microsoft.com/office/drawing/2014/main" xmlns="" id="{35E15D17-26E7-BCBD-DF0E-5EB66F96ECF0}"/>
              </a:ext>
            </a:extLst>
          </p:cNvPr>
          <p:cNvSpPr>
            <a:spLocks noGrp="1"/>
          </p:cNvSpPr>
          <p:nvPr>
            <p:ph idx="1"/>
          </p:nvPr>
        </p:nvSpPr>
        <p:spPr/>
        <p:txBody>
          <a:bodyPr vert="horz" lIns="91440" tIns="45720" rIns="91440" bIns="45720" rtlCol="0" anchor="t">
            <a:normAutofit/>
          </a:bodyPr>
          <a:lstStyle/>
          <a:p>
            <a:r>
              <a:rPr lang="en-US" sz="1600" dirty="0">
                <a:solidFill>
                  <a:srgbClr val="F9F9F9"/>
                </a:solidFill>
                <a:ea typeface="+mj-lt"/>
                <a:cs typeface="+mj-lt"/>
              </a:rPr>
              <a:t>React Router</a:t>
            </a:r>
            <a:endParaRPr lang="en-US" sz="1600" dirty="0"/>
          </a:p>
          <a:p>
            <a:pPr lvl="1">
              <a:buClr>
                <a:srgbClr val="8AD0D6"/>
              </a:buClr>
            </a:pPr>
            <a:r>
              <a:rPr lang="en-US" sz="1600" dirty="0">
                <a:solidFill>
                  <a:srgbClr val="F9F9F9"/>
                </a:solidFill>
                <a:ea typeface="+mj-lt"/>
                <a:cs typeface="+mj-lt"/>
              </a:rPr>
              <a:t>Provides routing capabilities for single-page applications.</a:t>
            </a:r>
            <a:endParaRPr lang="en-US" sz="1600" dirty="0"/>
          </a:p>
          <a:p>
            <a:pPr lvl="1">
              <a:buClr>
                <a:srgbClr val="8AD0D6"/>
              </a:buClr>
            </a:pPr>
            <a:r>
              <a:rPr lang="en-US" sz="1600" dirty="0">
                <a:solidFill>
                  <a:srgbClr val="F9F9F9"/>
                </a:solidFill>
                <a:ea typeface="+mj-lt"/>
                <a:cs typeface="+mj-lt"/>
              </a:rPr>
              <a:t>Allows for dynamic rendering of components based on URL changes.</a:t>
            </a:r>
            <a:endParaRPr lang="en-US" sz="1600" dirty="0"/>
          </a:p>
          <a:p>
            <a:pPr>
              <a:buClr>
                <a:srgbClr val="8AD0D6"/>
              </a:buClr>
            </a:pPr>
            <a:r>
              <a:rPr lang="en-US" sz="1600" dirty="0">
                <a:solidFill>
                  <a:srgbClr val="F9F9F9"/>
                </a:solidFill>
                <a:ea typeface="+mj-lt"/>
                <a:cs typeface="+mj-lt"/>
              </a:rPr>
              <a:t>Redux</a:t>
            </a:r>
            <a:endParaRPr lang="en-US" sz="1600" dirty="0"/>
          </a:p>
          <a:p>
            <a:pPr lvl="1">
              <a:buClr>
                <a:srgbClr val="8AD0D6"/>
              </a:buClr>
            </a:pPr>
            <a:r>
              <a:rPr lang="en-US" sz="1600" dirty="0">
                <a:solidFill>
                  <a:srgbClr val="F9F9F9"/>
                </a:solidFill>
                <a:ea typeface="+mj-lt"/>
                <a:cs typeface="+mj-lt"/>
              </a:rPr>
              <a:t>State management library for managing application state.</a:t>
            </a:r>
            <a:endParaRPr lang="en-US" sz="1600" dirty="0"/>
          </a:p>
          <a:p>
            <a:pPr lvl="1">
              <a:buClr>
                <a:srgbClr val="8AD0D6"/>
              </a:buClr>
            </a:pPr>
            <a:r>
              <a:rPr lang="en-US" sz="1600" dirty="0">
                <a:solidFill>
                  <a:srgbClr val="F9F9F9"/>
                </a:solidFill>
                <a:ea typeface="+mj-lt"/>
                <a:cs typeface="+mj-lt"/>
              </a:rPr>
              <a:t>Ensures predictable state updates across components.</a:t>
            </a:r>
            <a:endParaRPr lang="en-US" sz="1600" dirty="0"/>
          </a:p>
          <a:p>
            <a:pPr>
              <a:buClr>
                <a:srgbClr val="8AD0D6"/>
              </a:buClr>
            </a:pPr>
            <a:r>
              <a:rPr lang="en-US" sz="1600" dirty="0">
                <a:solidFill>
                  <a:srgbClr val="F9F9F9"/>
                </a:solidFill>
                <a:ea typeface="+mj-lt"/>
                <a:cs typeface="+mj-lt"/>
              </a:rPr>
              <a:t>React Native</a:t>
            </a:r>
            <a:endParaRPr lang="en-US" sz="1600" dirty="0"/>
          </a:p>
          <a:p>
            <a:pPr lvl="1">
              <a:buClr>
                <a:srgbClr val="8AD0D6"/>
              </a:buClr>
            </a:pPr>
            <a:r>
              <a:rPr lang="en-US" sz="1600" dirty="0">
                <a:solidFill>
                  <a:srgbClr val="F9F9F9"/>
                </a:solidFill>
                <a:ea typeface="+mj-lt"/>
                <a:cs typeface="+mj-lt"/>
              </a:rPr>
              <a:t>Enables building native mobile applications using React.</a:t>
            </a:r>
            <a:endParaRPr lang="en-US" sz="1600" dirty="0"/>
          </a:p>
          <a:p>
            <a:pPr lvl="1">
              <a:buClr>
                <a:srgbClr val="8AD0D6"/>
              </a:buClr>
            </a:pPr>
            <a:r>
              <a:rPr lang="en-US" sz="1600" dirty="0">
                <a:solidFill>
                  <a:srgbClr val="F9F9F9"/>
                </a:solidFill>
                <a:ea typeface="+mj-lt"/>
                <a:cs typeface="+mj-lt"/>
              </a:rPr>
              <a:t>Shares codebase between web and mobile applications, improving development efficiency.</a:t>
            </a:r>
            <a:endParaRPr lang="en-US" sz="1600" dirty="0"/>
          </a:p>
          <a:p>
            <a:pPr>
              <a:buClr>
                <a:srgbClr val="8AD0D6"/>
              </a:buClr>
            </a:pPr>
            <a:endParaRPr lang="en-US" sz="1600" dirty="0"/>
          </a:p>
        </p:txBody>
      </p:sp>
    </p:spTree>
    <p:extLst>
      <p:ext uri="{BB962C8B-B14F-4D97-AF65-F5344CB8AC3E}">
        <p14:creationId xmlns:p14="http://schemas.microsoft.com/office/powerpoint/2010/main" val="189259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E92157-CF53-7402-B920-45EAF175F7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92720BE6-5FC6-2DD9-C77C-3E8612AF946E}"/>
              </a:ext>
            </a:extLst>
          </p:cNvPr>
          <p:cNvSpPr>
            <a:spLocks noGrp="1"/>
          </p:cNvSpPr>
          <p:nvPr>
            <p:ph idx="1"/>
          </p:nvPr>
        </p:nvSpPr>
        <p:spPr/>
        <p:txBody>
          <a:bodyPr vert="horz" lIns="91440" tIns="45720" rIns="91440" bIns="45720" rtlCol="0" anchor="t">
            <a:normAutofit/>
          </a:bodyPr>
          <a:lstStyle/>
          <a:p>
            <a:r>
              <a:rPr lang="en-US" sz="1600" dirty="0">
                <a:solidFill>
                  <a:srgbClr val="F9F9F9"/>
                </a:solidFill>
                <a:ea typeface="+mj-lt"/>
                <a:cs typeface="+mj-lt"/>
              </a:rPr>
              <a:t>React offers a powerful solution for building modern, interactive user interfaces.</a:t>
            </a:r>
            <a:endParaRPr lang="en-US" sz="1600" dirty="0"/>
          </a:p>
          <a:p>
            <a:pPr>
              <a:buClr>
                <a:srgbClr val="8AD0D6"/>
              </a:buClr>
            </a:pPr>
            <a:r>
              <a:rPr lang="en-US" sz="1600" dirty="0">
                <a:solidFill>
                  <a:srgbClr val="F9F9F9"/>
                </a:solidFill>
                <a:ea typeface="+mj-lt"/>
                <a:cs typeface="+mj-lt"/>
              </a:rPr>
              <a:t>Its component-based architecture, virtual DOM, and declarative syntax simplify development and enhance performance.</a:t>
            </a:r>
            <a:endParaRPr lang="en-US" sz="1600" dirty="0"/>
          </a:p>
          <a:p>
            <a:pPr>
              <a:buClr>
                <a:srgbClr val="8AD0D6"/>
              </a:buClr>
            </a:pPr>
            <a:r>
              <a:rPr lang="en-US" sz="1600" dirty="0">
                <a:solidFill>
                  <a:srgbClr val="F9F9F9"/>
                </a:solidFill>
                <a:ea typeface="+mj-lt"/>
                <a:cs typeface="+mj-lt"/>
              </a:rPr>
              <a:t>With a vibrant ecosystem and active community support, React continues to shape the future of web and mobile development.</a:t>
            </a:r>
            <a:endParaRPr lang="en-US" sz="1600" dirty="0"/>
          </a:p>
          <a:p>
            <a:pPr>
              <a:buClr>
                <a:srgbClr val="8AD0D6"/>
              </a:buClr>
            </a:pPr>
            <a:endParaRPr lang="en-US" sz="1600" dirty="0"/>
          </a:p>
        </p:txBody>
      </p:sp>
    </p:spTree>
    <p:extLst>
      <p:ext uri="{BB962C8B-B14F-4D97-AF65-F5344CB8AC3E}">
        <p14:creationId xmlns:p14="http://schemas.microsoft.com/office/powerpoint/2010/main" val="2924906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4FC449-22C1-907B-EEC3-DF28B75FBCAE}"/>
              </a:ext>
            </a:extLst>
          </p:cNvPr>
          <p:cNvSpPr>
            <a:spLocks noGrp="1"/>
          </p:cNvSpPr>
          <p:nvPr>
            <p:ph type="title"/>
          </p:nvPr>
        </p:nvSpPr>
        <p:spPr/>
        <p:txBody>
          <a:bodyPr/>
          <a:lstStyle/>
          <a:p>
            <a:r>
              <a:rPr lang="en-US" dirty="0"/>
              <a:t>Reacts past and future</a:t>
            </a:r>
          </a:p>
        </p:txBody>
      </p:sp>
      <p:sp>
        <p:nvSpPr>
          <p:cNvPr id="3" name="Content Placeholder 2">
            <a:extLst>
              <a:ext uri="{FF2B5EF4-FFF2-40B4-BE49-F238E27FC236}">
                <a16:creationId xmlns:a16="http://schemas.microsoft.com/office/drawing/2014/main" xmlns="" id="{778A7646-EA5E-4D18-F2D2-09995260F595}"/>
              </a:ext>
            </a:extLst>
          </p:cNvPr>
          <p:cNvSpPr>
            <a:spLocks noGrp="1"/>
          </p:cNvSpPr>
          <p:nvPr>
            <p:ph idx="1"/>
          </p:nvPr>
        </p:nvSpPr>
        <p:spPr/>
        <p:txBody>
          <a:bodyPr vert="horz" lIns="91440" tIns="45720" rIns="91440" bIns="45720" rtlCol="0" anchor="t">
            <a:normAutofit/>
          </a:bodyPr>
          <a:lstStyle/>
          <a:p>
            <a:r>
              <a:rPr lang="en-US" sz="1600" err="1">
                <a:solidFill>
                  <a:srgbClr val="F9F9F9"/>
                </a:solidFill>
                <a:ea typeface="+mj-lt"/>
                <a:cs typeface="+mj-lt"/>
              </a:rPr>
              <a:t>React's</a:t>
            </a:r>
            <a:r>
              <a:rPr lang="en-US" sz="1600" dirty="0">
                <a:solidFill>
                  <a:srgbClr val="F9F9F9"/>
                </a:solidFill>
                <a:ea typeface="+mj-lt"/>
                <a:cs typeface="+mj-lt"/>
              </a:rPr>
              <a:t> past and future involve a journey of evolution and innovation, driven by its community, technological advancements, and changing demands in web development. Here's an overview of </a:t>
            </a:r>
            <a:r>
              <a:rPr lang="en-US" sz="1600" err="1">
                <a:solidFill>
                  <a:srgbClr val="F9F9F9"/>
                </a:solidFill>
                <a:ea typeface="+mj-lt"/>
                <a:cs typeface="+mj-lt"/>
              </a:rPr>
              <a:t>React's</a:t>
            </a:r>
            <a:r>
              <a:rPr lang="en-US" sz="1600" dirty="0">
                <a:solidFill>
                  <a:srgbClr val="F9F9F9"/>
                </a:solidFill>
                <a:ea typeface="+mj-lt"/>
                <a:cs typeface="+mj-lt"/>
              </a:rPr>
              <a:t> past and a glimpse into its potential future:</a:t>
            </a:r>
            <a:endParaRPr lang="en-US" sz="1600" dirty="0"/>
          </a:p>
          <a:p>
            <a:pPr>
              <a:buClr>
                <a:srgbClr val="8AD0D6"/>
              </a:buClr>
            </a:pPr>
            <a:r>
              <a:rPr lang="en-US"/>
              <a:t>Past:</a:t>
            </a:r>
            <a:endParaRPr lang="en-US" dirty="0"/>
          </a:p>
          <a:p>
            <a:pPr>
              <a:buClr>
                <a:srgbClr val="8AD0D6"/>
              </a:buClr>
            </a:pPr>
            <a:r>
              <a:rPr lang="en-US" sz="1600" b="1" dirty="0">
                <a:ea typeface="+mj-lt"/>
                <a:cs typeface="+mj-lt"/>
              </a:rPr>
              <a:t>Initial Release (2013)</a:t>
            </a:r>
            <a:r>
              <a:rPr lang="en-US" sz="1600" dirty="0">
                <a:solidFill>
                  <a:srgbClr val="F9F9F9"/>
                </a:solidFill>
                <a:ea typeface="+mj-lt"/>
                <a:cs typeface="+mj-lt"/>
              </a:rPr>
              <a:t>: React was initially released by Facebook in 2013 as an open-source JavaScript library for building user interfaces.</a:t>
            </a:r>
            <a:endParaRPr lang="en-US" sz="1600" dirty="0"/>
          </a:p>
          <a:p>
            <a:pPr>
              <a:buClr>
                <a:srgbClr val="8AD0D6"/>
              </a:buClr>
            </a:pPr>
            <a:r>
              <a:rPr lang="en-US" sz="1600" b="1" dirty="0">
                <a:ea typeface="+mj-lt"/>
                <a:cs typeface="+mj-lt"/>
              </a:rPr>
              <a:t>Introduction of Virtual DOM</a:t>
            </a:r>
            <a:r>
              <a:rPr lang="en-US" sz="1600" dirty="0">
                <a:solidFill>
                  <a:srgbClr val="F9F9F9"/>
                </a:solidFill>
                <a:ea typeface="+mj-lt"/>
                <a:cs typeface="+mj-lt"/>
              </a:rPr>
              <a:t>: One of </a:t>
            </a:r>
            <a:r>
              <a:rPr lang="en-US" sz="1600" err="1">
                <a:solidFill>
                  <a:srgbClr val="F9F9F9"/>
                </a:solidFill>
                <a:ea typeface="+mj-lt"/>
                <a:cs typeface="+mj-lt"/>
              </a:rPr>
              <a:t>React's</a:t>
            </a:r>
            <a:r>
              <a:rPr lang="en-US" sz="1600" dirty="0">
                <a:solidFill>
                  <a:srgbClr val="F9F9F9"/>
                </a:solidFill>
                <a:ea typeface="+mj-lt"/>
                <a:cs typeface="+mj-lt"/>
              </a:rPr>
              <a:t> early innovations was the introduction of the virtual DOM, which allowed for efficient updates to the actual DOM, significantly improving performance.</a:t>
            </a:r>
            <a:endParaRPr lang="en-US" sz="1600" dirty="0"/>
          </a:p>
          <a:p>
            <a:pPr>
              <a:buClr>
                <a:srgbClr val="8AD0D6"/>
              </a:buClr>
            </a:pPr>
            <a:r>
              <a:rPr lang="en-US" dirty="0"/>
              <a:t/>
            </a:r>
            <a:br>
              <a:rPr lang="en-US" dirty="0"/>
            </a:br>
            <a:endParaRPr lang="en-US" sz="1600"/>
          </a:p>
        </p:txBody>
      </p:sp>
    </p:spTree>
    <p:extLst>
      <p:ext uri="{BB962C8B-B14F-4D97-AF65-F5344CB8AC3E}">
        <p14:creationId xmlns:p14="http://schemas.microsoft.com/office/powerpoint/2010/main" val="15582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3B9FF9-6744-346F-F6A2-5D62FDE6F6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CCFA588-6202-638C-492E-61E7AC8D08E5}"/>
              </a:ext>
            </a:extLst>
          </p:cNvPr>
          <p:cNvSpPr>
            <a:spLocks noGrp="1"/>
          </p:cNvSpPr>
          <p:nvPr>
            <p:ph idx="1"/>
          </p:nvPr>
        </p:nvSpPr>
        <p:spPr/>
        <p:txBody>
          <a:bodyPr vert="horz" lIns="91440" tIns="45720" rIns="91440" bIns="45720" rtlCol="0" anchor="t">
            <a:normAutofit/>
          </a:bodyPr>
          <a:lstStyle/>
          <a:p>
            <a:r>
              <a:rPr lang="en-US" sz="1600" b="1" dirty="0">
                <a:ea typeface="+mj-lt"/>
                <a:cs typeface="+mj-lt"/>
              </a:rPr>
              <a:t>Component-Based Architecture</a:t>
            </a:r>
            <a:r>
              <a:rPr lang="en-US" sz="1600" dirty="0">
                <a:solidFill>
                  <a:srgbClr val="F9F9F9"/>
                </a:solidFill>
                <a:ea typeface="+mj-lt"/>
                <a:cs typeface="+mj-lt"/>
              </a:rPr>
              <a:t>: React popularized the concept of component-based architecture, enabling developers to build modular, reusable UI components.</a:t>
            </a:r>
            <a:endParaRPr lang="en-US" sz="1600" dirty="0"/>
          </a:p>
          <a:p>
            <a:pPr>
              <a:buClr>
                <a:srgbClr val="8AD0D6"/>
              </a:buClr>
            </a:pPr>
            <a:r>
              <a:rPr lang="en-US" sz="1600" b="1" dirty="0">
                <a:ea typeface="+mj-lt"/>
                <a:cs typeface="+mj-lt"/>
              </a:rPr>
              <a:t>Ecosystem Growth</a:t>
            </a:r>
            <a:r>
              <a:rPr lang="en-US" sz="1600" dirty="0">
                <a:solidFill>
                  <a:srgbClr val="F9F9F9"/>
                </a:solidFill>
                <a:ea typeface="+mj-lt"/>
                <a:cs typeface="+mj-lt"/>
              </a:rPr>
              <a:t>: React quickly gained popularity, leading to the growth of an extensive ecosystem of tools, libraries, and frameworks around it. Notable additions include React Router for routing, Redux for state management, and Next.js for server-side rendering.</a:t>
            </a:r>
            <a:endParaRPr lang="en-US" sz="1600" dirty="0"/>
          </a:p>
          <a:p>
            <a:pPr>
              <a:buClr>
                <a:srgbClr val="8AD0D6"/>
              </a:buClr>
            </a:pPr>
            <a:r>
              <a:rPr lang="en-US" sz="1600" b="1" dirty="0">
                <a:ea typeface="+mj-lt"/>
                <a:cs typeface="+mj-lt"/>
              </a:rPr>
              <a:t>React Fiber (2017)</a:t>
            </a:r>
            <a:r>
              <a:rPr lang="en-US" sz="1600" dirty="0">
                <a:solidFill>
                  <a:srgbClr val="F9F9F9"/>
                </a:solidFill>
                <a:ea typeface="+mj-lt"/>
                <a:cs typeface="+mj-lt"/>
              </a:rPr>
              <a:t>: React Fiber was introduced in 2017 as a major rewrite of </a:t>
            </a:r>
            <a:r>
              <a:rPr lang="en-US" sz="1600" err="1">
                <a:solidFill>
                  <a:srgbClr val="F9F9F9"/>
                </a:solidFill>
                <a:ea typeface="+mj-lt"/>
                <a:cs typeface="+mj-lt"/>
              </a:rPr>
              <a:t>React's</a:t>
            </a:r>
            <a:r>
              <a:rPr lang="en-US" sz="1600" dirty="0">
                <a:solidFill>
                  <a:srgbClr val="F9F9F9"/>
                </a:solidFill>
                <a:ea typeface="+mj-lt"/>
                <a:cs typeface="+mj-lt"/>
              </a:rPr>
              <a:t> core algorithm. It enabled features like asynchronous rendering, error boundaries, and suspense, improving performance and user experience.</a:t>
            </a:r>
            <a:endParaRPr lang="en-US" sz="1600" dirty="0"/>
          </a:p>
          <a:p>
            <a:pPr>
              <a:buClr>
                <a:srgbClr val="8AD0D6"/>
              </a:buClr>
            </a:pPr>
            <a:r>
              <a:rPr lang="en-US" sz="1600" b="1" dirty="0">
                <a:ea typeface="+mj-lt"/>
                <a:cs typeface="+mj-lt"/>
              </a:rPr>
              <a:t>React Native (2015)</a:t>
            </a:r>
            <a:r>
              <a:rPr lang="en-US" sz="1600" dirty="0">
                <a:solidFill>
                  <a:srgbClr val="F9F9F9"/>
                </a:solidFill>
                <a:ea typeface="+mj-lt"/>
                <a:cs typeface="+mj-lt"/>
              </a:rPr>
              <a:t>: React Native, introduced in 2015, extended </a:t>
            </a:r>
            <a:r>
              <a:rPr lang="en-US" sz="1600" err="1">
                <a:solidFill>
                  <a:srgbClr val="F9F9F9"/>
                </a:solidFill>
                <a:ea typeface="+mj-lt"/>
                <a:cs typeface="+mj-lt"/>
              </a:rPr>
              <a:t>React's</a:t>
            </a:r>
            <a:r>
              <a:rPr lang="en-US" sz="1600" dirty="0">
                <a:solidFill>
                  <a:srgbClr val="F9F9F9"/>
                </a:solidFill>
                <a:ea typeface="+mj-lt"/>
                <a:cs typeface="+mj-lt"/>
              </a:rPr>
              <a:t> capabilities to native mobile app development, allowing developers to build cross-platform mobile applications using React and JavaScript.</a:t>
            </a:r>
            <a:endParaRPr lang="en-US" sz="1600" dirty="0"/>
          </a:p>
          <a:p>
            <a:pPr>
              <a:buClr>
                <a:srgbClr val="8AD0D6"/>
              </a:buClr>
            </a:pPr>
            <a:r>
              <a:rPr lang="en-US" dirty="0"/>
              <a:t/>
            </a:r>
            <a:br>
              <a:rPr lang="en-US" dirty="0"/>
            </a:br>
            <a:endParaRPr lang="en-US" sz="1600"/>
          </a:p>
        </p:txBody>
      </p:sp>
    </p:spTree>
    <p:extLst>
      <p:ext uri="{BB962C8B-B14F-4D97-AF65-F5344CB8AC3E}">
        <p14:creationId xmlns:p14="http://schemas.microsoft.com/office/powerpoint/2010/main" val="3297735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35B9F6-6CC8-F98F-A562-3643B9B23CAC}"/>
              </a:ext>
            </a:extLst>
          </p:cNvPr>
          <p:cNvSpPr>
            <a:spLocks noGrp="1"/>
          </p:cNvSpPr>
          <p:nvPr>
            <p:ph type="title"/>
          </p:nvPr>
        </p:nvSpPr>
        <p:spPr/>
        <p:txBody>
          <a:bodyPr/>
          <a:lstStyle/>
          <a:p>
            <a:r>
              <a:rPr lang="en-US" dirty="0"/>
              <a:t>Future:</a:t>
            </a:r>
          </a:p>
        </p:txBody>
      </p:sp>
      <p:sp>
        <p:nvSpPr>
          <p:cNvPr id="3" name="Content Placeholder 2">
            <a:extLst>
              <a:ext uri="{FF2B5EF4-FFF2-40B4-BE49-F238E27FC236}">
                <a16:creationId xmlns:a16="http://schemas.microsoft.com/office/drawing/2014/main" xmlns="" id="{090852ED-C7A7-5488-7AE5-FED0F04631C5}"/>
              </a:ext>
            </a:extLst>
          </p:cNvPr>
          <p:cNvSpPr>
            <a:spLocks noGrp="1"/>
          </p:cNvSpPr>
          <p:nvPr>
            <p:ph idx="1"/>
          </p:nvPr>
        </p:nvSpPr>
        <p:spPr/>
        <p:txBody>
          <a:bodyPr vert="horz" lIns="91440" tIns="45720" rIns="91440" bIns="45720" rtlCol="0" anchor="t">
            <a:normAutofit/>
          </a:bodyPr>
          <a:lstStyle/>
          <a:p>
            <a:r>
              <a:rPr lang="en-US" sz="1600" b="1" dirty="0">
                <a:ea typeface="+mj-lt"/>
                <a:cs typeface="+mj-lt"/>
              </a:rPr>
              <a:t>Performance Optimization</a:t>
            </a:r>
            <a:r>
              <a:rPr lang="en-US" sz="1600" dirty="0">
                <a:solidFill>
                  <a:srgbClr val="F9F9F9"/>
                </a:solidFill>
                <a:ea typeface="+mj-lt"/>
                <a:cs typeface="+mj-lt"/>
              </a:rPr>
              <a:t>: React continues to evolve with a focus on performance optimization. </a:t>
            </a:r>
            <a:endParaRPr lang="en-US" sz="1600" dirty="0">
              <a:solidFill>
                <a:srgbClr val="FFFFFF"/>
              </a:solidFill>
              <a:ea typeface="+mj-lt"/>
              <a:cs typeface="+mj-lt"/>
            </a:endParaRPr>
          </a:p>
          <a:p>
            <a:pPr>
              <a:buClr>
                <a:srgbClr val="8AD0D6"/>
              </a:buClr>
            </a:pPr>
            <a:r>
              <a:rPr lang="en-US" sz="1600" dirty="0">
                <a:solidFill>
                  <a:srgbClr val="F9F9F9"/>
                </a:solidFill>
                <a:ea typeface="+mj-lt"/>
                <a:cs typeface="+mj-lt"/>
              </a:rPr>
              <a:t>Future advancements may include further improvements to React Fiber, better handling of large-scale applications, and optimization for newer browser features.</a:t>
            </a:r>
            <a:endParaRPr lang="en-US" sz="1600"/>
          </a:p>
          <a:p>
            <a:pPr>
              <a:buClr>
                <a:srgbClr val="8AD0D6"/>
              </a:buClr>
            </a:pPr>
            <a:r>
              <a:rPr lang="en-US" sz="1600" b="1" dirty="0">
                <a:ea typeface="+mj-lt"/>
                <a:cs typeface="+mj-lt"/>
              </a:rPr>
              <a:t>State Management</a:t>
            </a:r>
            <a:r>
              <a:rPr lang="en-US" sz="1600" dirty="0">
                <a:solidFill>
                  <a:srgbClr val="F9F9F9"/>
                </a:solidFill>
                <a:ea typeface="+mj-lt"/>
                <a:cs typeface="+mj-lt"/>
              </a:rPr>
              <a:t>: State management remains a crucial aspect of React development. </a:t>
            </a:r>
            <a:endParaRPr lang="en-US" sz="1600" dirty="0">
              <a:solidFill>
                <a:srgbClr val="FFFFFF"/>
              </a:solidFill>
              <a:ea typeface="+mj-lt"/>
              <a:cs typeface="+mj-lt"/>
            </a:endParaRPr>
          </a:p>
          <a:p>
            <a:pPr>
              <a:buClr>
                <a:srgbClr val="8AD0D6"/>
              </a:buClr>
            </a:pPr>
            <a:r>
              <a:rPr lang="en-US" sz="1600" dirty="0">
                <a:solidFill>
                  <a:srgbClr val="F9F9F9"/>
                </a:solidFill>
                <a:ea typeface="+mj-lt"/>
                <a:cs typeface="+mj-lt"/>
              </a:rPr>
              <a:t>The future might see enhancements to state management solutions, exploring new patterns and techniques to simplify state management in large-scale applications.</a:t>
            </a:r>
            <a:endParaRPr lang="en-US" sz="1600"/>
          </a:p>
          <a:p>
            <a:pPr>
              <a:buClr>
                <a:srgbClr val="8AD0D6"/>
              </a:buClr>
            </a:pPr>
            <a:r>
              <a:rPr lang="en-US" sz="1600" dirty="0">
                <a:solidFill>
                  <a:srgbClr val="F9F9F9"/>
                </a:solidFill>
                <a:ea typeface="+mj-lt"/>
                <a:cs typeface="+mj-lt"/>
              </a:rPr>
              <a:t>Concurrent Mode and Suspense: Concurrent Mode and Suspense, introduced as experimental features, aim to improve </a:t>
            </a:r>
            <a:r>
              <a:rPr lang="en-US" sz="1600" dirty="0" err="1">
                <a:solidFill>
                  <a:srgbClr val="F9F9F9"/>
                </a:solidFill>
                <a:ea typeface="+mj-lt"/>
                <a:cs typeface="+mj-lt"/>
              </a:rPr>
              <a:t>React's</a:t>
            </a:r>
            <a:r>
              <a:rPr lang="en-US" sz="1600" dirty="0">
                <a:solidFill>
                  <a:srgbClr val="F9F9F9"/>
                </a:solidFill>
                <a:ea typeface="+mj-lt"/>
                <a:cs typeface="+mj-lt"/>
              </a:rPr>
              <a:t> responsiveness and user experience by allowing components to render asynchronously. </a:t>
            </a:r>
          </a:p>
          <a:p>
            <a:pPr>
              <a:buClr>
                <a:srgbClr val="8AD0D6"/>
              </a:buClr>
            </a:pPr>
            <a:r>
              <a:rPr lang="en-US" sz="1600" dirty="0">
                <a:solidFill>
                  <a:srgbClr val="F9F9F9"/>
                </a:solidFill>
                <a:ea typeface="+mj-lt"/>
                <a:cs typeface="+mj-lt"/>
              </a:rPr>
              <a:t>These features are expected to become more stable and widely adopted in the future.</a:t>
            </a:r>
            <a:endParaRPr lang="en-US" sz="1600" dirty="0">
              <a:solidFill>
                <a:srgbClr val="F9F9F9"/>
              </a:solidFill>
            </a:endParaRPr>
          </a:p>
          <a:p>
            <a:pPr>
              <a:buClr>
                <a:srgbClr val="8AD0D6"/>
              </a:buClr>
            </a:pPr>
            <a:endParaRPr lang="en-US" sz="1600" dirty="0">
              <a:solidFill>
                <a:srgbClr val="F9F9F9"/>
              </a:solidFill>
            </a:endParaRPr>
          </a:p>
          <a:p>
            <a:pPr>
              <a:buClr>
                <a:srgbClr val="8AD0D6"/>
              </a:buClr>
            </a:pPr>
            <a:endParaRPr lang="en-US" sz="1600" dirty="0">
              <a:solidFill>
                <a:srgbClr val="F9F9F9"/>
              </a:solidFill>
            </a:endParaRPr>
          </a:p>
          <a:p>
            <a:pPr>
              <a:buClr>
                <a:srgbClr val="8AD0D6"/>
              </a:buClr>
            </a:pPr>
            <a:endParaRPr lang="en-US" dirty="0"/>
          </a:p>
        </p:txBody>
      </p:sp>
    </p:spTree>
    <p:extLst>
      <p:ext uri="{BB962C8B-B14F-4D97-AF65-F5344CB8AC3E}">
        <p14:creationId xmlns:p14="http://schemas.microsoft.com/office/powerpoint/2010/main" val="882486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952924-3D0D-C756-C209-0AB7B4FA0F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8EE0498-0F91-930B-B3E5-DA5ABC06CA11}"/>
              </a:ext>
            </a:extLst>
          </p:cNvPr>
          <p:cNvSpPr>
            <a:spLocks noGrp="1"/>
          </p:cNvSpPr>
          <p:nvPr>
            <p:ph idx="1"/>
          </p:nvPr>
        </p:nvSpPr>
        <p:spPr/>
        <p:txBody>
          <a:bodyPr vert="horz" lIns="91440" tIns="45720" rIns="91440" bIns="45720" rtlCol="0" anchor="t">
            <a:normAutofit lnSpcReduction="10000"/>
          </a:bodyPr>
          <a:lstStyle/>
          <a:p>
            <a:r>
              <a:rPr lang="en-US" sz="1600" b="1" dirty="0">
                <a:ea typeface="+mj-lt"/>
                <a:cs typeface="+mj-lt"/>
              </a:rPr>
              <a:t>Type Safety</a:t>
            </a:r>
            <a:r>
              <a:rPr lang="en-US" sz="1600" dirty="0">
                <a:solidFill>
                  <a:srgbClr val="F9F9F9"/>
                </a:solidFill>
                <a:ea typeface="+mj-lt"/>
                <a:cs typeface="+mj-lt"/>
              </a:rPr>
              <a:t>: With the increasing adoption of TypeScript and Flow in the React community, there's a growing emphasis on type safety. Future developments may involve deeper integration with static typing tools to enhance code quality and developer experience.</a:t>
            </a:r>
            <a:endParaRPr lang="en-US" sz="1600" dirty="0"/>
          </a:p>
          <a:p>
            <a:pPr>
              <a:buClr>
                <a:srgbClr val="8AD0D6"/>
              </a:buClr>
            </a:pPr>
            <a:r>
              <a:rPr lang="en-US" sz="1600" b="1" dirty="0">
                <a:ea typeface="+mj-lt"/>
                <a:cs typeface="+mj-lt"/>
              </a:rPr>
              <a:t>Server-Side Rendering</a:t>
            </a:r>
            <a:r>
              <a:rPr lang="en-US" sz="1600" dirty="0">
                <a:solidFill>
                  <a:srgbClr val="F9F9F9"/>
                </a:solidFill>
                <a:ea typeface="+mj-lt"/>
                <a:cs typeface="+mj-lt"/>
              </a:rPr>
              <a:t>: Server-side rendering (SSR) and static site generation (SSG) are gaining traction for React applications, especially in the context of performance and SEO. Future advancements may focus on making SSR and SSG more accessible and efficient.</a:t>
            </a:r>
            <a:endParaRPr lang="en-US" sz="1600" dirty="0"/>
          </a:p>
          <a:p>
            <a:pPr>
              <a:buClr>
                <a:srgbClr val="8AD0D6"/>
              </a:buClr>
            </a:pPr>
            <a:r>
              <a:rPr lang="en-US" sz="1600" b="1" dirty="0">
                <a:ea typeface="+mj-lt"/>
                <a:cs typeface="+mj-lt"/>
              </a:rPr>
              <a:t>Accessibility and Inclusivity</a:t>
            </a:r>
            <a:r>
              <a:rPr lang="en-US" sz="1600" dirty="0">
                <a:solidFill>
                  <a:srgbClr val="F9F9F9"/>
                </a:solidFill>
                <a:ea typeface="+mj-lt"/>
                <a:cs typeface="+mj-lt"/>
              </a:rPr>
              <a:t>: </a:t>
            </a:r>
            <a:r>
              <a:rPr lang="en-US" sz="1600" err="1">
                <a:solidFill>
                  <a:srgbClr val="F9F9F9"/>
                </a:solidFill>
                <a:ea typeface="+mj-lt"/>
                <a:cs typeface="+mj-lt"/>
              </a:rPr>
              <a:t>React's</a:t>
            </a:r>
            <a:r>
              <a:rPr lang="en-US" sz="1600" dirty="0">
                <a:solidFill>
                  <a:srgbClr val="F9F9F9"/>
                </a:solidFill>
                <a:ea typeface="+mj-lt"/>
                <a:cs typeface="+mj-lt"/>
              </a:rPr>
              <a:t> future also involves a commitment to accessibility and inclusivity. Efforts may include improving accessibility APIs, providing better tooling for accessibility testing, and promoting best practices for creating accessible UI components.</a:t>
            </a:r>
            <a:endParaRPr lang="en-US" sz="1600" dirty="0"/>
          </a:p>
          <a:p>
            <a:pPr>
              <a:buClr>
                <a:srgbClr val="8AD0D6"/>
              </a:buClr>
            </a:pPr>
            <a:r>
              <a:rPr lang="en-US" sz="1600" dirty="0">
                <a:solidFill>
                  <a:srgbClr val="F9F9F9"/>
                </a:solidFill>
                <a:ea typeface="+mj-lt"/>
                <a:cs typeface="+mj-lt"/>
              </a:rPr>
              <a:t>Overall, </a:t>
            </a:r>
            <a:r>
              <a:rPr lang="en-US" sz="1600" dirty="0" err="1">
                <a:solidFill>
                  <a:srgbClr val="F9F9F9"/>
                </a:solidFill>
                <a:ea typeface="+mj-lt"/>
                <a:cs typeface="+mj-lt"/>
              </a:rPr>
              <a:t>React's</a:t>
            </a:r>
            <a:r>
              <a:rPr lang="en-US" sz="1600" dirty="0">
                <a:solidFill>
                  <a:srgbClr val="F9F9F9"/>
                </a:solidFill>
                <a:ea typeface="+mj-lt"/>
                <a:cs typeface="+mj-lt"/>
              </a:rPr>
              <a:t> future is likely to be shaped by ongoing advancements in performance optimization, state management, user experience, and accessibility, driven by the needs and priorities of its vibrant community and the evolving landscape of web development.</a:t>
            </a:r>
            <a:endParaRPr lang="en-US" sz="1600" dirty="0">
              <a:solidFill>
                <a:srgbClr val="F9F9F9"/>
              </a:solidFill>
            </a:endParaRPr>
          </a:p>
          <a:p>
            <a:pPr>
              <a:buClr>
                <a:srgbClr val="8AD0D6"/>
              </a:buClr>
            </a:pPr>
            <a:endParaRPr lang="en-US" sz="1600" dirty="0"/>
          </a:p>
        </p:txBody>
      </p:sp>
    </p:spTree>
    <p:extLst>
      <p:ext uri="{BB962C8B-B14F-4D97-AF65-F5344CB8AC3E}">
        <p14:creationId xmlns:p14="http://schemas.microsoft.com/office/powerpoint/2010/main" val="24448212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859</Words>
  <Application>Microsoft Office PowerPoint</Application>
  <PresentationFormat>Widescreen</PresentationFormat>
  <Paragraphs>73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Batang</vt:lpstr>
      <vt:lpstr>Century Gothic</vt:lpstr>
      <vt:lpstr>Wingdings 3</vt:lpstr>
      <vt:lpstr>Ion</vt:lpstr>
      <vt:lpstr>React</vt:lpstr>
      <vt:lpstr>Introduction to React</vt:lpstr>
      <vt:lpstr>The Need for React</vt:lpstr>
      <vt:lpstr>Key Features of React</vt:lpstr>
      <vt:lpstr>The Purpose Behind React</vt:lpstr>
      <vt:lpstr>React Ecosystem</vt:lpstr>
      <vt:lpstr>PowerPoint Presentation</vt:lpstr>
      <vt:lpstr>Reacts past and future</vt:lpstr>
      <vt:lpstr>PowerPoint Presentation</vt:lpstr>
      <vt:lpstr>Future: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Komal S</dc:creator>
  <cp:lastModifiedBy>Komal S</cp:lastModifiedBy>
  <cp:revision>95</cp:revision>
  <dcterms:created xsi:type="dcterms:W3CDTF">2024-02-11T14:15:45Z</dcterms:created>
  <dcterms:modified xsi:type="dcterms:W3CDTF">2024-02-20T08:49:11Z</dcterms:modified>
</cp:coreProperties>
</file>