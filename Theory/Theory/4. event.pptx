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C891D-BD8D-4F72-896F-60ED59421261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82EF-E69F-4A02-AE3F-93B170909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49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C891D-BD8D-4F72-896F-60ED59421261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82EF-E69F-4A02-AE3F-93B170909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25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C891D-BD8D-4F72-896F-60ED59421261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82EF-E69F-4A02-AE3F-93B170909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C891D-BD8D-4F72-896F-60ED59421261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82EF-E69F-4A02-AE3F-93B170909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9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C891D-BD8D-4F72-896F-60ED59421261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82EF-E69F-4A02-AE3F-93B170909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7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C891D-BD8D-4F72-896F-60ED59421261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82EF-E69F-4A02-AE3F-93B170909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6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C891D-BD8D-4F72-896F-60ED59421261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82EF-E69F-4A02-AE3F-93B170909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6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C891D-BD8D-4F72-896F-60ED59421261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82EF-E69F-4A02-AE3F-93B170909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10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C891D-BD8D-4F72-896F-60ED59421261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82EF-E69F-4A02-AE3F-93B170909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0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C891D-BD8D-4F72-896F-60ED59421261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82EF-E69F-4A02-AE3F-93B170909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72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C891D-BD8D-4F72-896F-60ED59421261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82EF-E69F-4A02-AE3F-93B170909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5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C891D-BD8D-4F72-896F-60ED59421261}" type="datetimeFigureOut">
              <a:rPr lang="en-US" smtClean="0"/>
              <a:t>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B82EF-E69F-4A02-AE3F-93B170909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4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learn/asynchronous-work/javascript-asynchronous-programming-and-callback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node-js-fs-readfile-method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Node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By Komal Singh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28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 P 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npm</a:t>
            </a:r>
            <a:r>
              <a:rPr lang="en-US" dirty="0" smtClean="0"/>
              <a:t> makes it easy for JavaScript developers to share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and reuse code in the form of modules.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npm</a:t>
            </a:r>
            <a:r>
              <a:rPr lang="en-US" dirty="0" smtClean="0"/>
              <a:t> comes preinstalled with Node distributions.</a:t>
            </a:r>
          </a:p>
          <a:p>
            <a:r>
              <a:rPr lang="en-US" dirty="0" err="1" smtClean="0"/>
              <a:t>npm</a:t>
            </a:r>
            <a:r>
              <a:rPr lang="en-US" dirty="0" smtClean="0"/>
              <a:t> runs through the command line and allows to</a:t>
            </a:r>
          </a:p>
          <a:p>
            <a:r>
              <a:rPr lang="en-US" dirty="0" smtClean="0"/>
              <a:t>retrieve modules from the public package registry</a:t>
            </a:r>
          </a:p>
          <a:p>
            <a:r>
              <a:rPr lang="en-US" dirty="0" smtClean="0"/>
              <a:t>maintained on http://npmjs.org</a:t>
            </a:r>
          </a:p>
          <a:p>
            <a:r>
              <a:rPr lang="en-US" dirty="0" smtClean="0"/>
              <a:t>It is the fastest growing package manager:</a:t>
            </a:r>
          </a:p>
          <a:p>
            <a:r>
              <a:rPr lang="en-US" dirty="0" smtClean="0"/>
              <a:t>http://www.modulecounts.com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878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Node.js Event emitter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892"/>
          </a:xfrm>
        </p:spPr>
        <p:txBody>
          <a:bodyPr>
            <a:normAutofit/>
          </a:bodyPr>
          <a:lstStyle/>
          <a:p>
            <a:r>
              <a:rPr lang="en-US" dirty="0" smtClean="0"/>
              <a:t>If you worked with JavaScript in the browser, you know how much of the interaction of the user is handled through events: mouse clicks, keyboard button presses, reacting to mouse movements, and so on.</a:t>
            </a:r>
          </a:p>
          <a:p>
            <a:r>
              <a:rPr lang="en-US" dirty="0" smtClean="0"/>
              <a:t>On the backend side, Node.js offers us the option to build a similar system using the events module.</a:t>
            </a:r>
          </a:p>
          <a:p>
            <a:r>
              <a:rPr lang="en-US" dirty="0" smtClean="0"/>
              <a:t>This module, in particular, offers the </a:t>
            </a:r>
            <a:r>
              <a:rPr lang="en-US" dirty="0" err="1" smtClean="0"/>
              <a:t>EventEmitter</a:t>
            </a:r>
            <a:r>
              <a:rPr lang="en-US" dirty="0" smtClean="0"/>
              <a:t> class, which we'll use to handle our events.</a:t>
            </a:r>
          </a:p>
          <a:p>
            <a:r>
              <a:rPr lang="en-US" dirty="0" smtClean="0"/>
              <a:t>You initialize that using</a:t>
            </a:r>
          </a:p>
          <a:p>
            <a:pPr lvl="1"/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 smtClean="0"/>
              <a:t>EventEmitter</a:t>
            </a:r>
            <a:r>
              <a:rPr lang="en-US" dirty="0" smtClean="0"/>
              <a:t> = require('</a:t>
            </a:r>
            <a:r>
              <a:rPr lang="en-US" dirty="0" err="1" smtClean="0"/>
              <a:t>node:events</a:t>
            </a:r>
            <a:r>
              <a:rPr lang="en-US" dirty="0" smtClean="0"/>
              <a:t>');</a:t>
            </a:r>
          </a:p>
          <a:p>
            <a:pPr lvl="1"/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 smtClean="0"/>
              <a:t>eventEmitter</a:t>
            </a:r>
            <a:r>
              <a:rPr lang="en-US" dirty="0" smtClean="0"/>
              <a:t> = new </a:t>
            </a:r>
            <a:r>
              <a:rPr lang="en-US" dirty="0" err="1" smtClean="0"/>
              <a:t>EventEmitter</a:t>
            </a:r>
            <a:r>
              <a:rPr lang="en-US" dirty="0" smtClean="0"/>
              <a:t>();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800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object exposes, among many others, the on and emit methods.</a:t>
            </a:r>
          </a:p>
          <a:p>
            <a:r>
              <a:rPr lang="en-US" dirty="0" smtClean="0"/>
              <a:t>emit is used to trigger an event</a:t>
            </a:r>
          </a:p>
          <a:p>
            <a:r>
              <a:rPr lang="en-US" dirty="0" smtClean="0"/>
              <a:t>on is used to add a callback function that's going to be executed when the event is triggered</a:t>
            </a:r>
          </a:p>
          <a:p>
            <a:r>
              <a:rPr lang="en-US" dirty="0" smtClean="0"/>
              <a:t>For example, let's create a start event, and as a matter of providing a sample, we react to that by just logging to the console:</a:t>
            </a:r>
          </a:p>
          <a:p>
            <a:r>
              <a:rPr lang="en-US" dirty="0" err="1"/>
              <a:t>eventEmitter.on</a:t>
            </a:r>
            <a:r>
              <a:rPr lang="en-US" dirty="0"/>
              <a:t>('start', () =&gt; { console.log('started');});</a:t>
            </a:r>
          </a:p>
        </p:txBody>
      </p:sp>
    </p:spTree>
    <p:extLst>
      <p:ext uri="{BB962C8B-B14F-4D97-AF65-F5344CB8AC3E}">
        <p14:creationId xmlns:p14="http://schemas.microsoft.com/office/powerpoint/2010/main" val="3769010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we </a:t>
            </a:r>
            <a:r>
              <a:rPr lang="en-US" dirty="0" smtClean="0"/>
              <a:t>run</a:t>
            </a:r>
          </a:p>
          <a:p>
            <a:r>
              <a:rPr lang="en-US" dirty="0" err="1"/>
              <a:t>eventEmitter.emit</a:t>
            </a:r>
            <a:r>
              <a:rPr lang="en-US" dirty="0"/>
              <a:t>('start</a:t>
            </a:r>
            <a:r>
              <a:rPr lang="en-US" dirty="0" smtClean="0"/>
              <a:t>');</a:t>
            </a:r>
          </a:p>
          <a:p>
            <a:r>
              <a:rPr lang="en-US" dirty="0" smtClean="0"/>
              <a:t>the event handler function is triggered, and we get the console log.</a:t>
            </a:r>
          </a:p>
          <a:p>
            <a:r>
              <a:rPr lang="en-US" dirty="0" smtClean="0"/>
              <a:t>You can pass arguments to the event handler by passing them as additional arguments to emit():</a:t>
            </a:r>
          </a:p>
          <a:p>
            <a:r>
              <a:rPr lang="en-US" dirty="0" err="1"/>
              <a:t>eventEmitter.on</a:t>
            </a:r>
            <a:r>
              <a:rPr lang="en-US" dirty="0"/>
              <a:t>('start', number =&gt; { </a:t>
            </a:r>
            <a:endParaRPr lang="en-US" dirty="0" smtClean="0"/>
          </a:p>
          <a:p>
            <a:r>
              <a:rPr lang="en-US" dirty="0" smtClean="0"/>
              <a:t>console.log</a:t>
            </a:r>
            <a:r>
              <a:rPr lang="en-US" dirty="0"/>
              <a:t>(`started ${number</a:t>
            </a:r>
            <a:r>
              <a:rPr lang="en-US" dirty="0" smtClean="0"/>
              <a:t>}`);</a:t>
            </a:r>
          </a:p>
          <a:p>
            <a:r>
              <a:rPr lang="en-US" dirty="0" smtClean="0"/>
              <a:t>});</a:t>
            </a:r>
          </a:p>
          <a:p>
            <a:r>
              <a:rPr lang="en-US" dirty="0" err="1" smtClean="0"/>
              <a:t>eventEmitter.emit</a:t>
            </a:r>
            <a:r>
              <a:rPr lang="en-US" dirty="0"/>
              <a:t>('start', 23);</a:t>
            </a:r>
          </a:p>
        </p:txBody>
      </p:sp>
    </p:spTree>
    <p:extLst>
      <p:ext uri="{BB962C8B-B14F-4D97-AF65-F5344CB8AC3E}">
        <p14:creationId xmlns:p14="http://schemas.microsoft.com/office/powerpoint/2010/main" val="33262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arguments</a:t>
            </a:r>
            <a:r>
              <a:rPr lang="en-US" dirty="0" smtClean="0"/>
              <a:t>:</a:t>
            </a:r>
          </a:p>
          <a:p>
            <a:r>
              <a:rPr lang="en-US" dirty="0" err="1"/>
              <a:t>eventEmitter.on</a:t>
            </a:r>
            <a:r>
              <a:rPr lang="en-US" dirty="0"/>
              <a:t>('start', (start, end) =&gt; </a:t>
            </a:r>
            <a:endParaRPr lang="en-US" dirty="0" smtClean="0"/>
          </a:p>
          <a:p>
            <a:r>
              <a:rPr lang="en-US" dirty="0" smtClean="0"/>
              <a:t>{ </a:t>
            </a:r>
            <a:r>
              <a:rPr lang="en-US" dirty="0"/>
              <a:t>console.log(`started from ${start} to ${end</a:t>
            </a:r>
            <a:r>
              <a:rPr lang="en-US" dirty="0" smtClean="0"/>
              <a:t>}`);</a:t>
            </a:r>
          </a:p>
          <a:p>
            <a:r>
              <a:rPr lang="en-US" dirty="0" smtClean="0"/>
              <a:t>});</a:t>
            </a:r>
          </a:p>
          <a:p>
            <a:r>
              <a:rPr lang="en-US" dirty="0" err="1" smtClean="0"/>
              <a:t>eventEmitter.emit</a:t>
            </a:r>
            <a:r>
              <a:rPr lang="en-US" dirty="0"/>
              <a:t>('start', 1, 100);</a:t>
            </a:r>
          </a:p>
        </p:txBody>
      </p:sp>
    </p:spTree>
    <p:extLst>
      <p:ext uri="{BB962C8B-B14F-4D97-AF65-F5344CB8AC3E}">
        <p14:creationId xmlns:p14="http://schemas.microsoft.com/office/powerpoint/2010/main" val="1106617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EventEmitter</a:t>
            </a:r>
            <a:r>
              <a:rPr lang="en-US" dirty="0" smtClean="0"/>
              <a:t> object also exposes several other methods to interact with events, like</a:t>
            </a:r>
          </a:p>
          <a:p>
            <a:r>
              <a:rPr lang="en-US" dirty="0" smtClean="0"/>
              <a:t>once(): add a one-time listener</a:t>
            </a:r>
          </a:p>
          <a:p>
            <a:r>
              <a:rPr lang="en-US" dirty="0" err="1" smtClean="0"/>
              <a:t>removeListener</a:t>
            </a:r>
            <a:r>
              <a:rPr lang="en-US" dirty="0" smtClean="0"/>
              <a:t>() / off(): remove an event listener from an event</a:t>
            </a:r>
          </a:p>
          <a:p>
            <a:r>
              <a:rPr lang="en-US" dirty="0" err="1" smtClean="0"/>
              <a:t>removeAllListeners</a:t>
            </a:r>
            <a:r>
              <a:rPr lang="en-US" dirty="0" smtClean="0"/>
              <a:t>(): remove all listeners for an event</a:t>
            </a:r>
          </a:p>
        </p:txBody>
      </p:sp>
    </p:spTree>
    <p:extLst>
      <p:ext uri="{BB962C8B-B14F-4D97-AF65-F5344CB8AC3E}">
        <p14:creationId xmlns:p14="http://schemas.microsoft.com/office/powerpoint/2010/main" val="2754741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Event Loop?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event loop is what allows Node.js to perform non-blocking I/O operations — despite the fact that JavaScript is single-threaded — by offloading operations to the system kernel whenever possible.</a:t>
            </a:r>
          </a:p>
          <a:p>
            <a:r>
              <a:rPr lang="en-US" b="1" dirty="0"/>
              <a:t>Event Loop Explained</a:t>
            </a:r>
          </a:p>
          <a:p>
            <a:r>
              <a:rPr lang="en-US" dirty="0" smtClean="0"/>
              <a:t>When Node.js starts, it initializes the event loop, processes the provided input script (or drops into the REPL, which is not covered in this document) which may make </a:t>
            </a:r>
            <a:r>
              <a:rPr lang="en-US" dirty="0" err="1" smtClean="0"/>
              <a:t>async</a:t>
            </a:r>
            <a:r>
              <a:rPr lang="en-US" dirty="0" smtClean="0"/>
              <a:t> API calls, schedule timers, or call </a:t>
            </a:r>
            <a:r>
              <a:rPr lang="en-US" dirty="0" err="1" smtClean="0"/>
              <a:t>process.nextTick</a:t>
            </a:r>
            <a:r>
              <a:rPr lang="en-US" dirty="0" smtClean="0"/>
              <a:t>(), then begins processing the event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10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following diagram shows a simplified overview of the event loop's order of operations.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343" y="1825625"/>
            <a:ext cx="70513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23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Phases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timers: this phase executes callbacks scheduled by </a:t>
            </a:r>
            <a:r>
              <a:rPr lang="en-US" dirty="0" err="1" smtClean="0"/>
              <a:t>setTimeout</a:t>
            </a:r>
            <a:r>
              <a:rPr lang="en-US" dirty="0" smtClean="0"/>
              <a:t>() and </a:t>
            </a:r>
            <a:r>
              <a:rPr lang="en-US" dirty="0" err="1" smtClean="0"/>
              <a:t>setInterval</a:t>
            </a:r>
            <a:r>
              <a:rPr lang="en-US" dirty="0" smtClean="0"/>
              <a:t>().</a:t>
            </a:r>
          </a:p>
          <a:p>
            <a:r>
              <a:rPr lang="en-US" dirty="0" smtClean="0"/>
              <a:t>pending callbacks: executes I/O callbacks deferred to the next loop iteration.</a:t>
            </a:r>
          </a:p>
          <a:p>
            <a:r>
              <a:rPr lang="en-US" dirty="0" smtClean="0"/>
              <a:t>idle, prepare: only used internally.</a:t>
            </a:r>
          </a:p>
          <a:p>
            <a:r>
              <a:rPr lang="en-US" dirty="0" smtClean="0"/>
              <a:t>poll: retrieve new I/O events; execute I/O related callbacks (almost all with the exception of close callbacks, the ones scheduled by timers, and </a:t>
            </a:r>
            <a:r>
              <a:rPr lang="en-US" dirty="0" err="1" smtClean="0"/>
              <a:t>setImmediate</a:t>
            </a:r>
            <a:r>
              <a:rPr lang="en-US" dirty="0" smtClean="0"/>
              <a:t>()); node will block here when appropriate.</a:t>
            </a:r>
          </a:p>
          <a:p>
            <a:r>
              <a:rPr lang="en-US" dirty="0" smtClean="0"/>
              <a:t>check: </a:t>
            </a:r>
            <a:r>
              <a:rPr lang="en-US" dirty="0" err="1" smtClean="0"/>
              <a:t>setImmediate</a:t>
            </a:r>
            <a:r>
              <a:rPr lang="en-US" dirty="0" smtClean="0"/>
              <a:t>() callbacks are invoked here.</a:t>
            </a:r>
          </a:p>
          <a:p>
            <a:r>
              <a:rPr lang="en-US" dirty="0" smtClean="0"/>
              <a:t>close callbacks: some close callbacks, e.g. </a:t>
            </a:r>
            <a:r>
              <a:rPr lang="en-US" dirty="0" err="1" smtClean="0"/>
              <a:t>socket.on</a:t>
            </a:r>
            <a:r>
              <a:rPr lang="en-US" dirty="0" smtClean="0"/>
              <a:t>('close', ...).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435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Blocking vs Non-Blocking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This </a:t>
            </a:r>
            <a:r>
              <a:rPr lang="en-US" dirty="0"/>
              <a:t>overview covers the difference between </a:t>
            </a:r>
            <a:r>
              <a:rPr lang="en-US" b="1" dirty="0"/>
              <a:t>blocking</a:t>
            </a:r>
            <a:r>
              <a:rPr lang="en-US" dirty="0"/>
              <a:t> and </a:t>
            </a:r>
            <a:r>
              <a:rPr lang="en-US" b="1" dirty="0"/>
              <a:t>non-blocking</a:t>
            </a:r>
            <a:r>
              <a:rPr lang="en-US" dirty="0"/>
              <a:t> calls in Node.js.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overview will refer to the event loop and </a:t>
            </a:r>
            <a:r>
              <a:rPr lang="en-US" dirty="0" err="1"/>
              <a:t>libuv</a:t>
            </a:r>
            <a:r>
              <a:rPr lang="en-US" dirty="0"/>
              <a:t> but no prior knowledge of those topics is required. Readers are assumed to have a basic understanding of the JavaScript language and Node.js </a:t>
            </a:r>
            <a:r>
              <a:rPr lang="en-US" dirty="0">
                <a:hlinkClick r:id="rId2"/>
              </a:rPr>
              <a:t>callback pattern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Blocking</a:t>
            </a:r>
          </a:p>
          <a:p>
            <a:r>
              <a:rPr lang="en-US" b="1" dirty="0"/>
              <a:t>Blocking</a:t>
            </a:r>
            <a:r>
              <a:rPr lang="en-US" dirty="0"/>
              <a:t> is when the execution of additional JavaScript in the Node.js process must wait until a non-JavaScript operation completes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This happens because the event loop is unable to continue running JavaScript while a </a:t>
            </a:r>
            <a:r>
              <a:rPr lang="en-US" b="1" dirty="0"/>
              <a:t>blocking</a:t>
            </a:r>
            <a:r>
              <a:rPr lang="en-US" dirty="0"/>
              <a:t> operation is occurring.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749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Node.js, JavaScript that exhibits poor performance due to being CPU intensive rather than waiting on a non-JavaScript operation, such as I/O, isn't typically referred to as blocking. Synchronous methods in the Node.js standard library that use </a:t>
            </a:r>
            <a:r>
              <a:rPr lang="en-US" dirty="0" err="1" smtClean="0"/>
              <a:t>libuv</a:t>
            </a:r>
            <a:r>
              <a:rPr lang="en-US" dirty="0" smtClean="0"/>
              <a:t> are the most commonly used blocking operations. </a:t>
            </a:r>
          </a:p>
          <a:p>
            <a:r>
              <a:rPr lang="en-US" dirty="0" smtClean="0"/>
              <a:t>Native modules may also have blocking methods.</a:t>
            </a:r>
          </a:p>
          <a:p>
            <a:r>
              <a:rPr lang="en-US" dirty="0" smtClean="0"/>
              <a:t>All of the I/O methods in the Node.js standard library provide asynchronous versions, which are non-blocking, and accept callback functions. Some methods also have blocking counterparts, which have names that end with Sync.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207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Non-Blocking: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It refers to the program that does not block the execution of further operations. Non-Blocking methods are executed asynchronously. Asynchronously means that the program may not necessarily execute line by line. </a:t>
            </a:r>
            <a:endParaRPr lang="en-US" dirty="0" smtClean="0"/>
          </a:p>
          <a:p>
            <a:pPr fontAlgn="base"/>
            <a:r>
              <a:rPr lang="en-US" dirty="0" smtClean="0"/>
              <a:t>The </a:t>
            </a:r>
            <a:r>
              <a:rPr lang="en-US" dirty="0"/>
              <a:t>program calls the function and move to the next operation and does not wait for it to return.</a:t>
            </a:r>
          </a:p>
          <a:p>
            <a:pPr fontAlgn="base"/>
            <a:r>
              <a:rPr lang="en-US" b="1" dirty="0"/>
              <a:t>Example:</a:t>
            </a:r>
            <a:r>
              <a:rPr lang="en-US" dirty="0"/>
              <a:t> Following example uses the </a:t>
            </a:r>
            <a:r>
              <a:rPr lang="en-US" u="sng" dirty="0" err="1">
                <a:hlinkClick r:id="rId2"/>
              </a:rPr>
              <a:t>readFile</a:t>
            </a:r>
            <a:r>
              <a:rPr lang="en-US" u="sng" dirty="0">
                <a:hlinkClick r:id="rId2"/>
              </a:rPr>
              <a:t>()</a:t>
            </a:r>
            <a:r>
              <a:rPr lang="en-US" dirty="0"/>
              <a:t> function to read files and demonstrate Non-Blocking in Node.js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30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5791</TotalTime>
  <Words>743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Node</vt:lpstr>
      <vt:lpstr>N P M</vt:lpstr>
      <vt:lpstr>The Node.js Event emitter</vt:lpstr>
      <vt:lpstr>PowerPoint Presentation</vt:lpstr>
      <vt:lpstr>PowerPoint Presentation</vt:lpstr>
      <vt:lpstr>PowerPoint Presentation</vt:lpstr>
      <vt:lpstr>PowerPoint Presentation</vt:lpstr>
      <vt:lpstr>What is the Event Loop?</vt:lpstr>
      <vt:lpstr>The following diagram shows a simplified overview of the event loop's order of operations.</vt:lpstr>
      <vt:lpstr>Phases Overview</vt:lpstr>
      <vt:lpstr>Overview of Blocking vs Non-Blocking</vt:lpstr>
      <vt:lpstr>PowerPoint Presentation</vt:lpstr>
      <vt:lpstr>Non-Blocking: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Komal S</dc:creator>
  <cp:lastModifiedBy>Komal S</cp:lastModifiedBy>
  <cp:revision>4</cp:revision>
  <dcterms:created xsi:type="dcterms:W3CDTF">2024-01-12T07:58:20Z</dcterms:created>
  <dcterms:modified xsi:type="dcterms:W3CDTF">2024-01-16T08:29:37Z</dcterms:modified>
</cp:coreProperties>
</file>