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Play"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HNSiq6R/u2BncVDA9KgwZYbpD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42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336438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9402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3659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756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045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078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2301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953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220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546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0353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1233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766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4742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5449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420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9489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749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6644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6428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3"/>
          <p:cNvSpPr>
            <a:spLocks noGrp="1"/>
          </p:cNvSpPr>
          <p:nvPr>
            <p:ph type="pic" idx="2"/>
          </p:nvPr>
        </p:nvSpPr>
        <p:spPr>
          <a:xfrm>
            <a:off x="5183188" y="987425"/>
            <a:ext cx="6172200" cy="4873625"/>
          </a:xfrm>
          <a:prstGeom prst="rect">
            <a:avLst/>
          </a:prstGeom>
          <a:noFill/>
          <a:ln>
            <a:noFill/>
          </a:ln>
        </p:spPr>
      </p:sp>
      <p:sp>
        <p:nvSpPr>
          <p:cNvPr id="64" name="Google Shape;64;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lay"/>
              <a:buNone/>
            </a:pPr>
            <a:r>
              <a:rPr lang="en-US"/>
              <a:t>Django</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smtClean="0"/>
              <a:t>By </a:t>
            </a:r>
            <a:r>
              <a:rPr lang="en-US" smtClean="0"/>
              <a:t>Komal Singh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60350" algn="l" rtl="0">
              <a:lnSpc>
                <a:spcPct val="90000"/>
              </a:lnSpc>
              <a:spcBef>
                <a:spcPts val="0"/>
              </a:spcBef>
              <a:spcAft>
                <a:spcPts val="0"/>
              </a:spcAft>
              <a:buClr>
                <a:schemeClr val="dk1"/>
              </a:buClr>
              <a:buSzPts val="3300"/>
              <a:buChar char="•"/>
            </a:pPr>
            <a:r>
              <a:rPr lang="en-US" sz="3300"/>
              <a:t>Django is a free and open source web application framework which offers fast and effective dynamic website development.</a:t>
            </a:r>
            <a:endParaRPr sz="3300"/>
          </a:p>
          <a:p>
            <a:pPr marL="228600" lvl="0" indent="-260350" algn="l" rtl="0">
              <a:lnSpc>
                <a:spcPct val="90000"/>
              </a:lnSpc>
              <a:spcBef>
                <a:spcPts val="1000"/>
              </a:spcBef>
              <a:spcAft>
                <a:spcPts val="0"/>
              </a:spcAft>
              <a:buClr>
                <a:schemeClr val="dk1"/>
              </a:buClr>
              <a:buSzPts val="3300"/>
              <a:buChar char="•"/>
            </a:pPr>
            <a:r>
              <a:rPr lang="en-US" sz="3300"/>
              <a:t>What is framework?</a:t>
            </a:r>
            <a:endParaRPr sz="3300"/>
          </a:p>
          <a:p>
            <a:pPr marL="228600" lvl="0" indent="-260350" algn="l" rtl="0">
              <a:lnSpc>
                <a:spcPct val="90000"/>
              </a:lnSpc>
              <a:spcBef>
                <a:spcPts val="1000"/>
              </a:spcBef>
              <a:spcAft>
                <a:spcPts val="0"/>
              </a:spcAft>
              <a:buClr>
                <a:schemeClr val="dk1"/>
              </a:buClr>
              <a:buSzPts val="3300"/>
              <a:buChar char="•"/>
            </a:pPr>
            <a:r>
              <a:rPr lang="en-US" sz="3300"/>
              <a:t>A web framework is a code library that makes web development faster and easier by providing common patterns for building reliable, scalable and maintainable web applications.</a:t>
            </a:r>
            <a:endParaRPr sz="3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Play"/>
              <a:buNone/>
            </a:pPr>
            <a:r>
              <a:rPr lang="en-US"/>
              <a:t>To understand it more clear lets understand the difference between library and framework</a:t>
            </a:r>
            <a:endParaRPr/>
          </a:p>
        </p:txBody>
      </p:sp>
      <p:pic>
        <p:nvPicPr>
          <p:cNvPr id="97" name="Google Shape;97;p13" descr="A diagram of a program code&#10;&#10;Description automatically generated"/>
          <p:cNvPicPr preferRelativeResize="0">
            <a:picLocks noGrp="1"/>
          </p:cNvPicPr>
          <p:nvPr>
            <p:ph type="body" idx="1"/>
          </p:nvPr>
        </p:nvPicPr>
        <p:blipFill rotWithShape="1">
          <a:blip r:embed="rId3">
            <a:alphaModFix/>
          </a:blip>
          <a:srcRect/>
          <a:stretch/>
        </p:blipFill>
        <p:spPr>
          <a:xfrm>
            <a:off x="371407" y="1825625"/>
            <a:ext cx="11267425" cy="43513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838200" y="209050"/>
            <a:ext cx="10515600" cy="923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Introduction</a:t>
            </a:r>
            <a:endParaRPr/>
          </a:p>
        </p:txBody>
      </p:sp>
      <p:sp>
        <p:nvSpPr>
          <p:cNvPr id="103" name="Google Shape;103;p3"/>
          <p:cNvSpPr txBox="1">
            <a:spLocks noGrp="1"/>
          </p:cNvSpPr>
          <p:nvPr>
            <p:ph type="body" idx="1"/>
          </p:nvPr>
        </p:nvSpPr>
        <p:spPr>
          <a:xfrm>
            <a:off x="876300" y="1132826"/>
            <a:ext cx="10515600" cy="5136600"/>
          </a:xfrm>
          <a:prstGeom prst="rect">
            <a:avLst/>
          </a:prstGeom>
          <a:noFill/>
          <a:ln>
            <a:noFill/>
          </a:ln>
        </p:spPr>
        <p:txBody>
          <a:bodyPr spcFirstLastPara="1" wrap="square" lIns="91425" tIns="45700" rIns="91425" bIns="45700" anchor="t" anchorCtr="0">
            <a:normAutofit fontScale="85000" lnSpcReduction="20000"/>
          </a:bodyPr>
          <a:lstStyle/>
          <a:p>
            <a:pPr marL="228600" lvl="0" indent="-227330" algn="l" rtl="0">
              <a:lnSpc>
                <a:spcPct val="100000"/>
              </a:lnSpc>
              <a:spcBef>
                <a:spcPts val="0"/>
              </a:spcBef>
              <a:spcAft>
                <a:spcPts val="0"/>
              </a:spcAft>
              <a:buClr>
                <a:schemeClr val="dk1"/>
              </a:buClr>
              <a:buSzPct val="87500"/>
              <a:buChar char="•"/>
            </a:pPr>
            <a:r>
              <a:rPr lang="en-US">
                <a:latin typeface="Times New Roman"/>
                <a:ea typeface="Times New Roman"/>
                <a:cs typeface="Times New Roman"/>
                <a:sym typeface="Times New Roman"/>
              </a:rPr>
              <a:t>Django is a </a:t>
            </a:r>
            <a:r>
              <a:rPr lang="en-US" b="1">
                <a:latin typeface="Times New Roman"/>
                <a:ea typeface="Times New Roman"/>
                <a:cs typeface="Times New Roman"/>
                <a:sym typeface="Times New Roman"/>
              </a:rPr>
              <a:t>free and open-source web framework.</a:t>
            </a:r>
            <a:r>
              <a:rPr lang="en-US">
                <a:latin typeface="Times New Roman"/>
                <a:ea typeface="Times New Roman"/>
                <a:cs typeface="Times New Roman"/>
                <a:sym typeface="Times New Roman"/>
              </a:rPr>
              <a:t> </a:t>
            </a:r>
            <a:endParaRPr sz="3200"/>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It is written in </a:t>
            </a:r>
            <a:r>
              <a:rPr lang="en-US" b="1">
                <a:latin typeface="Times New Roman"/>
                <a:ea typeface="Times New Roman"/>
                <a:cs typeface="Times New Roman"/>
                <a:sym typeface="Times New Roman"/>
              </a:rPr>
              <a:t>Python.</a:t>
            </a:r>
            <a:r>
              <a:rPr lang="en-US">
                <a:latin typeface="Times New Roman"/>
                <a:ea typeface="Times New Roman"/>
                <a:cs typeface="Times New Roman"/>
                <a:sym typeface="Times New Roman"/>
              </a:rPr>
              <a:t> </a:t>
            </a:r>
            <a:endParaRPr sz="3200"/>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It follows the </a:t>
            </a:r>
            <a:r>
              <a:rPr lang="en-US" b="1">
                <a:latin typeface="Times New Roman"/>
                <a:ea typeface="Times New Roman"/>
                <a:cs typeface="Times New Roman"/>
                <a:sym typeface="Times New Roman"/>
              </a:rPr>
              <a:t>Model-View-Template (MVT) architectural pattern.</a:t>
            </a:r>
            <a:r>
              <a:rPr lang="en-US">
                <a:latin typeface="Times New Roman"/>
                <a:ea typeface="Times New Roman"/>
                <a:cs typeface="Times New Roman"/>
                <a:sym typeface="Times New Roman"/>
              </a:rPr>
              <a:t> </a:t>
            </a:r>
            <a:endParaRPr sz="3200"/>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It is maintained by the </a:t>
            </a:r>
            <a:r>
              <a:rPr lang="en-US" b="1">
                <a:latin typeface="Times New Roman"/>
                <a:ea typeface="Times New Roman"/>
                <a:cs typeface="Times New Roman"/>
                <a:sym typeface="Times New Roman"/>
              </a:rPr>
              <a:t>Django Software Foundation (DSF). </a:t>
            </a:r>
            <a:endParaRPr sz="3200" b="1"/>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It is used by several top websites like </a:t>
            </a:r>
            <a:r>
              <a:rPr lang="en-US" b="1">
                <a:latin typeface="Times New Roman"/>
                <a:ea typeface="Times New Roman"/>
                <a:cs typeface="Times New Roman"/>
                <a:sym typeface="Times New Roman"/>
              </a:rPr>
              <a:t>Youtube, Google, Dropbox,Yahoo Maps, Mozilla, Instagram,Washington Times, Nasa and many more.</a:t>
            </a:r>
            <a:endParaRPr sz="3200" b="1"/>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Django was created in 2003 as an internal project at </a:t>
            </a:r>
            <a:r>
              <a:rPr lang="en-US" b="1">
                <a:latin typeface="Times New Roman"/>
                <a:ea typeface="Times New Roman"/>
                <a:cs typeface="Times New Roman"/>
                <a:sym typeface="Times New Roman"/>
              </a:rPr>
              <a:t>Lawrence Journal-World Newspaper</a:t>
            </a:r>
            <a:r>
              <a:rPr lang="en-US">
                <a:latin typeface="Times New Roman"/>
                <a:ea typeface="Times New Roman"/>
                <a:cs typeface="Times New Roman"/>
                <a:sym typeface="Times New Roman"/>
              </a:rPr>
              <a:t> for their web development. </a:t>
            </a:r>
            <a:endParaRPr sz="3200"/>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The Original authors of Django Framework are: </a:t>
            </a:r>
            <a:r>
              <a:rPr lang="en-US" b="1">
                <a:latin typeface="Times New Roman"/>
                <a:ea typeface="Times New Roman"/>
                <a:cs typeface="Times New Roman"/>
                <a:sym typeface="Times New Roman"/>
              </a:rPr>
              <a:t>Adrian Holovaty, Simon Willison</a:t>
            </a:r>
            <a:endParaRPr sz="3200" b="1"/>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After Testing this framework with heavy traffics, Developers released for the public as open source framework on </a:t>
            </a:r>
            <a:r>
              <a:rPr lang="en-US" b="1">
                <a:latin typeface="Times New Roman"/>
                <a:ea typeface="Times New Roman"/>
                <a:cs typeface="Times New Roman"/>
                <a:sym typeface="Times New Roman"/>
              </a:rPr>
              <a:t>July 21st 2005.</a:t>
            </a:r>
            <a:r>
              <a:rPr lang="en-US">
                <a:latin typeface="Times New Roman"/>
                <a:ea typeface="Times New Roman"/>
                <a:cs typeface="Times New Roman"/>
                <a:sym typeface="Times New Roman"/>
              </a:rPr>
              <a:t> </a:t>
            </a:r>
            <a:endParaRPr sz="3200"/>
          </a:p>
          <a:p>
            <a:pPr marL="228600" lvl="0" indent="-227330" algn="l" rtl="0">
              <a:lnSpc>
                <a:spcPct val="100000"/>
              </a:lnSpc>
              <a:spcBef>
                <a:spcPts val="1000"/>
              </a:spcBef>
              <a:spcAft>
                <a:spcPts val="0"/>
              </a:spcAft>
              <a:buClr>
                <a:schemeClr val="dk1"/>
              </a:buClr>
              <a:buSzPct val="87500"/>
              <a:buChar char="•"/>
            </a:pPr>
            <a:r>
              <a:rPr lang="en-US">
                <a:latin typeface="Times New Roman"/>
                <a:ea typeface="Times New Roman"/>
                <a:cs typeface="Times New Roman"/>
                <a:sym typeface="Times New Roman"/>
              </a:rPr>
              <a:t>The Django was named in the memory of </a:t>
            </a:r>
            <a:r>
              <a:rPr lang="en-US" b="1">
                <a:latin typeface="Times New Roman"/>
                <a:ea typeface="Times New Roman"/>
                <a:cs typeface="Times New Roman"/>
                <a:sym typeface="Times New Roman"/>
              </a:rPr>
              <a:t>Guitarist Django Reinhardt.</a:t>
            </a:r>
            <a:r>
              <a:rPr lang="en-US">
                <a:latin typeface="Times New Roman"/>
                <a:ea typeface="Times New Roman"/>
                <a:cs typeface="Times New Roman"/>
                <a:sym typeface="Times New Roman"/>
              </a:rPr>
              <a:t> </a:t>
            </a:r>
            <a:endParaRPr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Top Features of Django</a:t>
            </a:r>
            <a:endParaRPr/>
          </a:p>
        </p:txBody>
      </p:sp>
      <p:sp>
        <p:nvSpPr>
          <p:cNvPr id="109" name="Google Shape;10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2400">
                <a:latin typeface="Times New Roman"/>
                <a:ea typeface="Times New Roman"/>
                <a:cs typeface="Times New Roman"/>
                <a:sym typeface="Times New Roman"/>
              </a:rPr>
              <a:t>1)</a:t>
            </a:r>
            <a:r>
              <a:rPr lang="en-US" sz="2400" b="1">
                <a:latin typeface="Times New Roman"/>
                <a:ea typeface="Times New Roman"/>
                <a:cs typeface="Times New Roman"/>
                <a:sym typeface="Times New Roman"/>
              </a:rPr>
              <a:t>Fast: </a:t>
            </a:r>
            <a:endParaRPr sz="2400" b="1">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Django was designed to help developers take applications from concept to completion </a:t>
            </a: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b="1">
                <a:latin typeface="Times New Roman"/>
                <a:ea typeface="Times New Roman"/>
                <a:cs typeface="Times New Roman"/>
                <a:sym typeface="Times New Roman"/>
              </a:rPr>
              <a:t>as quickly as possible. </a:t>
            </a:r>
            <a:endParaRPr sz="2400" b="1">
              <a:latin typeface="Times New Roman"/>
              <a:ea typeface="Times New Roman"/>
              <a:cs typeface="Times New Roman"/>
              <a:sym typeface="Times New Roman"/>
            </a:endParaRPr>
          </a:p>
          <a:p>
            <a:pPr marL="228600" lvl="0" indent="0" algn="l" rtl="0">
              <a:lnSpc>
                <a:spcPct val="90000"/>
              </a:lnSpc>
              <a:spcBef>
                <a:spcPts val="1000"/>
              </a:spcBef>
              <a:spcAft>
                <a:spcPts val="0"/>
              </a:spcAft>
              <a:buNone/>
            </a:pPr>
            <a:endParaRPr sz="2400" b="1">
              <a:latin typeface="Times New Roman"/>
              <a:ea typeface="Times New Roman"/>
              <a:cs typeface="Times New Roman"/>
              <a:sym typeface="Times New Roman"/>
            </a:endParaRPr>
          </a:p>
          <a:p>
            <a:pPr marL="0" lvl="0" indent="0" algn="l" rtl="0">
              <a:lnSpc>
                <a:spcPct val="90000"/>
              </a:lnSpc>
              <a:spcBef>
                <a:spcPts val="1000"/>
              </a:spcBef>
              <a:spcAft>
                <a:spcPts val="0"/>
              </a:spcAft>
              <a:buNone/>
            </a:pPr>
            <a:r>
              <a:rPr lang="en-US" sz="2400">
                <a:latin typeface="Times New Roman"/>
                <a:ea typeface="Times New Roman"/>
                <a:cs typeface="Times New Roman"/>
                <a:sym typeface="Times New Roman"/>
              </a:rPr>
              <a:t>2) </a:t>
            </a:r>
            <a:r>
              <a:rPr lang="en-US" sz="2400" b="1">
                <a:latin typeface="Times New Roman"/>
                <a:ea typeface="Times New Roman"/>
                <a:cs typeface="Times New Roman"/>
                <a:sym typeface="Times New Roman"/>
              </a:rPr>
              <a:t>Fully loaded:</a:t>
            </a: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Django includes dozens of extras we can use to handle common Web development tasks. Django takes care of user authentication, content administration, site maps, RSS feeds, and many more tasks. </a:t>
            </a:r>
            <a:endParaRPr sz="240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body" idx="1"/>
          </p:nvPr>
        </p:nvSpPr>
        <p:spPr>
          <a:xfrm>
            <a:off x="838200" y="531104"/>
            <a:ext cx="10515600" cy="5646000"/>
          </a:xfrm>
          <a:prstGeom prst="rect">
            <a:avLst/>
          </a:prstGeom>
          <a:noFill/>
          <a:ln>
            <a:noFill/>
          </a:ln>
        </p:spPr>
        <p:txBody>
          <a:bodyPr spcFirstLastPara="1" wrap="square" lIns="91425" tIns="45700" rIns="91425" bIns="45700" anchor="t" anchorCtr="0">
            <a:noAutofit/>
          </a:bodyPr>
          <a:lstStyle/>
          <a:p>
            <a:pPr marL="228600" lvl="0" indent="0" algn="l" rtl="0">
              <a:lnSpc>
                <a:spcPct val="90000"/>
              </a:lnSpc>
              <a:spcBef>
                <a:spcPts val="0"/>
              </a:spcBef>
              <a:spcAft>
                <a:spcPts val="0"/>
              </a:spcAft>
              <a:buNone/>
            </a:pPr>
            <a:r>
              <a:rPr lang="en-US" sz="2200" b="1">
                <a:latin typeface="Times New Roman"/>
                <a:ea typeface="Times New Roman"/>
                <a:cs typeface="Times New Roman"/>
                <a:sym typeface="Times New Roman"/>
              </a:rPr>
              <a:t>3) Security:</a:t>
            </a:r>
            <a:r>
              <a:rPr lang="en-US" sz="2200">
                <a:latin typeface="Times New Roman"/>
                <a:ea typeface="Times New Roman"/>
                <a:cs typeface="Times New Roman"/>
                <a:sym typeface="Times New Roman"/>
              </a:rPr>
              <a:t> </a:t>
            </a:r>
            <a:endParaRPr sz="2200">
              <a:latin typeface="Times New Roman"/>
              <a:ea typeface="Times New Roman"/>
              <a:cs typeface="Times New Roman"/>
              <a:sym typeface="Times New Roman"/>
            </a:endParaRPr>
          </a:p>
          <a:p>
            <a:pPr marL="228600" lvl="0" indent="-215900" algn="l" rtl="0">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Django takes security seriously and helps developers avoid many common security mistakes, such as SQL injection, cross-site scripting, cross-site request forgery and clickjacking.</a:t>
            </a:r>
            <a:endParaRPr sz="2200">
              <a:latin typeface="Arial"/>
              <a:ea typeface="Arial"/>
              <a:cs typeface="Arial"/>
              <a:sym typeface="Arial"/>
            </a:endParaRPr>
          </a:p>
          <a:p>
            <a:pPr marL="228600" lvl="0" indent="-215900" algn="l" rtl="0">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 Its user authentication system provides a secure way to manage user accounts and passwords.</a:t>
            </a:r>
            <a:r>
              <a:rPr lang="en-US" sz="2200"/>
              <a:t> </a:t>
            </a:r>
            <a:endParaRPr sz="2200"/>
          </a:p>
          <a:p>
            <a:pPr marL="228600" lvl="0" indent="0" algn="l" rtl="0">
              <a:lnSpc>
                <a:spcPct val="90000"/>
              </a:lnSpc>
              <a:spcBef>
                <a:spcPts val="1000"/>
              </a:spcBef>
              <a:spcAft>
                <a:spcPts val="0"/>
              </a:spcAft>
              <a:buNone/>
            </a:pPr>
            <a:endParaRPr sz="2200"/>
          </a:p>
          <a:p>
            <a:pPr marL="228600" lvl="0" indent="0" algn="l" rtl="0">
              <a:lnSpc>
                <a:spcPct val="90000"/>
              </a:lnSpc>
              <a:spcBef>
                <a:spcPts val="1000"/>
              </a:spcBef>
              <a:spcAft>
                <a:spcPts val="0"/>
              </a:spcAft>
              <a:buNone/>
            </a:pPr>
            <a:r>
              <a:rPr lang="en-US" sz="2200" b="1">
                <a:latin typeface="Times New Roman"/>
                <a:ea typeface="Times New Roman"/>
                <a:cs typeface="Times New Roman"/>
                <a:sym typeface="Times New Roman"/>
              </a:rPr>
              <a:t>4) Scalability: </a:t>
            </a:r>
            <a:endParaRPr sz="2200" b="1">
              <a:latin typeface="Times New Roman"/>
              <a:ea typeface="Times New Roman"/>
              <a:cs typeface="Times New Roman"/>
              <a:sym typeface="Times New Roman"/>
            </a:endParaRPr>
          </a:p>
          <a:p>
            <a:pPr marL="228600" lvl="0" indent="-215900" algn="l" rtl="0">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Some of the busiest sites on the planet use Django’s ability to quickly and flexibly scale to meet the heaviest traffic demands. </a:t>
            </a:r>
            <a:endParaRPr sz="2200">
              <a:latin typeface="Times New Roman"/>
              <a:ea typeface="Times New Roman"/>
              <a:cs typeface="Times New Roman"/>
              <a:sym typeface="Times New Roman"/>
            </a:endParaRPr>
          </a:p>
          <a:p>
            <a:pPr marL="228600" lvl="0" indent="0" algn="l" rtl="0">
              <a:lnSpc>
                <a:spcPct val="90000"/>
              </a:lnSpc>
              <a:spcBef>
                <a:spcPts val="1000"/>
              </a:spcBef>
              <a:spcAft>
                <a:spcPts val="0"/>
              </a:spcAft>
              <a:buNone/>
            </a:pPr>
            <a:endParaRPr sz="2200">
              <a:latin typeface="Times New Roman"/>
              <a:ea typeface="Times New Roman"/>
              <a:cs typeface="Times New Roman"/>
              <a:sym typeface="Times New Roman"/>
            </a:endParaRPr>
          </a:p>
          <a:p>
            <a:pPr marL="228600" lvl="0" indent="0" algn="l" rtl="0">
              <a:spcBef>
                <a:spcPts val="0"/>
              </a:spcBef>
              <a:spcAft>
                <a:spcPts val="0"/>
              </a:spcAft>
              <a:buNone/>
            </a:pPr>
            <a:r>
              <a:rPr lang="en-US" sz="2200" b="1">
                <a:latin typeface="Times New Roman"/>
                <a:ea typeface="Times New Roman"/>
                <a:cs typeface="Times New Roman"/>
                <a:sym typeface="Times New Roman"/>
              </a:rPr>
              <a:t>5) Versatile: </a:t>
            </a:r>
            <a:endParaRPr sz="2200" b="1"/>
          </a:p>
          <a:p>
            <a:pPr marL="228600" lvl="0" indent="-254000" algn="l" rtl="0">
              <a:lnSpc>
                <a:spcPct val="100000"/>
              </a:lnSpc>
              <a:spcBef>
                <a:spcPts val="0"/>
              </a:spcBef>
              <a:spcAft>
                <a:spcPts val="0"/>
              </a:spcAft>
              <a:buSzPts val="2200"/>
              <a:buChar char="•"/>
            </a:pPr>
            <a:r>
              <a:rPr lang="en-US" sz="2200">
                <a:latin typeface="Times New Roman"/>
                <a:ea typeface="Times New Roman"/>
                <a:cs typeface="Times New Roman"/>
                <a:sym typeface="Times New Roman"/>
              </a:rPr>
              <a:t>Companies, organizations and governments have used Django to build all sorts of </a:t>
            </a:r>
            <a:endParaRPr sz="2200"/>
          </a:p>
          <a:p>
            <a:pPr marL="228600" lvl="0" indent="0" algn="l" rtl="0">
              <a:lnSpc>
                <a:spcPct val="100000"/>
              </a:lnSpc>
              <a:spcBef>
                <a:spcPts val="0"/>
              </a:spcBef>
              <a:spcAft>
                <a:spcPts val="0"/>
              </a:spcAft>
              <a:buNone/>
            </a:pPr>
            <a:r>
              <a:rPr lang="en-US" sz="2200">
                <a:latin typeface="Times New Roman"/>
                <a:ea typeface="Times New Roman"/>
                <a:cs typeface="Times New Roman"/>
                <a:sym typeface="Times New Roman"/>
              </a:rPr>
              <a:t>things — from content management systems to social networks to scientific </a:t>
            </a:r>
            <a:endParaRPr sz="2200"/>
          </a:p>
          <a:p>
            <a:pPr marL="228600" lvl="0" indent="0" algn="l" rtl="0">
              <a:lnSpc>
                <a:spcPct val="100000"/>
              </a:lnSpc>
              <a:spcBef>
                <a:spcPts val="0"/>
              </a:spcBef>
              <a:spcAft>
                <a:spcPts val="0"/>
              </a:spcAft>
              <a:buNone/>
            </a:pPr>
            <a:r>
              <a:rPr lang="en-US" sz="2200">
                <a:latin typeface="Times New Roman"/>
                <a:ea typeface="Times New Roman"/>
                <a:cs typeface="Times New Roman"/>
                <a:sym typeface="Times New Roman"/>
              </a:rPr>
              <a:t>computing platforms. </a:t>
            </a:r>
            <a:endParaRPr sz="2200"/>
          </a:p>
          <a:p>
            <a:pPr marL="0" lvl="0" indent="0" algn="l" rtl="0">
              <a:lnSpc>
                <a:spcPct val="90000"/>
              </a:lnSpc>
              <a:spcBef>
                <a:spcPts val="1000"/>
              </a:spcBef>
              <a:spcAft>
                <a:spcPts val="0"/>
              </a:spcAft>
              <a:buClr>
                <a:schemeClr val="dk1"/>
              </a:buClr>
              <a:buSzPts val="2800"/>
              <a:buNone/>
            </a:pP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MVT</a:t>
            </a:r>
            <a:endParaRPr/>
          </a:p>
        </p:txBody>
      </p:sp>
      <p:sp>
        <p:nvSpPr>
          <p:cNvPr id="120" name="Google Shape;120;p7"/>
          <p:cNvSpPr txBox="1">
            <a:spLocks noGrp="1"/>
          </p:cNvSpPr>
          <p:nvPr>
            <p:ph type="body" idx="1"/>
          </p:nvPr>
        </p:nvSpPr>
        <p:spPr>
          <a:xfrm>
            <a:off x="838200" y="1483601"/>
            <a:ext cx="10515600" cy="46935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a:t>
            </a:r>
            <a:r>
              <a:rPr lang="en-US" sz="2400" b="1">
                <a:latin typeface="Times New Roman"/>
                <a:ea typeface="Times New Roman"/>
                <a:cs typeface="Times New Roman"/>
                <a:sym typeface="Times New Roman"/>
              </a:rPr>
              <a:t>Model-View-Template (MVT)</a:t>
            </a:r>
            <a:r>
              <a:rPr lang="en-US" sz="2400">
                <a:latin typeface="Times New Roman"/>
                <a:ea typeface="Times New Roman"/>
                <a:cs typeface="Times New Roman"/>
                <a:sym typeface="Times New Roman"/>
              </a:rPr>
              <a:t> is slightly different from MVC.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In fact the main difference between the two patterns is that Django itself takes care of the Controller part (Software Code that controls the interactions between the Model and View), leaving us with the template. The template is a HTML file mixed with </a:t>
            </a:r>
            <a:r>
              <a:rPr lang="en-US" sz="2400" b="1">
                <a:latin typeface="Times New Roman"/>
                <a:ea typeface="Times New Roman"/>
                <a:cs typeface="Times New Roman"/>
                <a:sym typeface="Times New Roman"/>
              </a:rPr>
              <a:t>Django Template Language (DTL).</a:t>
            </a:r>
            <a:endParaRPr sz="2400" b="1">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MVT (Model View Template) is a software design pattern. </a:t>
            </a:r>
            <a:endParaRPr>
              <a:latin typeface="Arial"/>
              <a:ea typeface="Arial"/>
              <a:cs typeface="Arial"/>
              <a:sym typeface="Arial"/>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It is a collection of three important components </a:t>
            </a:r>
            <a:r>
              <a:rPr lang="en-US" sz="2400" b="1">
                <a:latin typeface="Times New Roman"/>
                <a:ea typeface="Times New Roman"/>
                <a:cs typeface="Times New Roman"/>
                <a:sym typeface="Times New Roman"/>
              </a:rPr>
              <a:t>Model View and Template. </a:t>
            </a:r>
            <a:endParaRPr b="1"/>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Model helps to </a:t>
            </a:r>
            <a:r>
              <a:rPr lang="en-US" sz="2400" b="1">
                <a:latin typeface="Times New Roman"/>
                <a:ea typeface="Times New Roman"/>
                <a:cs typeface="Times New Roman"/>
                <a:sym typeface="Times New Roman"/>
              </a:rPr>
              <a:t>handle database. </a:t>
            </a:r>
            <a:endParaRPr b="1"/>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It is a data access layer which handles the data.</a:t>
            </a:r>
            <a:br>
              <a:rPr lang="en-US" sz="2400">
                <a:latin typeface="Times New Roman"/>
                <a:ea typeface="Times New Roman"/>
                <a:cs typeface="Times New Roman"/>
                <a:sym typeface="Times New Roman"/>
              </a:rPr>
            </a:b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26" name="Google Shape;126;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The Template is a presentation layer which handles User Interface part completely. </a:t>
            </a:r>
            <a:endParaRPr/>
          </a:p>
          <a:p>
            <a:pPr marL="228600" lvl="0" indent="-228600" algn="l" rtl="0">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The View is used to execute the</a:t>
            </a:r>
            <a:r>
              <a:rPr lang="en-US" sz="2400" b="1">
                <a:solidFill>
                  <a:srgbClr val="000000"/>
                </a:solidFill>
                <a:latin typeface="Times New Roman"/>
                <a:ea typeface="Times New Roman"/>
                <a:cs typeface="Times New Roman"/>
                <a:sym typeface="Times New Roman"/>
              </a:rPr>
              <a:t> business logic</a:t>
            </a:r>
            <a:r>
              <a:rPr lang="en-US" sz="2400">
                <a:solidFill>
                  <a:srgbClr val="000000"/>
                </a:solidFill>
                <a:latin typeface="Times New Roman"/>
                <a:ea typeface="Times New Roman"/>
                <a:cs typeface="Times New Roman"/>
                <a:sym typeface="Times New Roman"/>
              </a:rPr>
              <a:t> and </a:t>
            </a:r>
            <a:r>
              <a:rPr lang="en-US" sz="2400" b="1">
                <a:solidFill>
                  <a:srgbClr val="000000"/>
                </a:solidFill>
                <a:latin typeface="Times New Roman"/>
                <a:ea typeface="Times New Roman"/>
                <a:cs typeface="Times New Roman"/>
                <a:sym typeface="Times New Roman"/>
              </a:rPr>
              <a:t>interact with a model to carry data and renders a template.</a:t>
            </a:r>
            <a:endParaRPr b="1"/>
          </a:p>
          <a:p>
            <a:pPr marL="228600" lvl="0" indent="-228600" algn="l" rtl="0">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Although Django follows MVC pattern but maintains its own conventions. So, control is handled by the framework itself.</a:t>
            </a:r>
            <a:endParaRPr sz="2400">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rgbClr val="000000"/>
              </a:buClr>
              <a:buSzPts val="2400"/>
              <a:buChar char="•"/>
            </a:pPr>
            <a:r>
              <a:rPr lang="en-US" sz="2400">
                <a:solidFill>
                  <a:srgbClr val="000000"/>
                </a:solidFill>
                <a:latin typeface="Times New Roman"/>
                <a:ea typeface="Times New Roman"/>
                <a:cs typeface="Times New Roman"/>
                <a:sym typeface="Times New Roman"/>
              </a:rPr>
              <a:t>There is no separate controller and complete application is based on Model View and Template. That's why it is called MVT application.</a:t>
            </a:r>
            <a:endParaRPr/>
          </a:p>
          <a:p>
            <a:pPr marL="228600" lvl="0" indent="-76200" algn="l" rtl="0">
              <a:lnSpc>
                <a:spcPct val="90000"/>
              </a:lnSpc>
              <a:spcBef>
                <a:spcPts val="1000"/>
              </a:spcBef>
              <a:spcAft>
                <a:spcPts val="0"/>
              </a:spcAft>
              <a:buClr>
                <a:schemeClr val="dk1"/>
              </a:buClr>
              <a:buSzPts val="2400"/>
              <a:buNone/>
            </a:pPr>
            <a:endParaRPr sz="240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32" name="Google Shape;13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Here, a user requests for a resource to the Django, Django works as a controller and check to the available resource in URL.</a:t>
            </a:r>
            <a:endParaRPr>
              <a:solidFill>
                <a:srgbClr val="000000"/>
              </a:solidFill>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If URL maps, a view is called that interact with model and template, it renders a template.</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Django responds back to the user and sends a template as a response.</a:t>
            </a:r>
            <a:endParaRPr/>
          </a:p>
          <a:p>
            <a:pPr marL="0" lvl="0" indent="0" algn="l" rtl="0">
              <a:lnSpc>
                <a:spcPct val="90000"/>
              </a:lnSpc>
              <a:spcBef>
                <a:spcPts val="1000"/>
              </a:spcBef>
              <a:spcAft>
                <a:spcPts val="0"/>
              </a:spcAft>
              <a:buClr>
                <a:schemeClr val="dk1"/>
              </a:buClr>
              <a:buSzPts val="2800"/>
              <a:buNone/>
            </a:pPr>
            <a:r>
              <a:rPr lang="en-US"/>
              <a:t/>
            </a:r>
            <a:br>
              <a:rPr lang="en-US"/>
            </a:b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1"/>
          <p:cNvSpPr txBox="1">
            <a:spLocks noGrp="1"/>
          </p:cNvSpPr>
          <p:nvPr>
            <p:ph type="title"/>
          </p:nvPr>
        </p:nvSpPr>
        <p:spPr>
          <a:xfrm>
            <a:off x="768991" y="334977"/>
            <a:ext cx="10515600" cy="10916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endParaRPr/>
          </a:p>
        </p:txBody>
      </p:sp>
      <p:pic>
        <p:nvPicPr>
          <p:cNvPr id="138" name="Google Shape;138;p11"/>
          <p:cNvPicPr preferRelativeResize="0">
            <a:picLocks noGrp="1"/>
          </p:cNvPicPr>
          <p:nvPr>
            <p:ph type="body" idx="1"/>
          </p:nvPr>
        </p:nvPicPr>
        <p:blipFill rotWithShape="1">
          <a:blip r:embed="rId3">
            <a:alphaModFix/>
          </a:blip>
          <a:srcRect/>
          <a:stretch/>
        </p:blipFill>
        <p:spPr>
          <a:xfrm>
            <a:off x="1687740" y="1000708"/>
            <a:ext cx="8816519" cy="4134623"/>
          </a:xfrm>
          <a:prstGeom prst="rect">
            <a:avLst/>
          </a:prstGeom>
          <a:noFill/>
          <a:ln>
            <a:noFill/>
          </a:ln>
        </p:spPr>
      </p:pic>
      <p:sp>
        <p:nvSpPr>
          <p:cNvPr id="139" name="Google Shape;139;p11"/>
          <p:cNvSpPr/>
          <p:nvPr/>
        </p:nvSpPr>
        <p:spPr>
          <a:xfrm>
            <a:off x="8556770" y="5131265"/>
            <a:ext cx="2111229" cy="1468073"/>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At last Django responds back to the user and sends a template as a response.</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45" name="Google Shape;145;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Char char="•"/>
            </a:pPr>
            <a:r>
              <a:rPr lang="en-US"/>
              <a:t>The MVT is a software design pattern which includes three important components Model, View and Template.</a:t>
            </a:r>
            <a:endParaRPr/>
          </a:p>
          <a:p>
            <a:pPr marL="228600" lvl="0" indent="-228600" algn="l" rtl="0">
              <a:lnSpc>
                <a:spcPct val="90000"/>
              </a:lnSpc>
              <a:spcBef>
                <a:spcPts val="1000"/>
              </a:spcBef>
              <a:spcAft>
                <a:spcPts val="0"/>
              </a:spcAft>
              <a:buClr>
                <a:schemeClr val="dk1"/>
              </a:buClr>
              <a:buSzPts val="2800"/>
              <a:buChar char="•"/>
            </a:pPr>
            <a:r>
              <a:rPr lang="en-US"/>
              <a:t>The Model helps to handle database. It is a data access layer which handles the data.</a:t>
            </a:r>
            <a:endParaRPr/>
          </a:p>
          <a:p>
            <a:pPr marL="228600" lvl="0" indent="-228600" algn="l" rtl="0">
              <a:lnSpc>
                <a:spcPct val="90000"/>
              </a:lnSpc>
              <a:spcBef>
                <a:spcPts val="1000"/>
              </a:spcBef>
              <a:spcAft>
                <a:spcPts val="0"/>
              </a:spcAft>
              <a:buClr>
                <a:schemeClr val="dk1"/>
              </a:buClr>
              <a:buSzPts val="2800"/>
              <a:buChar char="•"/>
            </a:pPr>
            <a:r>
              <a:rPr lang="en-US"/>
              <a:t>The Template is a presentation layer which handles User Interface part completely.</a:t>
            </a:r>
            <a:endParaRPr/>
          </a:p>
          <a:p>
            <a:pPr marL="228600" lvl="0" indent="-228600" algn="l" rtl="0">
              <a:lnSpc>
                <a:spcPct val="90000"/>
              </a:lnSpc>
              <a:spcBef>
                <a:spcPts val="1000"/>
              </a:spcBef>
              <a:spcAft>
                <a:spcPts val="0"/>
              </a:spcAft>
              <a:buClr>
                <a:schemeClr val="dk1"/>
              </a:buClr>
              <a:buSzPts val="2800"/>
              <a:buChar char="•"/>
            </a:pPr>
            <a:r>
              <a:rPr lang="en-US"/>
              <a:t>The View is used to execute the business logic and interact with a model to carry data and renders a template.</a:t>
            </a:r>
            <a:endParaRPr/>
          </a:p>
          <a:p>
            <a:pPr marL="228600" lvl="0" indent="-228600" algn="l" rtl="0">
              <a:lnSpc>
                <a:spcPct val="90000"/>
              </a:lnSpc>
              <a:spcBef>
                <a:spcPts val="1000"/>
              </a:spcBef>
              <a:spcAft>
                <a:spcPts val="0"/>
              </a:spcAft>
              <a:buClr>
                <a:schemeClr val="dk1"/>
              </a:buClr>
              <a:buSzPts val="2800"/>
              <a:buChar char="•"/>
            </a:pPr>
            <a:r>
              <a:rPr lang="en-US" b="1"/>
              <a:t>Although Django follows MVC pattern but maintains it’s own conventions. Here control is handled by the framework itself.</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en-US"/>
              <a:t>What is django ORM?</a:t>
            </a:r>
            <a:endParaRPr/>
          </a:p>
          <a:p>
            <a:pPr marL="0" lvl="0" indent="0" algn="l" rtl="0">
              <a:lnSpc>
                <a:spcPct val="90000"/>
              </a:lnSpc>
              <a:spcBef>
                <a:spcPts val="0"/>
              </a:spcBef>
              <a:spcAft>
                <a:spcPts val="0"/>
              </a:spcAft>
              <a:buClr>
                <a:schemeClr val="dk1"/>
              </a:buClr>
              <a:buSzPts val="4400"/>
              <a:buFont typeface="Play"/>
              <a:buNone/>
            </a:pPr>
            <a:endParaRPr/>
          </a:p>
        </p:txBody>
      </p:sp>
      <p:sp>
        <p:nvSpPr>
          <p:cNvPr id="151" name="Google Shape;15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Django ORM stands for Django Object-Relational Mapping. </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It's a powerful tool provided by the Django web framework for interacting with databases using Python objects.</a:t>
            </a:r>
            <a:endParaRPr>
              <a:solidFill>
                <a:srgbClr val="000000"/>
              </a:solidFill>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Here's how it works:</a:t>
            </a:r>
            <a:endParaRPr/>
          </a:p>
          <a:p>
            <a:pPr marL="228600" lvl="0" indent="-228600" algn="l" rtl="0">
              <a:lnSpc>
                <a:spcPct val="90000"/>
              </a:lnSpc>
              <a:spcBef>
                <a:spcPts val="1000"/>
              </a:spcBef>
              <a:spcAft>
                <a:spcPts val="0"/>
              </a:spcAft>
              <a:buClr>
                <a:schemeClr val="dk1"/>
              </a:buClr>
              <a:buSzPts val="2800"/>
              <a:buChar char="•"/>
            </a:pPr>
            <a:r>
              <a:rPr lang="en-US"/>
              <a:t>Object-Relational Mapping: </a:t>
            </a:r>
            <a:endParaRPr/>
          </a:p>
          <a:p>
            <a:pPr marL="228600" lvl="0" indent="-228600" algn="l" rtl="0">
              <a:lnSpc>
                <a:spcPct val="90000"/>
              </a:lnSpc>
              <a:spcBef>
                <a:spcPts val="1000"/>
              </a:spcBef>
              <a:spcAft>
                <a:spcPts val="0"/>
              </a:spcAft>
              <a:buClr>
                <a:schemeClr val="dk1"/>
              </a:buClr>
              <a:buSzPts val="2800"/>
              <a:buChar char="•"/>
            </a:pPr>
            <a:r>
              <a:rPr lang="en-US"/>
              <a:t>Django ORM allows developers to work with database tables as Python objects. </a:t>
            </a:r>
            <a:endParaRPr/>
          </a:p>
          <a:p>
            <a:pPr marL="228600" lvl="0" indent="-228600" algn="l" rtl="0">
              <a:lnSpc>
                <a:spcPct val="90000"/>
              </a:lnSpc>
              <a:spcBef>
                <a:spcPts val="1000"/>
              </a:spcBef>
              <a:spcAft>
                <a:spcPts val="0"/>
              </a:spcAft>
              <a:buClr>
                <a:schemeClr val="dk1"/>
              </a:buClr>
              <a:buSzPts val="2800"/>
              <a:buChar char="•"/>
            </a:pPr>
            <a:r>
              <a:rPr lang="en-US"/>
              <a:t>Each table in the database is represented by a Python class, and each row in the table is represented by an instance of that class.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5"/>
          <p:cNvSpPr txBox="1">
            <a:spLocks noGrp="1"/>
          </p:cNvSpPr>
          <p:nvPr>
            <p:ph type="body" idx="1"/>
          </p:nvPr>
        </p:nvSpPr>
        <p:spPr>
          <a:xfrm>
            <a:off x="838200" y="738903"/>
            <a:ext cx="10515600" cy="54381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Abstraction</a:t>
            </a:r>
            <a:r>
              <a:rPr lang="en-US" b="1">
                <a:solidFill>
                  <a:srgbClr val="000000"/>
                </a:solidFill>
              </a:rPr>
              <a:t>:</a:t>
            </a:r>
            <a:r>
              <a:rPr lang="en-US">
                <a:solidFill>
                  <a:srgbClr val="000000"/>
                </a:solidFill>
              </a:rPr>
              <a:t> Django ORM abstracts away the need to write SQL queries directly.</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 Instead, developers can perform database operations using Python syntax, which is more intuitive and less error-prone for many developers.</a:t>
            </a:r>
            <a:endParaRPr/>
          </a:p>
          <a:p>
            <a:pPr marL="228600" lvl="0" indent="-228600" algn="l" rtl="0">
              <a:lnSpc>
                <a:spcPct val="90000"/>
              </a:lnSpc>
              <a:spcBef>
                <a:spcPts val="1000"/>
              </a:spcBef>
              <a:spcAft>
                <a:spcPts val="0"/>
              </a:spcAft>
              <a:buClr>
                <a:schemeClr val="dk1"/>
              </a:buClr>
              <a:buSzPts val="2800"/>
              <a:buChar char="•"/>
            </a:pPr>
            <a:r>
              <a:rPr lang="en-US" b="1"/>
              <a:t>Querysets</a:t>
            </a:r>
            <a:r>
              <a:rPr lang="en-US" b="1">
                <a:solidFill>
                  <a:srgbClr val="000000"/>
                </a:solidFill>
              </a:rPr>
              <a:t>:</a:t>
            </a:r>
            <a:r>
              <a:rPr lang="en-US">
                <a:solidFill>
                  <a:srgbClr val="000000"/>
                </a:solidFill>
              </a:rPr>
              <a:t> Django ORM provides QuerySets, which are a collection of database queries that can be used to retrieve data from the database.</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 QuerySets can be filtered, sliced, and manipulated in various ways to retrieve the required data.</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a:spLocks noGrp="1"/>
          </p:cNvSpPr>
          <p:nvPr>
            <p:ph type="title"/>
          </p:nvPr>
        </p:nvSpPr>
        <p:spPr>
          <a:xfrm>
            <a:off x="838200" y="365125"/>
            <a:ext cx="10515600" cy="10916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endParaRPr/>
          </a:p>
        </p:txBody>
      </p:sp>
      <p:sp>
        <p:nvSpPr>
          <p:cNvPr id="162" name="Google Shape;162;p16"/>
          <p:cNvSpPr txBox="1">
            <a:spLocks noGrp="1"/>
          </p:cNvSpPr>
          <p:nvPr>
            <p:ph type="body" idx="1"/>
          </p:nvPr>
        </p:nvSpPr>
        <p:spPr>
          <a:xfrm>
            <a:off x="838200" y="497369"/>
            <a:ext cx="10515600" cy="5679594"/>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0000"/>
              <a:buChar char="•"/>
            </a:pPr>
            <a:r>
              <a:rPr lang="en-US" b="1"/>
              <a:t>Model Definitions</a:t>
            </a:r>
            <a:r>
              <a:rPr lang="en-US">
                <a:solidFill>
                  <a:srgbClr val="000000"/>
                </a:solidFill>
              </a:rPr>
              <a:t>: Django ORM relies heavily on model definitions. Models are Python classes that represent database tables. </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They define the structure of the data, including fields and their types.</a:t>
            </a:r>
            <a:endParaRPr/>
          </a:p>
          <a:p>
            <a:pPr marL="228600" lvl="0" indent="-228600" algn="l" rtl="0">
              <a:lnSpc>
                <a:spcPct val="90000"/>
              </a:lnSpc>
              <a:spcBef>
                <a:spcPts val="1000"/>
              </a:spcBef>
              <a:spcAft>
                <a:spcPts val="0"/>
              </a:spcAft>
              <a:buClr>
                <a:schemeClr val="dk1"/>
              </a:buClr>
              <a:buSzPct val="100000"/>
              <a:buChar char="•"/>
            </a:pPr>
            <a:r>
              <a:rPr lang="en-US" b="1"/>
              <a:t>Automatic Query Generation</a:t>
            </a:r>
            <a:r>
              <a:rPr lang="en-US" b="1">
                <a:solidFill>
                  <a:srgbClr val="000000"/>
                </a:solidFill>
              </a:rPr>
              <a:t>: </a:t>
            </a:r>
            <a:r>
              <a:rPr lang="en-US">
                <a:solidFill>
                  <a:srgbClr val="000000"/>
                </a:solidFill>
              </a:rPr>
              <a:t>Django ORM automatically generates SQL queries based on the Python code written by the developer.</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 This means that developers don't have to worry about writing complex SQL queries manually; Django takes care of it.</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Overall, Django ORM simplifies database interactions in Django projects, making it easier for developers to build web applications without needing extensive knowledge of SQL. It abstracts away the complexities of database management and allows developers to focus on writing Python code.</a:t>
            </a:r>
            <a:endParaRPr>
              <a:solidFill>
                <a:srgbClr val="000000"/>
              </a:solidFill>
            </a:endParaRPr>
          </a:p>
          <a:p>
            <a:pPr marL="228600" lvl="0" indent="-64135"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Migrations</a:t>
            </a:r>
            <a:endParaRPr/>
          </a:p>
        </p:txBody>
      </p:sp>
      <p:sp>
        <p:nvSpPr>
          <p:cNvPr id="168" name="Google Shape;168;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Migrations are Django’s way of propagating changes you make to your models (adding a field, deleting a model, etc.) into your database schema. </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They’re designed to be mostly automatic, but you’ll need to know when to make migrations, when to run them, and the common problems you might run into.</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solidFill>
                  <a:srgbClr val="000000"/>
                </a:solidFill>
              </a:rPr>
              <a:t>The Commands</a:t>
            </a:r>
            <a:endParaRPr/>
          </a:p>
          <a:p>
            <a:pPr marL="0" lvl="0" indent="0" algn="l" rtl="0">
              <a:lnSpc>
                <a:spcPct val="90000"/>
              </a:lnSpc>
              <a:spcBef>
                <a:spcPts val="0"/>
              </a:spcBef>
              <a:spcAft>
                <a:spcPts val="0"/>
              </a:spcAft>
              <a:buClr>
                <a:schemeClr val="dk1"/>
              </a:buClr>
              <a:buSzPts val="4400"/>
              <a:buFont typeface="Play"/>
              <a:buNone/>
            </a:pPr>
            <a:endParaRPr/>
          </a:p>
        </p:txBody>
      </p:sp>
      <p:sp>
        <p:nvSpPr>
          <p:cNvPr id="174" name="Google Shape;174;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There are several commands which you will use to interact with migrations and Django’s handling of database schema:</a:t>
            </a:r>
            <a:endParaRPr>
              <a:solidFill>
                <a:srgbClr val="000000"/>
              </a:solidFill>
            </a:endParaRPr>
          </a:p>
          <a:p>
            <a:pPr marL="228600" lvl="0" indent="-228600" algn="l" rtl="0">
              <a:lnSpc>
                <a:spcPct val="90000"/>
              </a:lnSpc>
              <a:spcBef>
                <a:spcPts val="1000"/>
              </a:spcBef>
              <a:spcAft>
                <a:spcPts val="0"/>
              </a:spcAft>
              <a:buClr>
                <a:schemeClr val="dk1"/>
              </a:buClr>
              <a:buSzPts val="2800"/>
              <a:buChar char="•"/>
            </a:pPr>
            <a:r>
              <a:rPr lang="en-US" b="1"/>
              <a:t>migrate</a:t>
            </a:r>
            <a:r>
              <a:rPr lang="en-US">
                <a:solidFill>
                  <a:srgbClr val="000000"/>
                </a:solidFill>
              </a:rPr>
              <a:t>, which is responsible for applying and unapplying migrations.</a:t>
            </a:r>
            <a:endParaRPr/>
          </a:p>
          <a:p>
            <a:pPr marL="228600" lvl="0" indent="-228600" algn="l" rtl="0">
              <a:lnSpc>
                <a:spcPct val="90000"/>
              </a:lnSpc>
              <a:spcBef>
                <a:spcPts val="1000"/>
              </a:spcBef>
              <a:spcAft>
                <a:spcPts val="0"/>
              </a:spcAft>
              <a:buClr>
                <a:schemeClr val="dk1"/>
              </a:buClr>
              <a:buSzPts val="2800"/>
              <a:buChar char="•"/>
            </a:pPr>
            <a:r>
              <a:rPr lang="en-US" b="1"/>
              <a:t>makemigrations</a:t>
            </a:r>
            <a:r>
              <a:rPr lang="en-US">
                <a:solidFill>
                  <a:srgbClr val="000000"/>
                </a:solidFill>
              </a:rPr>
              <a:t>, which is responsible for creating new migrations based on the changes you have made to your models.</a:t>
            </a:r>
            <a:endParaRPr/>
          </a:p>
          <a:p>
            <a:pPr marL="228600" lvl="0" indent="-228600" algn="l" rtl="0">
              <a:lnSpc>
                <a:spcPct val="90000"/>
              </a:lnSpc>
              <a:spcBef>
                <a:spcPts val="1000"/>
              </a:spcBef>
              <a:spcAft>
                <a:spcPts val="0"/>
              </a:spcAft>
              <a:buClr>
                <a:schemeClr val="dk1"/>
              </a:buClr>
              <a:buSzPts val="2800"/>
              <a:buChar char="•"/>
            </a:pPr>
            <a:r>
              <a:rPr lang="en-US" b="1"/>
              <a:t>sqlmigrate</a:t>
            </a:r>
            <a:r>
              <a:rPr lang="en-US">
                <a:solidFill>
                  <a:srgbClr val="000000"/>
                </a:solidFill>
              </a:rPr>
              <a:t>, which displays the SQL statements for a migration.</a:t>
            </a:r>
            <a:endParaRPr/>
          </a:p>
          <a:p>
            <a:pPr marL="228600" lvl="0" indent="-228600" algn="l" rtl="0">
              <a:lnSpc>
                <a:spcPct val="90000"/>
              </a:lnSpc>
              <a:spcBef>
                <a:spcPts val="1000"/>
              </a:spcBef>
              <a:spcAft>
                <a:spcPts val="0"/>
              </a:spcAft>
              <a:buClr>
                <a:schemeClr val="dk1"/>
              </a:buClr>
              <a:buSzPts val="2800"/>
              <a:buChar char="•"/>
            </a:pPr>
            <a:r>
              <a:rPr lang="en-US" b="1"/>
              <a:t>showmigrations</a:t>
            </a:r>
            <a:r>
              <a:rPr lang="en-US">
                <a:solidFill>
                  <a:srgbClr val="000000"/>
                </a:solidFill>
              </a:rPr>
              <a:t>, which lists a project’s migrations and their status.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9"/>
          <p:cNvSpPr txBox="1">
            <a:spLocks noGrp="1"/>
          </p:cNvSpPr>
          <p:nvPr>
            <p:ph type="title"/>
          </p:nvPr>
        </p:nvSpPr>
        <p:spPr>
          <a:xfrm>
            <a:off x="838200" y="365125"/>
            <a:ext cx="10515600" cy="59851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endParaRPr/>
          </a:p>
        </p:txBody>
      </p:sp>
      <p:sp>
        <p:nvSpPr>
          <p:cNvPr id="180" name="Google Shape;180;p19"/>
          <p:cNvSpPr txBox="1">
            <a:spLocks noGrp="1"/>
          </p:cNvSpPr>
          <p:nvPr>
            <p:ph type="body" idx="1"/>
          </p:nvPr>
        </p:nvSpPr>
        <p:spPr>
          <a:xfrm>
            <a:off x="838200" y="1140525"/>
            <a:ext cx="10515600" cy="50364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00000"/>
              </a:buClr>
              <a:buSzPct val="100000"/>
              <a:buChar char="•"/>
            </a:pPr>
            <a:r>
              <a:rPr lang="en-US">
                <a:solidFill>
                  <a:srgbClr val="000000"/>
                </a:solidFill>
              </a:rPr>
              <a:t>You should think of migrations as a version control system for your database schema. </a:t>
            </a:r>
            <a:endParaRPr/>
          </a:p>
          <a:p>
            <a:pPr marL="228600" lvl="0" indent="-228600" algn="l" rtl="0">
              <a:lnSpc>
                <a:spcPct val="90000"/>
              </a:lnSpc>
              <a:spcBef>
                <a:spcPts val="1000"/>
              </a:spcBef>
              <a:spcAft>
                <a:spcPts val="0"/>
              </a:spcAft>
              <a:buClr>
                <a:schemeClr val="dk1"/>
              </a:buClr>
              <a:buSzPct val="100000"/>
              <a:buChar char="•"/>
            </a:pPr>
            <a:r>
              <a:rPr lang="en-US"/>
              <a:t>makemigrations</a:t>
            </a:r>
            <a:r>
              <a:rPr lang="en-US">
                <a:solidFill>
                  <a:srgbClr val="000000"/>
                </a:solidFill>
              </a:rPr>
              <a:t> is responsible for packaging up your model changes into individual migration files - analogous to commits - and </a:t>
            </a:r>
            <a:r>
              <a:rPr lang="en-US"/>
              <a:t>migrate</a:t>
            </a:r>
            <a:r>
              <a:rPr lang="en-US">
                <a:solidFill>
                  <a:srgbClr val="000000"/>
                </a:solidFill>
              </a:rPr>
              <a:t> is responsible for applying those to your database.</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Migrations will run the same way on the same dataset and produce consistent results, meaning that what you see in development and staging is, under the same circumstances, exactly what will happen in production.</a:t>
            </a:r>
            <a:endParaRPr/>
          </a:p>
          <a:p>
            <a:pPr marL="228600" lvl="0" indent="-228600" algn="l" rtl="0">
              <a:lnSpc>
                <a:spcPct val="90000"/>
              </a:lnSpc>
              <a:spcBef>
                <a:spcPts val="1000"/>
              </a:spcBef>
              <a:spcAft>
                <a:spcPts val="0"/>
              </a:spcAft>
              <a:buClr>
                <a:srgbClr val="000000"/>
              </a:buClr>
              <a:buSzPct val="100000"/>
              <a:buChar char="•"/>
            </a:pPr>
            <a:r>
              <a:rPr lang="en-US">
                <a:solidFill>
                  <a:srgbClr val="000000"/>
                </a:solidFill>
              </a:rPr>
              <a:t>Django will make migrations for any change to your models or fields - even options that don’t affect the database - as the only way it can reconstruct a field correctly is to have all the changes in the history, and you might need those options in some data migrations later on (for example, if you’ve set custom validators).</a:t>
            </a:r>
            <a:endParaRPr/>
          </a:p>
          <a:p>
            <a:pPr marL="228600" lvl="0" indent="-64135" algn="l" rtl="0">
              <a:lnSpc>
                <a:spcPct val="90000"/>
              </a:lnSpc>
              <a:spcBef>
                <a:spcPts val="1000"/>
              </a:spcBef>
              <a:spcAft>
                <a:spcPts val="0"/>
              </a:spcAft>
              <a:buClr>
                <a:schemeClr val="dk1"/>
              </a:buClr>
              <a:buSzPct val="100000"/>
              <a:buNone/>
            </a:pPr>
            <a:endParaRPr>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solidFill>
                  <a:srgbClr val="000000"/>
                </a:solidFill>
              </a:rPr>
              <a:t>Backend Support</a:t>
            </a:r>
            <a:endParaRPr/>
          </a:p>
          <a:p>
            <a:pPr marL="0" lvl="0" indent="0" algn="l" rtl="0">
              <a:lnSpc>
                <a:spcPct val="90000"/>
              </a:lnSpc>
              <a:spcBef>
                <a:spcPts val="0"/>
              </a:spcBef>
              <a:spcAft>
                <a:spcPts val="0"/>
              </a:spcAft>
              <a:buClr>
                <a:schemeClr val="dk1"/>
              </a:buClr>
              <a:buSzPts val="4400"/>
              <a:buFont typeface="Play"/>
              <a:buNone/>
            </a:pPr>
            <a:endParaRPr/>
          </a:p>
        </p:txBody>
      </p:sp>
      <p:sp>
        <p:nvSpPr>
          <p:cNvPr id="186" name="Google Shape;186;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a:solidFill>
                  <a:srgbClr val="000000"/>
                </a:solidFill>
              </a:rPr>
              <a:t>Migrations are supported on all backends that Django ships with, as well as any third-party backends if they have programmed in support for schema alteration (done via the </a:t>
            </a:r>
            <a:r>
              <a:rPr lang="en-US"/>
              <a:t>SchemaEditor</a:t>
            </a:r>
            <a:r>
              <a:rPr lang="en-US">
                <a:solidFill>
                  <a:srgbClr val="000000"/>
                </a:solidFill>
              </a:rPr>
              <a:t> class).</a:t>
            </a:r>
            <a:endParaRPr>
              <a:solidFill>
                <a:srgbClr val="000000"/>
              </a:solidFill>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However, some databases are more capable than others when it comes to schema migrations; some of the caveats are covered below.</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PostgreSQL</a:t>
            </a:r>
            <a:r>
              <a:rPr lang="en-US"/>
              <a:t>¶</a:t>
            </a:r>
            <a:endParaRPr/>
          </a:p>
          <a:p>
            <a:pPr marL="228600" lvl="0" indent="-228600" algn="l" rtl="0">
              <a:lnSpc>
                <a:spcPct val="90000"/>
              </a:lnSpc>
              <a:spcBef>
                <a:spcPts val="1000"/>
              </a:spcBef>
              <a:spcAft>
                <a:spcPts val="0"/>
              </a:spcAft>
              <a:buClr>
                <a:srgbClr val="000000"/>
              </a:buClr>
              <a:buSzPts val="2800"/>
              <a:buChar char="•"/>
            </a:pPr>
            <a:r>
              <a:rPr lang="en-US">
                <a:solidFill>
                  <a:srgbClr val="000000"/>
                </a:solidFill>
              </a:rPr>
              <a:t>PostgreSQL is the most capable of all the databases here in terms of schema support.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Database Engines</a:t>
            </a:r>
            <a:endParaRPr/>
          </a:p>
        </p:txBody>
      </p:sp>
      <p:sp>
        <p:nvSpPr>
          <p:cNvPr id="192" name="Google Shape;192;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latin typeface="Arial"/>
                <a:ea typeface="Arial"/>
                <a:cs typeface="Arial"/>
                <a:sym typeface="Arial"/>
              </a:rPr>
              <a:t>Django comes with a SQLite database which is great for testing and debugging at the beginning of a project.</a:t>
            </a:r>
            <a:endParaRPr/>
          </a:p>
          <a:p>
            <a:pPr marL="228600" lvl="0" indent="-228600" algn="l" rtl="0">
              <a:lnSpc>
                <a:spcPct val="90000"/>
              </a:lnSpc>
              <a:spcBef>
                <a:spcPts val="1000"/>
              </a:spcBef>
              <a:spcAft>
                <a:spcPts val="0"/>
              </a:spcAft>
              <a:buClr>
                <a:schemeClr val="dk1"/>
              </a:buClr>
              <a:buSzPts val="2800"/>
              <a:buChar char="•"/>
            </a:pPr>
            <a:r>
              <a:rPr lang="en-US">
                <a:latin typeface="Arial"/>
                <a:ea typeface="Arial"/>
                <a:cs typeface="Arial"/>
                <a:sym typeface="Arial"/>
              </a:rPr>
              <a:t>However, it is not very suitable for production.</a:t>
            </a:r>
            <a:endParaRPr/>
          </a:p>
          <a:p>
            <a:pPr marL="228600" lvl="0" indent="-228600" algn="l" rtl="0">
              <a:lnSpc>
                <a:spcPct val="90000"/>
              </a:lnSpc>
              <a:spcBef>
                <a:spcPts val="1000"/>
              </a:spcBef>
              <a:spcAft>
                <a:spcPts val="0"/>
              </a:spcAft>
              <a:buClr>
                <a:schemeClr val="dk1"/>
              </a:buClr>
              <a:buSzPts val="2800"/>
              <a:buChar char="•"/>
            </a:pPr>
            <a:r>
              <a:rPr lang="en-US">
                <a:latin typeface="Arial"/>
                <a:ea typeface="Arial"/>
                <a:cs typeface="Arial"/>
                <a:sym typeface="Arial"/>
              </a:rPr>
              <a:t>Django also support these database engines:</a:t>
            </a:r>
            <a:endParaRPr/>
          </a:p>
          <a:p>
            <a:pPr marL="228600" lvl="0" indent="-228600" algn="l" rtl="0">
              <a:lnSpc>
                <a:spcPct val="90000"/>
              </a:lnSpc>
              <a:spcBef>
                <a:spcPts val="1000"/>
              </a:spcBef>
              <a:spcAft>
                <a:spcPts val="0"/>
              </a:spcAft>
              <a:buClr>
                <a:schemeClr val="dk1"/>
              </a:buClr>
              <a:buSzPts val="2800"/>
              <a:buChar char="•"/>
            </a:pPr>
            <a:r>
              <a:rPr lang="en-US">
                <a:latin typeface="Arial"/>
                <a:ea typeface="Arial"/>
                <a:cs typeface="Arial"/>
                <a:sym typeface="Arial"/>
              </a:rPr>
              <a:t>PostgreSQL</a:t>
            </a:r>
            <a:endParaRPr/>
          </a:p>
          <a:p>
            <a:pPr marL="228600" lvl="0" indent="-228600" algn="l" rtl="0">
              <a:lnSpc>
                <a:spcPct val="90000"/>
              </a:lnSpc>
              <a:spcBef>
                <a:spcPts val="1000"/>
              </a:spcBef>
              <a:spcAft>
                <a:spcPts val="0"/>
              </a:spcAft>
              <a:buClr>
                <a:schemeClr val="dk1"/>
              </a:buClr>
              <a:buSzPts val="2800"/>
              <a:buChar char="•"/>
            </a:pPr>
            <a:r>
              <a:rPr lang="en-US">
                <a:latin typeface="Arial"/>
                <a:ea typeface="Arial"/>
                <a:cs typeface="Arial"/>
                <a:sym typeface="Arial"/>
              </a:rPr>
              <a:t>MariaDB</a:t>
            </a:r>
            <a:endParaRPr/>
          </a:p>
          <a:p>
            <a:pPr marL="228600" lvl="0" indent="-228600" algn="l" rtl="0">
              <a:lnSpc>
                <a:spcPct val="90000"/>
              </a:lnSpc>
              <a:spcBef>
                <a:spcPts val="1000"/>
              </a:spcBef>
              <a:spcAft>
                <a:spcPts val="0"/>
              </a:spcAft>
              <a:buClr>
                <a:schemeClr val="dk1"/>
              </a:buClr>
              <a:buSzPts val="2800"/>
              <a:buChar char="•"/>
            </a:pPr>
            <a:r>
              <a:rPr lang="en-US">
                <a:latin typeface="Arial"/>
                <a:ea typeface="Arial"/>
                <a:cs typeface="Arial"/>
                <a:sym typeface="Arial"/>
              </a:rPr>
              <a:t>MySQL</a:t>
            </a:r>
            <a:endParaRPr/>
          </a:p>
          <a:p>
            <a:pPr marL="228600" lvl="0" indent="-228600" algn="l" rtl="0">
              <a:lnSpc>
                <a:spcPct val="90000"/>
              </a:lnSpc>
              <a:spcBef>
                <a:spcPts val="1000"/>
              </a:spcBef>
              <a:spcAft>
                <a:spcPts val="0"/>
              </a:spcAft>
              <a:buClr>
                <a:schemeClr val="dk1"/>
              </a:buClr>
              <a:buSzPts val="2800"/>
              <a:buChar char="•"/>
            </a:pPr>
            <a:r>
              <a:rPr lang="en-US">
                <a:latin typeface="Arial"/>
                <a:ea typeface="Arial"/>
                <a:cs typeface="Arial"/>
                <a:sym typeface="Arial"/>
              </a:rPr>
              <a:t>Oracle</a:t>
            </a:r>
            <a:endParaRPr/>
          </a:p>
          <a:p>
            <a:pPr marL="228600" lvl="0" indent="-228600" algn="l" rtl="0">
              <a:lnSpc>
                <a:spcPct val="90000"/>
              </a:lnSpc>
              <a:spcBef>
                <a:spcPts val="1000"/>
              </a:spcBef>
              <a:spcAft>
                <a:spcPts val="0"/>
              </a:spcAft>
              <a:buClr>
                <a:schemeClr val="dk1"/>
              </a:buClr>
              <a:buSzPts val="2800"/>
              <a:buChar char="•"/>
            </a:pPr>
            <a:r>
              <a:rPr lang="en-US">
                <a:latin typeface="Arial"/>
                <a:ea typeface="Arial"/>
                <a:cs typeface="Arial"/>
                <a:sym typeface="Arial"/>
              </a:rPr>
              <a:t>We will take a closer look at the PostgreSQL database engine.</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684</Words>
  <Application>Microsoft Office PowerPoint</Application>
  <PresentationFormat>Widescreen</PresentationFormat>
  <Paragraphs>98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Times New Roman</vt:lpstr>
      <vt:lpstr>Arial</vt:lpstr>
      <vt:lpstr>Play</vt:lpstr>
      <vt:lpstr>office theme</vt:lpstr>
      <vt:lpstr>Django</vt:lpstr>
      <vt:lpstr>PowerPoint Presentation</vt:lpstr>
      <vt:lpstr>To understand it more clear lets understand the difference between library and framework</vt:lpstr>
      <vt:lpstr>Introduction</vt:lpstr>
      <vt:lpstr>Top Features of Django</vt:lpstr>
      <vt:lpstr>PowerPoint Presentation</vt:lpstr>
      <vt:lpstr>MVT</vt:lpstr>
      <vt:lpstr>PowerPoint Presentation</vt:lpstr>
      <vt:lpstr>PowerPoint Presentation</vt:lpstr>
      <vt:lpstr>PowerPoint Presentation</vt:lpstr>
      <vt:lpstr>PowerPoint Presentation</vt:lpstr>
      <vt:lpstr>What is django ORM? </vt:lpstr>
      <vt:lpstr>PowerPoint Presentation</vt:lpstr>
      <vt:lpstr>PowerPoint Presentation</vt:lpstr>
      <vt:lpstr>Migrations</vt:lpstr>
      <vt:lpstr>The Commands </vt:lpstr>
      <vt:lpstr>PowerPoint Presentation</vt:lpstr>
      <vt:lpstr>Backend Support </vt:lpstr>
      <vt:lpstr>Database Engines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dc:title>
  <dc:creator>Komal S</dc:creator>
  <cp:lastModifiedBy>Komal S</cp:lastModifiedBy>
  <cp:revision>1</cp:revision>
  <dcterms:created xsi:type="dcterms:W3CDTF">2024-03-26T03:58:31Z</dcterms:created>
  <dcterms:modified xsi:type="dcterms:W3CDTF">2024-05-03T09:20:04Z</dcterms:modified>
</cp:coreProperties>
</file>