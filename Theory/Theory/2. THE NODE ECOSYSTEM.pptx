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Lexend Medium" panose="020B0604020202020204" charset="0"/>
      <p:regular r:id="rId15"/>
      <p:bold r:id="rId16"/>
    </p:embeddedFont>
    <p:embeddedFont>
      <p:font typeface="Lexend" panose="020B0604020202020204" charset="0"/>
      <p:regular r:id="rId17"/>
      <p:bold r:id="rId18"/>
    </p:embeddedFont>
    <p:embeddedFont>
      <p:font typeface="Georgia" panose="02040502050405020303" pitchFamily="18" charset="0"/>
      <p:regular r:id="rId19"/>
      <p:bold r:id="rId20"/>
      <p:italic r:id="rId21"/>
      <p:boldItalic r:id="rId22"/>
    </p:embeddedFont>
    <p:embeddedFont>
      <p:font typeface="Lexend SemiBold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71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92762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612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6c2fc00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6c2fc00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712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6c2fc002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6c2fc002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4955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6c2fc002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66c2fc002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6617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6c2fc002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6c2fc002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9045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66c2fc002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66c2fc0024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4173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6c47a9c6a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6c47a9c6a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302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66c47a9c6a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66c47a9c6a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0854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6c47a9c6a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66c47a9c6a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4911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6c47a9c6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6c47a9c6a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74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66c47a9c6a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66c47a9c6a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4450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b3d0b7e59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b3d0b7e59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2743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THE NODE ECOSYSTEM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331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750">
                <a:solidFill>
                  <a:srgbClr val="242424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The Node.js ecosystem consists of various</a:t>
            </a:r>
            <a:r>
              <a:rPr lang="en" sz="1750" b="1">
                <a:solidFill>
                  <a:srgbClr val="242424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 libraries, modules, and tools</a:t>
            </a:r>
            <a:r>
              <a:rPr lang="en" sz="1750">
                <a:solidFill>
                  <a:srgbClr val="242424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 that enhance development productivity and enable developers to build powerful applications. </a:t>
            </a:r>
            <a:endParaRPr sz="1750">
              <a:solidFill>
                <a:srgbClr val="242424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75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628450"/>
            <a:ext cx="8520600" cy="32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32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NPM</a:t>
            </a:r>
            <a:endParaRPr sz="1932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NPM is the default package manager for Node.js.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It allows developers to discover, install, and manage third-party libraries and tools needed for their applications.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It makes reusing code very easy.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It is maintained on</a:t>
            </a:r>
            <a:r>
              <a:rPr lang="en" sz="1500">
                <a:solidFill>
                  <a:srgbClr val="1155CC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 http://npmjs.org</a:t>
            </a:r>
            <a:endParaRPr sz="1500">
              <a:solidFill>
                <a:srgbClr val="1155CC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1200"/>
              </a:spcAft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It is the fastest growing package manager:  </a:t>
            </a:r>
            <a:r>
              <a:rPr lang="en" sz="1500">
                <a:solidFill>
                  <a:srgbClr val="1155CC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http://www.modulecounts.com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Medium"/>
                <a:ea typeface="Lexend Medium"/>
                <a:cs typeface="Lexend Medium"/>
                <a:sym typeface="Lexend Medium"/>
              </a:rPr>
              <a:t>Node Core modules</a:t>
            </a:r>
            <a:endParaRPr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Node.js comes with a set of built-in core modules that provide essential functionalities without the need for additional installations. Some of the core modules include: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-</a:t>
            </a:r>
            <a:r>
              <a:rPr lang="en" sz="1500">
                <a:solidFill>
                  <a:srgbClr val="0B539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`fs`</a:t>
            </a: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: File system operations for reading, writing, and manipulating files.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- </a:t>
            </a:r>
            <a:r>
              <a:rPr lang="en" sz="1500">
                <a:solidFill>
                  <a:srgbClr val="0B539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`http`</a:t>
            </a: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: Provides HTTP server and client capabilities for building web applications.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-</a:t>
            </a:r>
            <a:r>
              <a:rPr lang="en" sz="1500">
                <a:solidFill>
                  <a:srgbClr val="0B539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 `https`</a:t>
            </a: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: Similar to `http`, but for secure HTTPS communication.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- </a:t>
            </a:r>
            <a:r>
              <a:rPr lang="en" sz="1500">
                <a:solidFill>
                  <a:srgbClr val="0B539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`path`</a:t>
            </a: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: Utilities for working with file paths and directory structures.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- </a:t>
            </a:r>
            <a:r>
              <a:rPr lang="en" sz="1500">
                <a:solidFill>
                  <a:srgbClr val="0B539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`util`</a:t>
            </a: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: Utility functions that enhance development productivity.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Express.js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Char char="➔"/>
            </a:pPr>
            <a:r>
              <a:rPr lang="en"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Express is a minimal and flexible Node.js web application framework that provides a robust set of features for web and mobile applications.</a:t>
            </a:r>
            <a:endParaRPr sz="14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Char char="➔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Provides essential features and middleware for routing, handling HTTP requests, managing cookies, and more. </a:t>
            </a:r>
            <a:endParaRPr sz="14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Char char="➔"/>
            </a:pPr>
            <a:r>
              <a:rPr lang="en"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Express provides a thin layer of fundamental web application features, without obscuring Node.js features.</a:t>
            </a:r>
            <a:endParaRPr sz="14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Async Programming</a:t>
            </a:r>
            <a:endParaRPr sz="3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Node.js leverages asynchronous, non-blocking I/O operations, making it highly efficient for handling concurrent connections. 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In async programming task initiates an operation and then continues its execution without waiting for the operation to complete.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 The program doesn’t block, and other tasks can continue their execution simultaneously. When the asynchronous operation finishes, a callback function or a promise is used to handle the result or trigger further actions.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Node.js uses event loop for this!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314100"/>
            <a:ext cx="8520600" cy="42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Babel  </a:t>
            </a:r>
            <a:endParaRPr sz="10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Babel is a powerful transpiler that allows developers to write modern JavaScript code using the latest ECMAScript features.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transforms modern JavaScript code into backward-compatible versions, ensuring compatibility with older Node.js versions and browsers.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ECMAScript</a:t>
            </a:r>
            <a:endParaRPr sz="20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Specifications, standards or rules for a scripting language.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JavaScript is implementation of these standards; ECMA Script.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Ensures browser compatibility and a uniformity.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120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ECMA- European Computer Manufacturer Association.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311700" y="314100"/>
            <a:ext cx="8520600" cy="42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Nodemon</a:t>
            </a:r>
            <a:endParaRPr sz="22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Nodemon  monitors changes to your Node.js application’s files.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Automatically restarts the server when changes are detected. 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Eliminates the need to restart the server after every edit.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Debugging</a:t>
            </a:r>
            <a:endParaRPr sz="22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9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Debugging tools like Visual Studio Code, Node Inspector, or Chrome DevTools to simplify the debugging process.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Georgia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Node.js provides built-in debugging capabilities using the ` — inspect` flag.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311700" y="448650"/>
            <a:ext cx="8520600" cy="41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Event loop</a:t>
            </a:r>
            <a:endParaRPr sz="23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It initialise when application starts, listens and executes all the events and callbacks of the events.</a:t>
            </a:r>
            <a:endParaRPr sz="15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Medium"/>
              <a:buChar char="➔"/>
            </a:pPr>
            <a:r>
              <a:rPr lang="en" sz="15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It works on a single threaded concept but can perform many I/O operations concurrently with the help of OS.</a:t>
            </a:r>
            <a:r>
              <a:rPr lang="en" sz="16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endParaRPr sz="16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Event Emitters &amp; Listener</a:t>
            </a:r>
            <a:endParaRPr sz="22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Objects capable of emitting events - event emitters.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Examples: HTTP servers, file system operations, and database connections.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42424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When an event occurs, the corresponding listener’s callback function is executed asynchronously.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>
            <a:spLocks noGrp="1"/>
          </p:cNvSpPr>
          <p:nvPr>
            <p:ph type="body" idx="1"/>
          </p:nvPr>
        </p:nvSpPr>
        <p:spPr>
          <a:xfrm>
            <a:off x="311700" y="334800"/>
            <a:ext cx="8520600" cy="42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Callback &amp; Non-Blocking I/O</a:t>
            </a:r>
            <a:endParaRPr sz="23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Medium"/>
              <a:buChar char="➔"/>
            </a:pPr>
            <a:r>
              <a:rPr lang="en" sz="15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Non-Blocking model is enabled because of concurrency in handling made possible using callbacks and event loop.</a:t>
            </a:r>
            <a:endParaRPr sz="15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Callbacks are scheduled once the function has completed execution so the other functions can be completed without blocking.</a:t>
            </a:r>
            <a:endParaRPr sz="15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Modules</a:t>
            </a:r>
            <a:endParaRPr sz="22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Code is encapsulated in modules to make it reusable.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Node.js has many popular inbuilt modules.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We can build our custom modules also.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creating a custom module</a:t>
            </a:r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body" idx="1"/>
          </p:nvPr>
        </p:nvSpPr>
        <p:spPr>
          <a:xfrm>
            <a:off x="311700" y="2001025"/>
            <a:ext cx="4306200" cy="1998600"/>
          </a:xfrm>
          <a:prstGeom prst="rect">
            <a:avLst/>
          </a:prstGeom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const { PI } = Math;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C27BA0"/>
                </a:highlight>
              </a:rPr>
              <a:t>exports</a:t>
            </a:r>
            <a:r>
              <a:rPr lang="en">
                <a:solidFill>
                  <a:schemeClr val="dk1"/>
                </a:solidFill>
              </a:rPr>
              <a:t>.area = (r) =&gt; PI * r ** 2;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C27BA0"/>
                </a:highlight>
              </a:rPr>
              <a:t>exports</a:t>
            </a:r>
            <a:r>
              <a:rPr lang="en">
                <a:solidFill>
                  <a:schemeClr val="dk1"/>
                </a:solidFill>
              </a:rPr>
              <a:t>.circumference = (r) =&gt; 2 * PI * r;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22"/>
          <p:cNvSpPr txBox="1"/>
          <p:nvPr/>
        </p:nvSpPr>
        <p:spPr>
          <a:xfrm>
            <a:off x="311700" y="1452175"/>
            <a:ext cx="24216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circle.js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22"/>
          <p:cNvSpPr txBox="1"/>
          <p:nvPr/>
        </p:nvSpPr>
        <p:spPr>
          <a:xfrm>
            <a:off x="4775050" y="2001025"/>
            <a:ext cx="3913200" cy="1998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2F2F2"/>
                </a:highlight>
              </a:rPr>
              <a:t>const circle = </a:t>
            </a:r>
            <a:r>
              <a:rPr lang="en" sz="1800">
                <a:solidFill>
                  <a:schemeClr val="dk1"/>
                </a:solidFill>
                <a:highlight>
                  <a:srgbClr val="C27BA0"/>
                </a:highlight>
              </a:rPr>
              <a:t>require('./circle.js');</a:t>
            </a:r>
            <a:endParaRPr sz="1800">
              <a:solidFill>
                <a:schemeClr val="dk1"/>
              </a:solidFill>
              <a:highlight>
                <a:srgbClr val="C27BA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2F2F2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2F2F2"/>
                </a:highlight>
              </a:rPr>
              <a:t>console.log(`The area of a circle of radius 4 is ${circle.area(4)}`);</a:t>
            </a:r>
            <a:endParaRPr sz="1800">
              <a:solidFill>
                <a:schemeClr val="dk1"/>
              </a:solidFill>
              <a:highlight>
                <a:srgbClr val="F2F2F2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>
            <a:spLocks noGrp="1"/>
          </p:cNvSpPr>
          <p:nvPr>
            <p:ph type="body" idx="1"/>
          </p:nvPr>
        </p:nvSpPr>
        <p:spPr>
          <a:xfrm>
            <a:off x="311700" y="641550"/>
            <a:ext cx="8520600" cy="39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V8 Engine</a:t>
            </a:r>
            <a:endParaRPr sz="23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Developed by Google and also used in the Chrome browser.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Highly performant due to compilation to machine code.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242424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Libuv</a:t>
            </a:r>
            <a:endParaRPr sz="22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A cross-platform, open-source library written using C language.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It is responsible for the asynchronous nature of Node.js.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Medium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Primarily developed for node.js but is now used by Luvit, Julia, uvloop etc.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>
            <a:spLocks noGrp="1"/>
          </p:cNvSpPr>
          <p:nvPr>
            <p:ph type="body" idx="1"/>
          </p:nvPr>
        </p:nvSpPr>
        <p:spPr>
          <a:xfrm>
            <a:off x="311700" y="401025"/>
            <a:ext cx="8520600" cy="41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Buffer &amp; Stream</a:t>
            </a:r>
            <a:endParaRPr sz="23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Node.js provides the Buffer and Streams API.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allows efficient handling of binary data and large amounts of data.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Streams- process data in small chunks, reducing memory overhead and improving performance.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Clusters</a:t>
            </a:r>
            <a:endParaRPr sz="22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Cluster module -allows applications to take advantage of multi-core processors. 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By creating child processes each running on a separate core which distributes the workload across multiple cores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2424"/>
              </a:buClr>
              <a:buSzPts val="1500"/>
              <a:buFont typeface="Lexend SemiBold"/>
              <a:buChar char="➔"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improves application performance and scalability.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Microsoft Office PowerPoint</Application>
  <PresentationFormat>On-screen Show (16:9)</PresentationFormat>
  <Paragraphs>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Lexend Medium</vt:lpstr>
      <vt:lpstr>Lexend</vt:lpstr>
      <vt:lpstr>Arial</vt:lpstr>
      <vt:lpstr>Georgia</vt:lpstr>
      <vt:lpstr>Lexend SemiBold</vt:lpstr>
      <vt:lpstr>Simple Light</vt:lpstr>
      <vt:lpstr>THE NODE ECOSYSTEM</vt:lpstr>
      <vt:lpstr>The Node.js ecosystem consists of various libraries, modules, and tools that enhance development productivity and enable developers to build powerful applications.  </vt:lpstr>
      <vt:lpstr>Node Core modules</vt:lpstr>
      <vt:lpstr>Express.js</vt:lpstr>
      <vt:lpstr>Async Programming</vt:lpstr>
      <vt:lpstr>PowerPoint Presentation</vt:lpstr>
      <vt:lpstr>PowerPoint Presentation</vt:lpstr>
      <vt:lpstr>PowerPoint Presentation</vt:lpstr>
      <vt:lpstr>PowerPoint Presentation</vt:lpstr>
      <vt:lpstr>Example: creating a custom module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NODE ECOSYSTEM</dc:title>
  <cp:lastModifiedBy>Komal S</cp:lastModifiedBy>
  <cp:revision>1</cp:revision>
  <dcterms:modified xsi:type="dcterms:W3CDTF">2024-01-29T04:50:09Z</dcterms:modified>
</cp:coreProperties>
</file>