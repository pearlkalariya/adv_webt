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Georgia" panose="02040502050405020303" pitchFamily="18" charset="0"/>
      <p:regular r:id="rId19"/>
      <p:bold r:id="rId20"/>
      <p:italic r:id="rId21"/>
      <p:boldItalic r:id="rId22"/>
    </p:embeddedFont>
    <p:embeddedFont>
      <p:font typeface="Play"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7rUZyueYfh5213QHN0pzNWc8B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42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334580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1833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1459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890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418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9116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7010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512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720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6241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566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c9df8e001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c9df8e001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1935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164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c9df8e0017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c9df8e001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2836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c9df8e001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c9df8e001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9513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c9df8e0017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c9df8e0017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35719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c9df8e001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c9df8e001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7619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5183188" y="987425"/>
            <a:ext cx="6172200" cy="4873625"/>
          </a:xfrm>
          <a:prstGeom prst="rect">
            <a:avLst/>
          </a:prstGeom>
          <a:noFill/>
          <a:ln>
            <a:noFill/>
          </a:ln>
        </p:spPr>
      </p:sp>
      <p:sp>
        <p:nvSpPr>
          <p:cNvPr id="64" name="Google Shape;6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Relational_database#RDBM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en.wikipedia.org/wiki/SQL" TargetMode="External"/><Relationship Id="rId4" Type="http://schemas.openxmlformats.org/officeDocument/2006/relationships/hyperlink" Target="https://en.wikipedia.org/wiki/Relational_algebra"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400"/>
              <a:buFont typeface="Play"/>
              <a:buNone/>
            </a:pPr>
            <a:r>
              <a:rPr lang="en-US" sz="4400"/>
              <a:t>PostgreSQL </a:t>
            </a:r>
            <a:endParaRPr/>
          </a:p>
          <a:p>
            <a:pPr marL="0" lvl="0" indent="0" algn="ctr" rtl="0">
              <a:lnSpc>
                <a:spcPct val="90000"/>
              </a:lnSpc>
              <a:spcBef>
                <a:spcPts val="0"/>
              </a:spcBef>
              <a:spcAft>
                <a:spcPts val="0"/>
              </a:spcAft>
              <a:buClr>
                <a:schemeClr val="dk1"/>
              </a:buClr>
              <a:buSzPts val="6000"/>
              <a:buFont typeface="Play"/>
              <a:buNone/>
            </a:pP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smtClean="0"/>
              <a:t>By </a:t>
            </a:r>
            <a:r>
              <a:rPr lang="en-US" smtClean="0"/>
              <a:t>Komal Singh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b="1"/>
              <a:t>Why do we need PostgreSQL?</a:t>
            </a:r>
            <a:endParaRPr/>
          </a:p>
          <a:p>
            <a:pPr marL="0" lvl="0" indent="0" algn="l" rtl="0">
              <a:lnSpc>
                <a:spcPct val="90000"/>
              </a:lnSpc>
              <a:spcBef>
                <a:spcPts val="0"/>
              </a:spcBef>
              <a:spcAft>
                <a:spcPts val="0"/>
              </a:spcAft>
              <a:buClr>
                <a:schemeClr val="dk1"/>
              </a:buClr>
              <a:buSzPts val="4400"/>
              <a:buFont typeface="Play"/>
              <a:buNone/>
            </a:pPr>
            <a:endParaRPr/>
          </a:p>
        </p:txBody>
      </p:sp>
      <p:sp>
        <p:nvSpPr>
          <p:cNvPr id="91" name="Google Shape;91;p2"/>
          <p:cNvSpPr txBox="1">
            <a:spLocks noGrp="1"/>
          </p:cNvSpPr>
          <p:nvPr>
            <p:ph type="body" idx="1"/>
          </p:nvPr>
        </p:nvSpPr>
        <p:spPr>
          <a:xfrm>
            <a:off x="838200" y="1336325"/>
            <a:ext cx="10515600" cy="5521800"/>
          </a:xfrm>
          <a:prstGeom prst="rect">
            <a:avLst/>
          </a:prstGeom>
          <a:noFill/>
          <a:ln>
            <a:noFill/>
          </a:ln>
        </p:spPr>
        <p:txBody>
          <a:bodyPr spcFirstLastPara="1" wrap="square" lIns="91425" tIns="45700" rIns="91425" bIns="45700" anchor="t" anchorCtr="0">
            <a:normAutofit lnSpcReduction="10000"/>
          </a:bodyPr>
          <a:lstStyle/>
          <a:p>
            <a:pPr marL="228600" lvl="0" indent="-247650" algn="l" rtl="0">
              <a:lnSpc>
                <a:spcPct val="100000"/>
              </a:lnSpc>
              <a:spcBef>
                <a:spcPts val="0"/>
              </a:spcBef>
              <a:spcAft>
                <a:spcPts val="0"/>
              </a:spcAft>
              <a:buClr>
                <a:schemeClr val="dk1"/>
              </a:buClr>
              <a:buSzPts val="3100"/>
              <a:buChar char="•"/>
            </a:pPr>
            <a:r>
              <a:rPr lang="en-US" sz="3100"/>
              <a:t>PostgreSQL is a </a:t>
            </a:r>
            <a:r>
              <a:rPr lang="en-US" sz="3100" b="1"/>
              <a:t>open-source relational database</a:t>
            </a:r>
            <a:r>
              <a:rPr lang="en-US" sz="3100"/>
              <a:t> based on an </a:t>
            </a:r>
            <a:r>
              <a:rPr lang="en-US" sz="3100" b="1"/>
              <a:t>object-oriented approach </a:t>
            </a:r>
            <a:r>
              <a:rPr lang="en-US" sz="3100"/>
              <a:t>that works on the rules stated by ANSI. It is the </a:t>
            </a:r>
            <a:r>
              <a:rPr lang="en-US" sz="3100" b="1"/>
              <a:t>only</a:t>
            </a:r>
            <a:r>
              <a:rPr lang="en-US" sz="3100"/>
              <a:t> database that implements the basic functionality of</a:t>
            </a:r>
            <a:r>
              <a:rPr lang="en-US" sz="3100" b="1"/>
              <a:t> object-oriented.</a:t>
            </a:r>
            <a:endParaRPr sz="3100" b="1"/>
          </a:p>
          <a:p>
            <a:pPr marL="228600" lvl="0" indent="-247650" algn="l" rtl="0">
              <a:lnSpc>
                <a:spcPct val="100000"/>
              </a:lnSpc>
              <a:spcBef>
                <a:spcPts val="1000"/>
              </a:spcBef>
              <a:spcAft>
                <a:spcPts val="0"/>
              </a:spcAft>
              <a:buClr>
                <a:schemeClr val="dk1"/>
              </a:buClr>
              <a:buSzPts val="3100"/>
              <a:buChar char="•"/>
            </a:pPr>
            <a:r>
              <a:rPr lang="en-US" sz="3100"/>
              <a:t>In PostgreSQL, advanced concepts like </a:t>
            </a:r>
            <a:r>
              <a:rPr lang="en-US" sz="3100" b="1"/>
              <a:t>table inheritance </a:t>
            </a:r>
            <a:r>
              <a:rPr lang="en-US" sz="3100"/>
              <a:t>and </a:t>
            </a:r>
            <a:r>
              <a:rPr lang="en-US" sz="3100" b="1"/>
              <a:t>function overloading</a:t>
            </a:r>
            <a:r>
              <a:rPr lang="en-US" sz="3100"/>
              <a:t> are available. </a:t>
            </a:r>
            <a:endParaRPr sz="3100"/>
          </a:p>
          <a:p>
            <a:pPr marL="228600" lvl="0" indent="-247650" algn="l" rtl="0">
              <a:lnSpc>
                <a:spcPct val="100000"/>
              </a:lnSpc>
              <a:spcBef>
                <a:spcPts val="1000"/>
              </a:spcBef>
              <a:spcAft>
                <a:spcPts val="0"/>
              </a:spcAft>
              <a:buClr>
                <a:schemeClr val="dk1"/>
              </a:buClr>
              <a:buSzPts val="3100"/>
              <a:buChar char="•"/>
            </a:pPr>
            <a:r>
              <a:rPr lang="en-US" sz="3100"/>
              <a:t>PostgreSQL has rich active community support and is well-maintained by the leading tech giants.</a:t>
            </a:r>
            <a:endParaRPr sz="3100"/>
          </a:p>
          <a:p>
            <a:pPr marL="228600" lvl="0" indent="-247650" algn="l" rtl="0">
              <a:lnSpc>
                <a:spcPct val="100000"/>
              </a:lnSpc>
              <a:spcBef>
                <a:spcPts val="1000"/>
              </a:spcBef>
              <a:spcAft>
                <a:spcPts val="0"/>
              </a:spcAft>
              <a:buClr>
                <a:schemeClr val="dk1"/>
              </a:buClr>
              <a:buSzPts val="3100"/>
              <a:buChar char="•"/>
            </a:pPr>
            <a:r>
              <a:rPr lang="en-US" sz="3100"/>
              <a:t>The best part is that Postgresql completely implements the concept of </a:t>
            </a:r>
            <a:r>
              <a:rPr lang="en-US" sz="3100" b="1"/>
              <a:t>data concurrency.</a:t>
            </a:r>
            <a:endParaRPr sz="3100" b="1"/>
          </a:p>
          <a:p>
            <a:pPr marL="228600" lvl="0" indent="-311150" algn="l" rtl="0">
              <a:lnSpc>
                <a:spcPct val="150000"/>
              </a:lnSpc>
              <a:spcBef>
                <a:spcPts val="1000"/>
              </a:spcBef>
              <a:spcAft>
                <a:spcPts val="0"/>
              </a:spcAft>
              <a:buSzPts val="3100"/>
              <a:buChar char="•"/>
            </a:pPr>
            <a:r>
              <a:rPr lang="en-US" sz="3100"/>
              <a:t>Install a package called </a:t>
            </a:r>
            <a:r>
              <a:rPr lang="en-US" sz="3100" b="1"/>
              <a:t>psycopg2.</a:t>
            </a:r>
            <a:endParaRPr sz="31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97" name="Google Shape;97;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There are many </a:t>
            </a:r>
            <a:r>
              <a:rPr lang="en-US"/>
              <a:t>relational database management systems (RDBMSs)</a:t>
            </a:r>
            <a:r>
              <a:rPr lang="en-US">
                <a:solidFill>
                  <a:srgbClr val="000000"/>
                </a:solidFill>
              </a:rPr>
              <a:t> to choose from if the </a:t>
            </a:r>
            <a:r>
              <a:rPr lang="en-US"/>
              <a:t>relational model </a:t>
            </a:r>
            <a:r>
              <a:rPr lang="en-US">
                <a:solidFill>
                  <a:srgbClr val="000000"/>
                </a:solidFill>
              </a:rPr>
              <a:t>best represents your data. </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PostgreSQL is one of the most popular and well-regarded open-source relational databases in the world.</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One of the primary reasons for choosing to use PostgreSQL is its large </a:t>
            </a:r>
            <a:r>
              <a:rPr lang="en-US" b="1">
                <a:solidFill>
                  <a:srgbClr val="000000"/>
                </a:solidFill>
              </a:rPr>
              <a:t>list of features.</a:t>
            </a:r>
            <a:r>
              <a:rPr lang="en-US">
                <a:solidFill>
                  <a:srgbClr val="000000"/>
                </a:solidFill>
              </a:rPr>
              <a:t> </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PostgreSQL possesses an incredible number of features related to performance, security, programming extensions, and configuration among others.</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01"/>
        <p:cNvGrpSpPr/>
        <p:nvPr/>
      </p:nvGrpSpPr>
      <p:grpSpPr>
        <a:xfrm>
          <a:off x="0" y="0"/>
          <a:ext cx="0" cy="0"/>
          <a:chOff x="0" y="0"/>
          <a:chExt cx="0" cy="0"/>
        </a:xfrm>
      </p:grpSpPr>
      <p:sp>
        <p:nvSpPr>
          <p:cNvPr id="102" name="Google Shape;102;p4"/>
          <p:cNvSpPr txBox="1">
            <a:spLocks noGrp="1"/>
          </p:cNvSpPr>
          <p:nvPr>
            <p:ph type="body" idx="1"/>
          </p:nvPr>
        </p:nvSpPr>
        <p:spPr>
          <a:xfrm>
            <a:off x="838200" y="1214227"/>
            <a:ext cx="10515600" cy="4962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1A202C"/>
              </a:buClr>
              <a:buSzPts val="2800"/>
              <a:buChar char="•"/>
            </a:pPr>
            <a:r>
              <a:rPr lang="en-US">
                <a:solidFill>
                  <a:srgbClr val="1A202C"/>
                </a:solidFill>
              </a:rPr>
              <a:t>One of the most fundamental ways that PostgreSQL is different from most other relational databases comes from its core design.</a:t>
            </a:r>
            <a:endParaRPr/>
          </a:p>
          <a:p>
            <a:pPr marL="228600" lvl="0" indent="-228600" algn="l" rtl="0">
              <a:lnSpc>
                <a:spcPct val="90000"/>
              </a:lnSpc>
              <a:spcBef>
                <a:spcPts val="1000"/>
              </a:spcBef>
              <a:spcAft>
                <a:spcPts val="0"/>
              </a:spcAft>
              <a:buClr>
                <a:srgbClr val="1A202C"/>
              </a:buClr>
              <a:buSzPts val="2800"/>
              <a:buChar char="•"/>
            </a:pPr>
            <a:r>
              <a:rPr lang="en-US">
                <a:solidFill>
                  <a:srgbClr val="1A202C"/>
                </a:solidFill>
              </a:rPr>
              <a:t> </a:t>
            </a:r>
            <a:r>
              <a:rPr lang="en-US" i="1" u="sng">
                <a:solidFill>
                  <a:schemeClr val="hlink"/>
                </a:solidFill>
                <a:hlinkClick r:id="rId3"/>
              </a:rPr>
              <a:t>Relational Database Management Systems</a:t>
            </a:r>
            <a:r>
              <a:rPr lang="en-US" u="sng">
                <a:solidFill>
                  <a:schemeClr val="hlink"/>
                </a:solidFill>
                <a:hlinkClick r:id="rId3"/>
              </a:rPr>
              <a:t> (RDBMSs)</a:t>
            </a:r>
            <a:r>
              <a:rPr lang="en-US">
                <a:solidFill>
                  <a:srgbClr val="1A202C"/>
                </a:solidFill>
              </a:rPr>
              <a:t>: RDBMSs are software specifically designed to handle relational databases, where data is stored in </a:t>
            </a:r>
            <a:r>
              <a:rPr lang="en-US" b="1">
                <a:solidFill>
                  <a:srgbClr val="1A202C"/>
                </a:solidFill>
              </a:rPr>
              <a:t>table-like structures</a:t>
            </a:r>
            <a:r>
              <a:rPr lang="en-US">
                <a:solidFill>
                  <a:srgbClr val="1A202C"/>
                </a:solidFill>
              </a:rPr>
              <a:t> with </a:t>
            </a:r>
            <a:r>
              <a:rPr lang="en-US" b="1">
                <a:solidFill>
                  <a:srgbClr val="1A202C"/>
                </a:solidFill>
              </a:rPr>
              <a:t>predefined columns and data types. </a:t>
            </a:r>
            <a:endParaRPr b="1">
              <a:solidFill>
                <a:srgbClr val="000000"/>
              </a:solidFill>
            </a:endParaRPr>
          </a:p>
          <a:p>
            <a:pPr marL="228600" lvl="0" indent="-228600" algn="l" rtl="0">
              <a:lnSpc>
                <a:spcPct val="90000"/>
              </a:lnSpc>
              <a:spcBef>
                <a:spcPts val="1000"/>
              </a:spcBef>
              <a:spcAft>
                <a:spcPts val="0"/>
              </a:spcAft>
              <a:buClr>
                <a:srgbClr val="1A202C"/>
              </a:buClr>
              <a:buSzPts val="2800"/>
              <a:buChar char="•"/>
            </a:pPr>
            <a:r>
              <a:rPr lang="en-US">
                <a:solidFill>
                  <a:srgbClr val="1A202C"/>
                </a:solidFill>
              </a:rPr>
              <a:t>Data can be queried, modified, and retrieved using techniques based on </a:t>
            </a:r>
            <a:r>
              <a:rPr lang="en-US" u="sng">
                <a:solidFill>
                  <a:schemeClr val="hlink"/>
                </a:solidFill>
                <a:hlinkClick r:id="rId4"/>
              </a:rPr>
              <a:t>relational algebra</a:t>
            </a:r>
            <a:r>
              <a:rPr lang="en-US">
                <a:solidFill>
                  <a:srgbClr val="1A202C"/>
                </a:solidFill>
              </a:rPr>
              <a:t>, usually through </a:t>
            </a:r>
            <a:r>
              <a:rPr lang="en-US" u="sng">
                <a:solidFill>
                  <a:schemeClr val="hlink"/>
                </a:solidFill>
                <a:hlinkClick r:id="rId5"/>
              </a:rPr>
              <a:t>structured query language (SQL)</a:t>
            </a:r>
            <a:r>
              <a:rPr lang="en-US">
                <a:solidFill>
                  <a:srgbClr val="1A202C"/>
                </a:solidFill>
              </a:rPr>
              <a:t>.</a:t>
            </a:r>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Object oriented features</a:t>
            </a:r>
            <a:endParaRPr/>
          </a:p>
        </p:txBody>
      </p:sp>
      <p:sp>
        <p:nvSpPr>
          <p:cNvPr id="108" name="Google Shape;108;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PostgreSQL, on the other hand, is technically an </a:t>
            </a:r>
            <a:r>
              <a:rPr lang="en-US"/>
              <a:t>Object-Relational Database Management System (ORDBMS)</a:t>
            </a:r>
            <a:r>
              <a:rPr lang="en-US">
                <a:solidFill>
                  <a:srgbClr val="000000"/>
                </a:solidFill>
              </a:rPr>
              <a:t>. </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This means that it has the same relational capabilities as an RDBMS, but additionally has some object-oriented features.</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Practically speaking, this means that PostgreSQL allows you to:</a:t>
            </a:r>
            <a:endParaRPr>
              <a:solidFill>
                <a:srgbClr val="000000"/>
              </a:solidFill>
            </a:endParaRPr>
          </a:p>
          <a:p>
            <a:pPr marL="685800" lvl="1" indent="-228600" algn="l" rtl="0">
              <a:lnSpc>
                <a:spcPct val="90000"/>
              </a:lnSpc>
              <a:spcBef>
                <a:spcPts val="500"/>
              </a:spcBef>
              <a:spcAft>
                <a:spcPts val="0"/>
              </a:spcAft>
              <a:buClr>
                <a:srgbClr val="000000"/>
              </a:buClr>
              <a:buSzPts val="2400"/>
              <a:buFont typeface="Courier New"/>
              <a:buChar char="o"/>
            </a:pPr>
            <a:r>
              <a:rPr lang="en-US">
                <a:solidFill>
                  <a:srgbClr val="000000"/>
                </a:solidFill>
              </a:rPr>
              <a:t>Define your own complex data types</a:t>
            </a:r>
            <a:endParaRPr/>
          </a:p>
          <a:p>
            <a:pPr marL="685800" lvl="1" indent="-228600" algn="l" rtl="0">
              <a:lnSpc>
                <a:spcPct val="90000"/>
              </a:lnSpc>
              <a:spcBef>
                <a:spcPts val="500"/>
              </a:spcBef>
              <a:spcAft>
                <a:spcPts val="0"/>
              </a:spcAft>
              <a:buClr>
                <a:srgbClr val="000000"/>
              </a:buClr>
              <a:buSzPts val="2400"/>
              <a:buFont typeface="Courier New"/>
              <a:buChar char="o"/>
            </a:pPr>
            <a:r>
              <a:rPr lang="en-US">
                <a:solidFill>
                  <a:srgbClr val="000000"/>
                </a:solidFill>
              </a:rPr>
              <a:t>Overload functions to work with different argument data types</a:t>
            </a:r>
            <a:endParaRPr/>
          </a:p>
          <a:p>
            <a:pPr marL="685800" lvl="1" indent="-228600" algn="l" rtl="0">
              <a:lnSpc>
                <a:spcPct val="90000"/>
              </a:lnSpc>
              <a:spcBef>
                <a:spcPts val="500"/>
              </a:spcBef>
              <a:spcAft>
                <a:spcPts val="0"/>
              </a:spcAft>
              <a:buClr>
                <a:srgbClr val="000000"/>
              </a:buClr>
              <a:buSzPts val="2400"/>
              <a:buFont typeface="Courier New"/>
              <a:buChar char="o"/>
            </a:pPr>
            <a:r>
              <a:rPr lang="en-US">
                <a:solidFill>
                  <a:srgbClr val="000000"/>
                </a:solidFill>
              </a:rPr>
              <a:t>Define inheritance relationships between tables.</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Play"/>
              <a:buNone/>
            </a:pPr>
            <a:r>
              <a:rPr lang="en-US"/>
              <a:t/>
            </a:r>
            <a:br>
              <a:rPr lang="en-US"/>
            </a:br>
            <a:endParaRPr/>
          </a:p>
          <a:p>
            <a:pPr marL="0" lvl="0" indent="0" algn="l" rtl="0">
              <a:lnSpc>
                <a:spcPct val="90000"/>
              </a:lnSpc>
              <a:spcBef>
                <a:spcPts val="0"/>
              </a:spcBef>
              <a:spcAft>
                <a:spcPts val="0"/>
              </a:spcAft>
              <a:buClr>
                <a:schemeClr val="dk1"/>
              </a:buClr>
              <a:buSzPts val="4400"/>
              <a:buFont typeface="Play"/>
              <a:buNone/>
            </a:pPr>
            <a:r>
              <a:rPr lang="en-US"/>
              <a:t>PostgreSQL – System Architecture</a:t>
            </a:r>
            <a:br>
              <a:rPr lang="en-US"/>
            </a:br>
            <a:endParaRPr/>
          </a:p>
        </p:txBody>
      </p:sp>
      <p:sp>
        <p:nvSpPr>
          <p:cNvPr id="114" name="Google Shape;114;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PostgreSQL has a Client-server model of architecture. In the simplest term a PostgreSQL service has 2 processes:</a:t>
            </a:r>
            <a:endParaRPr>
              <a:solidFill>
                <a:srgbClr val="000000"/>
              </a:solidFill>
            </a:endParaRPr>
          </a:p>
          <a:p>
            <a:pPr marL="228600" lvl="0" indent="-228600" algn="l" rtl="0">
              <a:lnSpc>
                <a:spcPct val="90000"/>
              </a:lnSpc>
              <a:spcBef>
                <a:spcPts val="1000"/>
              </a:spcBef>
              <a:spcAft>
                <a:spcPts val="0"/>
              </a:spcAft>
              <a:buClr>
                <a:schemeClr val="dk1"/>
              </a:buClr>
              <a:buSzPts val="2800"/>
              <a:buChar char="•"/>
            </a:pPr>
            <a:r>
              <a:rPr lang="en-US"/>
              <a:t>Server-side process: This is the “Postgres” application that manages connections, operations, and static &amp; dynamic assets.</a:t>
            </a:r>
            <a:endParaRPr/>
          </a:p>
          <a:p>
            <a:pPr marL="228600" lvl="0" indent="-228600" algn="l" rtl="0">
              <a:lnSpc>
                <a:spcPct val="90000"/>
              </a:lnSpc>
              <a:spcBef>
                <a:spcPts val="1000"/>
              </a:spcBef>
              <a:spcAft>
                <a:spcPts val="0"/>
              </a:spcAft>
              <a:buClr>
                <a:schemeClr val="dk1"/>
              </a:buClr>
              <a:buSzPts val="2800"/>
              <a:buChar char="•"/>
            </a:pPr>
            <a:r>
              <a:rPr lang="en-US"/>
              <a:t>Client-side process(Front-end applications): These are the applications that users use to interact with the database. </a:t>
            </a:r>
            <a:endParaRPr/>
          </a:p>
          <a:p>
            <a:pPr marL="228600" lvl="0" indent="-228600" algn="l" rtl="0">
              <a:lnSpc>
                <a:spcPct val="90000"/>
              </a:lnSpc>
              <a:spcBef>
                <a:spcPts val="1000"/>
              </a:spcBef>
              <a:spcAft>
                <a:spcPts val="0"/>
              </a:spcAft>
              <a:buClr>
                <a:schemeClr val="dk1"/>
              </a:buClr>
              <a:buSzPts val="2800"/>
              <a:buChar char="•"/>
            </a:pPr>
            <a:r>
              <a:rPr lang="en-US"/>
              <a:t>It generally has a simple UI and is used to communicate between the user and the database generally through APIs.</a:t>
            </a:r>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8"/>
          <p:cNvSpPr txBox="1">
            <a:spLocks noGrp="1"/>
          </p:cNvSpPr>
          <p:nvPr>
            <p:ph type="title"/>
          </p:nvPr>
        </p:nvSpPr>
        <p:spPr>
          <a:xfrm>
            <a:off x="467600" y="2166225"/>
            <a:ext cx="37638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System Architecture</a:t>
            </a:r>
            <a:endParaRPr/>
          </a:p>
        </p:txBody>
      </p:sp>
      <p:pic>
        <p:nvPicPr>
          <p:cNvPr id="120" name="Google Shape;120;p8"/>
          <p:cNvPicPr preferRelativeResize="0"/>
          <p:nvPr/>
        </p:nvPicPr>
        <p:blipFill>
          <a:blip r:embed="rId3">
            <a:alphaModFix/>
          </a:blip>
          <a:stretch>
            <a:fillRect/>
          </a:stretch>
        </p:blipFill>
        <p:spPr>
          <a:xfrm>
            <a:off x="4473875" y="165253"/>
            <a:ext cx="7070574" cy="65137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solidFill>
                  <a:srgbClr val="000000"/>
                </a:solidFill>
              </a:rPr>
              <a:t>Client-side Process :</a:t>
            </a:r>
            <a:endParaRPr/>
          </a:p>
          <a:p>
            <a:pPr marL="0" lvl="0" indent="0" algn="l" rtl="0">
              <a:lnSpc>
                <a:spcPct val="90000"/>
              </a:lnSpc>
              <a:spcBef>
                <a:spcPts val="0"/>
              </a:spcBef>
              <a:spcAft>
                <a:spcPts val="0"/>
              </a:spcAft>
              <a:buClr>
                <a:schemeClr val="dk1"/>
              </a:buClr>
              <a:buSzPts val="4400"/>
              <a:buFont typeface="Play"/>
              <a:buNone/>
            </a:pPr>
            <a:endParaRPr/>
          </a:p>
        </p:txBody>
      </p:sp>
      <p:sp>
        <p:nvSpPr>
          <p:cNvPr id="126" name="Google Shape;126;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When the user runs queries on PostgreSQL, the Client Application can connect to the PostgreSQL server (Postmaster Daemon Process) and submit queries through one of many Database Client Application program interface supported by PostgreSQL like JDBC, Perl DBD, ODBC, etc. that helps to provide client-side libraries. </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In the Client Process, the Communication between Client Application and Client Application library occurs with the help of Library API as shown in the figure below:</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solidFill>
                  <a:srgbClr val="000000"/>
                </a:solidFill>
              </a:rPr>
              <a:t>1. Postmaster Daemon Process :</a:t>
            </a:r>
            <a:endParaRPr/>
          </a:p>
          <a:p>
            <a:pPr marL="0" lvl="0" indent="0" algn="l" rtl="0">
              <a:lnSpc>
                <a:spcPct val="90000"/>
              </a:lnSpc>
              <a:spcBef>
                <a:spcPts val="0"/>
              </a:spcBef>
              <a:spcAft>
                <a:spcPts val="0"/>
              </a:spcAft>
              <a:buClr>
                <a:schemeClr val="dk1"/>
              </a:buClr>
              <a:buSzPts val="4400"/>
              <a:buFont typeface="Play"/>
              <a:buNone/>
            </a:pPr>
            <a:endParaRPr/>
          </a:p>
        </p:txBody>
      </p:sp>
      <p:sp>
        <p:nvSpPr>
          <p:cNvPr id="132" name="Google Shape;13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00000"/>
              </a:buClr>
              <a:buSzPct val="100000"/>
              <a:buChar char="•"/>
            </a:pPr>
            <a:r>
              <a:rPr lang="en-US">
                <a:solidFill>
                  <a:srgbClr val="000000"/>
                </a:solidFill>
              </a:rPr>
              <a:t>The system architecture of PostgreSQL is based on Process-Per-Transaction Model(Client/Server Model). </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A running PostgreSQL site is managed by Postmaster which is a central coordinating process. It is also known as Server Process.</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The postmaster daemon process is responsible for :</a:t>
            </a:r>
            <a:endParaRPr>
              <a:solidFill>
                <a:srgbClr val="000000"/>
              </a:solidFill>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Initializing the server</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Shutting Down the server</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Handling Connection requests from new clients.</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Perform Recovery.</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Run Background Processes.</a:t>
            </a:r>
            <a:endParaRPr/>
          </a:p>
          <a:p>
            <a:pPr marL="0" lvl="0" indent="0" algn="l" rtl="0">
              <a:lnSpc>
                <a:spcPct val="90000"/>
              </a:lnSpc>
              <a:spcBef>
                <a:spcPts val="1000"/>
              </a:spcBef>
              <a:spcAft>
                <a:spcPts val="0"/>
              </a:spcAft>
              <a:buClr>
                <a:schemeClr val="dk1"/>
              </a:buClr>
              <a:buSzPct val="100000"/>
              <a:buNone/>
            </a:pPr>
            <a:endParaRPr>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0"/>
          <p:cNvSpPr txBox="1">
            <a:spLocks noGrp="1"/>
          </p:cNvSpPr>
          <p:nvPr>
            <p:ph type="title"/>
          </p:nvPr>
        </p:nvSpPr>
        <p:spPr>
          <a:xfrm>
            <a:off x="838200" y="-1724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dirty="0"/>
              <a:t>Shared Memory</a:t>
            </a:r>
            <a:endParaRPr dirty="0"/>
          </a:p>
        </p:txBody>
      </p:sp>
      <p:sp>
        <p:nvSpPr>
          <p:cNvPr id="138" name="Google Shape;138;p10"/>
          <p:cNvSpPr txBox="1">
            <a:spLocks noGrp="1"/>
          </p:cNvSpPr>
          <p:nvPr>
            <p:ph type="body" idx="1"/>
          </p:nvPr>
        </p:nvSpPr>
        <p:spPr>
          <a:xfrm>
            <a:off x="838200" y="932838"/>
            <a:ext cx="10515600" cy="5799900"/>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rgbClr val="000000"/>
              </a:buClr>
              <a:buSzPct val="100000"/>
              <a:buChar char="•"/>
            </a:pPr>
            <a:r>
              <a:rPr lang="en-US" dirty="0">
                <a:solidFill>
                  <a:srgbClr val="000000"/>
                </a:solidFill>
              </a:rPr>
              <a:t> Shared memory is the memory that is simultaneously accessed by multiple programs in order to provide fast and efficient results with less redundancy.</a:t>
            </a:r>
            <a:endParaRPr dirty="0"/>
          </a:p>
          <a:p>
            <a:pPr marL="228600" lvl="0" indent="-228600" algn="l" rtl="0">
              <a:lnSpc>
                <a:spcPct val="90000"/>
              </a:lnSpc>
              <a:spcBef>
                <a:spcPts val="1000"/>
              </a:spcBef>
              <a:spcAft>
                <a:spcPts val="0"/>
              </a:spcAft>
              <a:buClr>
                <a:srgbClr val="000000"/>
              </a:buClr>
              <a:buSzPct val="100000"/>
              <a:buChar char="•"/>
            </a:pPr>
            <a:r>
              <a:rPr lang="en-US" dirty="0">
                <a:solidFill>
                  <a:srgbClr val="000000"/>
                </a:solidFill>
              </a:rPr>
              <a:t>Shared Disk Buffer: The purpose of the shared disk buffer is to minimize the disk Input/</a:t>
            </a:r>
            <a:r>
              <a:rPr lang="en-US" dirty="0" err="1">
                <a:solidFill>
                  <a:srgbClr val="000000"/>
                </a:solidFill>
              </a:rPr>
              <a:t>Output.</a:t>
            </a:r>
            <a:r>
              <a:rPr lang="en-US" dirty="0" err="1"/>
              <a:t>Disk</a:t>
            </a:r>
            <a:r>
              <a:rPr lang="en-US" dirty="0"/>
              <a:t> </a:t>
            </a:r>
            <a:r>
              <a:rPr lang="en-US" dirty="0" err="1"/>
              <a:t>Input/Output</a:t>
            </a:r>
            <a:r>
              <a:rPr lang="en-US" dirty="0"/>
              <a:t> takes more time which causes redundancy and an inefficient system. </a:t>
            </a:r>
            <a:endParaRPr dirty="0"/>
          </a:p>
          <a:p>
            <a:pPr marL="228600" lvl="0" indent="-169862" algn="l" rtl="0">
              <a:lnSpc>
                <a:spcPct val="90000"/>
              </a:lnSpc>
              <a:spcBef>
                <a:spcPts val="1000"/>
              </a:spcBef>
              <a:spcAft>
                <a:spcPts val="0"/>
              </a:spcAft>
              <a:buSzPct val="64285"/>
              <a:buChar char="•"/>
            </a:pPr>
            <a:r>
              <a:rPr lang="en-US" dirty="0"/>
              <a:t>Frequently used blocks must be in the buffer for as long as possible to  minimize contention when many users access it at the same time.</a:t>
            </a:r>
            <a:endParaRPr dirty="0"/>
          </a:p>
          <a:p>
            <a:pPr marL="228600" lvl="0" indent="0" algn="l" rtl="0">
              <a:lnSpc>
                <a:spcPct val="90000"/>
              </a:lnSpc>
              <a:spcBef>
                <a:spcPts val="1000"/>
              </a:spcBef>
              <a:spcAft>
                <a:spcPts val="0"/>
              </a:spcAft>
              <a:buNone/>
            </a:pPr>
            <a:endParaRPr dirty="0">
              <a:solidFill>
                <a:srgbClr val="000000"/>
              </a:solidFill>
            </a:endParaRPr>
          </a:p>
          <a:p>
            <a:pPr marL="228600" lvl="0" indent="-228600" algn="l" rtl="0">
              <a:lnSpc>
                <a:spcPct val="90000"/>
              </a:lnSpc>
              <a:spcBef>
                <a:spcPts val="1000"/>
              </a:spcBef>
              <a:spcAft>
                <a:spcPts val="0"/>
              </a:spcAft>
              <a:buClr>
                <a:srgbClr val="000000"/>
              </a:buClr>
              <a:buSzPct val="100000"/>
              <a:buChar char="•"/>
            </a:pPr>
            <a:r>
              <a:rPr lang="en-US" dirty="0">
                <a:solidFill>
                  <a:srgbClr val="000000"/>
                </a:solidFill>
              </a:rPr>
              <a:t>The advantages of using a shared buffer are:</a:t>
            </a:r>
            <a:endParaRPr dirty="0">
              <a:solidFill>
                <a:srgbClr val="000000"/>
              </a:solidFill>
            </a:endParaRPr>
          </a:p>
          <a:p>
            <a:pPr marL="228600" lvl="0" indent="-228600" algn="l" rtl="0">
              <a:lnSpc>
                <a:spcPct val="100000"/>
              </a:lnSpc>
              <a:spcBef>
                <a:spcPts val="1000"/>
              </a:spcBef>
              <a:spcAft>
                <a:spcPts val="0"/>
              </a:spcAft>
              <a:buClr>
                <a:srgbClr val="000000"/>
              </a:buClr>
              <a:buSzPct val="100000"/>
              <a:buChar char="•"/>
            </a:pPr>
            <a:r>
              <a:rPr lang="en-US" dirty="0">
                <a:solidFill>
                  <a:srgbClr val="000000"/>
                </a:solidFill>
              </a:rPr>
              <a:t>Reduce time.</a:t>
            </a:r>
            <a:endParaRPr dirty="0"/>
          </a:p>
          <a:p>
            <a:pPr marL="228600" lvl="0" indent="-228600" algn="l" rtl="0">
              <a:lnSpc>
                <a:spcPct val="100000"/>
              </a:lnSpc>
              <a:spcBef>
                <a:spcPts val="1000"/>
              </a:spcBef>
              <a:spcAft>
                <a:spcPts val="0"/>
              </a:spcAft>
              <a:buClr>
                <a:srgbClr val="000000"/>
              </a:buClr>
              <a:buSzPct val="100000"/>
              <a:buChar char="•"/>
            </a:pPr>
            <a:r>
              <a:rPr lang="en-US" dirty="0">
                <a:solidFill>
                  <a:srgbClr val="000000"/>
                </a:solidFill>
              </a:rPr>
              <a:t>Can Access a very large amount of Data Easily.</a:t>
            </a:r>
            <a:endParaRPr dirty="0"/>
          </a:p>
          <a:p>
            <a:pPr marL="228600" lvl="0" indent="-228600" algn="l" rtl="0">
              <a:lnSpc>
                <a:spcPct val="100000"/>
              </a:lnSpc>
              <a:spcBef>
                <a:spcPts val="1000"/>
              </a:spcBef>
              <a:spcAft>
                <a:spcPts val="0"/>
              </a:spcAft>
              <a:buClr>
                <a:srgbClr val="000000"/>
              </a:buClr>
              <a:buSzPct val="100000"/>
              <a:buChar char="•"/>
            </a:pPr>
            <a:r>
              <a:rPr lang="en-US" dirty="0">
                <a:solidFill>
                  <a:srgbClr val="000000"/>
                </a:solidFill>
              </a:rPr>
              <a:t>Minimize heating when multiple users is accessing at the same time.</a:t>
            </a:r>
            <a:endParaRPr dirty="0"/>
          </a:p>
          <a:p>
            <a:pPr marL="228600" lvl="0" indent="-64135" algn="l" rtl="0">
              <a:lnSpc>
                <a:spcPct val="100000"/>
              </a:lnSpc>
              <a:spcBef>
                <a:spcPts val="1000"/>
              </a:spcBef>
              <a:spcAft>
                <a:spcPts val="0"/>
              </a:spcAft>
              <a:buClr>
                <a:schemeClr val="dk1"/>
              </a:buClr>
              <a:buSzPct val="100000"/>
              <a:buNone/>
            </a:pPr>
            <a:endParaRPr dirty="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2c9df8e0017_0_15"/>
          <p:cNvSpPr txBox="1">
            <a:spLocks noGrp="1"/>
          </p:cNvSpPr>
          <p:nvPr>
            <p:ph type="body" idx="1"/>
          </p:nvPr>
        </p:nvSpPr>
        <p:spPr>
          <a:xfrm>
            <a:off x="838200" y="422850"/>
            <a:ext cx="10515600" cy="62736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b="1" dirty="0"/>
              <a:t>WAL(Write Ahead Log) </a:t>
            </a:r>
            <a:r>
              <a:rPr lang="en-US" b="1" dirty="0" smtClean="0"/>
              <a:t>Buffer</a:t>
            </a:r>
            <a:endParaRPr dirty="0"/>
          </a:p>
          <a:p>
            <a:pPr marL="457200" lvl="0" indent="-342900" algn="l" rtl="0">
              <a:spcBef>
                <a:spcPts val="1000"/>
              </a:spcBef>
              <a:spcAft>
                <a:spcPts val="0"/>
              </a:spcAft>
              <a:buSzPts val="1800"/>
              <a:buChar char="•"/>
            </a:pPr>
            <a:r>
              <a:rPr lang="en-US" dirty="0"/>
              <a:t>The WAL buffer is a buffer that temporarily stores changes to the database. </a:t>
            </a:r>
            <a:endParaRPr dirty="0"/>
          </a:p>
          <a:p>
            <a:pPr marL="457200" lvl="0" indent="-342900" algn="l" rtl="0">
              <a:spcBef>
                <a:spcPts val="0"/>
              </a:spcBef>
              <a:spcAft>
                <a:spcPts val="0"/>
              </a:spcAft>
              <a:buSzPts val="1800"/>
              <a:buChar char="•"/>
            </a:pPr>
            <a:r>
              <a:rPr lang="en-US" dirty="0"/>
              <a:t>The contents stored in the WAL buffer are written to the WAL file at a predetermined point in time. </a:t>
            </a:r>
            <a:endParaRPr dirty="0"/>
          </a:p>
          <a:p>
            <a:pPr marL="457200" lvl="0" indent="-342900" algn="l" rtl="0">
              <a:spcBef>
                <a:spcPts val="0"/>
              </a:spcBef>
              <a:spcAft>
                <a:spcPts val="0"/>
              </a:spcAft>
              <a:buSzPts val="1800"/>
              <a:buChar char="•"/>
            </a:pPr>
            <a:r>
              <a:rPr lang="en-US" dirty="0"/>
              <a:t>From a backup and recovery point of view, WAL buffers and WAL files are very important.</a:t>
            </a:r>
            <a:endParaRPr dirty="0"/>
          </a:p>
          <a:p>
            <a:pPr marL="0" lvl="0" indent="0" algn="l" rtl="0">
              <a:spcBef>
                <a:spcPts val="1000"/>
              </a:spcBef>
              <a:spcAft>
                <a:spcPts val="0"/>
              </a:spcAft>
              <a:buNone/>
            </a:pPr>
            <a:endParaRPr dirty="0"/>
          </a:p>
          <a:p>
            <a:pPr marL="0" lvl="0" indent="0" algn="l" rtl="0">
              <a:spcBef>
                <a:spcPts val="1000"/>
              </a:spcBef>
              <a:spcAft>
                <a:spcPts val="0"/>
              </a:spcAft>
              <a:buNone/>
            </a:pPr>
            <a:r>
              <a:rPr lang="en-US" b="1" dirty="0"/>
              <a:t>CLOG </a:t>
            </a:r>
            <a:r>
              <a:rPr lang="en-US" b="1" dirty="0" smtClean="0"/>
              <a:t>Buffers</a:t>
            </a:r>
            <a:endParaRPr b="1" dirty="0"/>
          </a:p>
          <a:p>
            <a:pPr marL="457200" lvl="0" indent="-342900" algn="l" rtl="0">
              <a:spcBef>
                <a:spcPts val="1000"/>
              </a:spcBef>
              <a:spcAft>
                <a:spcPts val="0"/>
              </a:spcAft>
              <a:buSzPts val="1800"/>
              <a:buChar char="•"/>
            </a:pPr>
            <a:r>
              <a:rPr lang="en-US" dirty="0"/>
              <a:t>Log files contains a log of transaction metadata. </a:t>
            </a:r>
            <a:endParaRPr dirty="0"/>
          </a:p>
          <a:p>
            <a:pPr marL="457200" lvl="0" indent="-342900" algn="l" rtl="0">
              <a:spcBef>
                <a:spcPts val="0"/>
              </a:spcBef>
              <a:spcAft>
                <a:spcPts val="0"/>
              </a:spcAft>
              <a:buSzPts val="1800"/>
              <a:buChar char="•"/>
            </a:pPr>
            <a:r>
              <a:rPr lang="en-US" dirty="0"/>
              <a:t>This log tells PostgreSQL which transactions completed and which did not.</a:t>
            </a:r>
            <a:endParaRPr dirty="0"/>
          </a:p>
          <a:p>
            <a:pPr marL="457200" lvl="0" indent="-342900" algn="l" rtl="0">
              <a:spcBef>
                <a:spcPts val="0"/>
              </a:spcBef>
              <a:spcAft>
                <a:spcPts val="0"/>
              </a:spcAft>
              <a:buSzPts val="1800"/>
              <a:buChar char="•"/>
            </a:pPr>
            <a:r>
              <a:rPr lang="en-US" dirty="0"/>
              <a:t> The clog is small and never has any reason to become bloated, so you should never have any reason to touch it.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solidFill>
                  <a:srgbClr val="000000"/>
                </a:solidFill>
              </a:rPr>
              <a:t>2. Back-end process:</a:t>
            </a:r>
            <a:endParaRPr/>
          </a:p>
          <a:p>
            <a:pPr marL="0" lvl="0" indent="0" algn="l" rtl="0">
              <a:lnSpc>
                <a:spcPct val="90000"/>
              </a:lnSpc>
              <a:spcBef>
                <a:spcPts val="0"/>
              </a:spcBef>
              <a:spcAft>
                <a:spcPts val="0"/>
              </a:spcAft>
              <a:buClr>
                <a:schemeClr val="dk1"/>
              </a:buClr>
              <a:buSzPts val="4400"/>
              <a:buFont typeface="Play"/>
              <a:buNone/>
            </a:pPr>
            <a:endParaRPr/>
          </a:p>
        </p:txBody>
      </p:sp>
      <p:sp>
        <p:nvSpPr>
          <p:cNvPr id="149" name="Google Shape;149;p12"/>
          <p:cNvSpPr txBox="1">
            <a:spLocks noGrp="1"/>
          </p:cNvSpPr>
          <p:nvPr>
            <p:ph type="body" idx="1"/>
          </p:nvPr>
        </p:nvSpPr>
        <p:spPr>
          <a:xfrm>
            <a:off x="838200" y="1458425"/>
            <a:ext cx="10515600" cy="5291100"/>
          </a:xfrm>
          <a:prstGeom prst="rect">
            <a:avLst/>
          </a:prstGeom>
          <a:noFill/>
          <a:ln>
            <a:noFill/>
          </a:ln>
        </p:spPr>
        <p:txBody>
          <a:bodyPr spcFirstLastPara="1" wrap="square" lIns="91425" tIns="45700" rIns="91425" bIns="45700" anchor="t" anchorCtr="0">
            <a:normAutofit fontScale="92500" lnSpcReduction="10000"/>
          </a:bodyPr>
          <a:lstStyle/>
          <a:p>
            <a:pPr marL="228600" lvl="0" indent="-215265" algn="l" rtl="0">
              <a:lnSpc>
                <a:spcPct val="90000"/>
              </a:lnSpc>
              <a:spcBef>
                <a:spcPts val="0"/>
              </a:spcBef>
              <a:spcAft>
                <a:spcPts val="0"/>
              </a:spcAft>
              <a:buClr>
                <a:srgbClr val="000000"/>
              </a:buClr>
              <a:buSzPct val="100000"/>
              <a:buChar char="•"/>
            </a:pPr>
            <a:r>
              <a:rPr lang="en-US">
                <a:solidFill>
                  <a:srgbClr val="000000"/>
                </a:solidFill>
              </a:rPr>
              <a:t>The Postmaster is responsible for handling initial client connections.After Performing an initialization process such as authentication of the user.</a:t>
            </a:r>
            <a:endParaRPr>
              <a:solidFill>
                <a:srgbClr val="000000"/>
              </a:solidFill>
            </a:endParaRPr>
          </a:p>
          <a:p>
            <a:pPr marL="228600" lvl="0" indent="0" algn="l" rtl="0">
              <a:lnSpc>
                <a:spcPct val="90000"/>
              </a:lnSpc>
              <a:spcBef>
                <a:spcPts val="0"/>
              </a:spcBef>
              <a:spcAft>
                <a:spcPts val="0"/>
              </a:spcAft>
              <a:buNone/>
            </a:pPr>
            <a:endParaRPr>
              <a:solidFill>
                <a:srgbClr val="000000"/>
              </a:solidFill>
            </a:endParaRPr>
          </a:p>
          <a:p>
            <a:pPr marL="228600" lvl="0" indent="-215265" algn="l" rtl="0">
              <a:lnSpc>
                <a:spcPct val="90000"/>
              </a:lnSpc>
              <a:spcBef>
                <a:spcPts val="0"/>
              </a:spcBef>
              <a:spcAft>
                <a:spcPts val="0"/>
              </a:spcAft>
              <a:buClr>
                <a:srgbClr val="000000"/>
              </a:buClr>
              <a:buSzPct val="100000"/>
              <a:buChar char="•"/>
            </a:pPr>
            <a:r>
              <a:rPr lang="en-US">
                <a:solidFill>
                  <a:srgbClr val="000000"/>
                </a:solidFill>
              </a:rPr>
              <a:t>The postmaster process then creates a new “backend” process for every connection it accepts. The connection is then handed over to the new backend process. i.e process per transaction model</a:t>
            </a:r>
            <a:endParaRPr>
              <a:solidFill>
                <a:srgbClr val="000000"/>
              </a:solidFill>
            </a:endParaRPr>
          </a:p>
          <a:p>
            <a:pPr marL="228600" lvl="0" indent="0" algn="l" rtl="0">
              <a:lnSpc>
                <a:spcPct val="90000"/>
              </a:lnSpc>
              <a:spcBef>
                <a:spcPts val="0"/>
              </a:spcBef>
              <a:spcAft>
                <a:spcPts val="0"/>
              </a:spcAft>
              <a:buNone/>
            </a:pPr>
            <a:endParaRPr>
              <a:solidFill>
                <a:srgbClr val="000000"/>
              </a:solidFill>
            </a:endParaRPr>
          </a:p>
          <a:p>
            <a:pPr marL="228600" lvl="0" indent="-215265" algn="l" rtl="0">
              <a:lnSpc>
                <a:spcPct val="90000"/>
              </a:lnSpc>
              <a:spcBef>
                <a:spcPts val="0"/>
              </a:spcBef>
              <a:spcAft>
                <a:spcPts val="0"/>
              </a:spcAft>
              <a:buClr>
                <a:srgbClr val="000000"/>
              </a:buClr>
              <a:buSzPct val="100000"/>
              <a:buChar char="•"/>
            </a:pPr>
            <a:r>
              <a:rPr lang="en-US">
                <a:solidFill>
                  <a:srgbClr val="000000"/>
                </a:solidFill>
              </a:rPr>
              <a:t>The Backend Server is responsible for Executing queries submitted by the client by performing necessary specific operations.</a:t>
            </a:r>
            <a:endParaRPr/>
          </a:p>
          <a:p>
            <a:pPr marL="228600" lvl="0" indent="-215265" algn="l" rtl="0">
              <a:lnSpc>
                <a:spcPct val="90000"/>
              </a:lnSpc>
              <a:spcBef>
                <a:spcPts val="1000"/>
              </a:spcBef>
              <a:spcAft>
                <a:spcPts val="0"/>
              </a:spcAft>
              <a:buClr>
                <a:srgbClr val="000000"/>
              </a:buClr>
              <a:buSzPct val="100000"/>
              <a:buChar char="•"/>
            </a:pPr>
            <a:r>
              <a:rPr lang="en-US">
                <a:solidFill>
                  <a:srgbClr val="000000"/>
                </a:solidFill>
              </a:rPr>
              <a:t>Each backend server will handle only a single query at a time. </a:t>
            </a:r>
            <a:endParaRPr/>
          </a:p>
          <a:p>
            <a:pPr marL="228600" lvl="0" indent="-215265" algn="l" rtl="0">
              <a:lnSpc>
                <a:spcPct val="90000"/>
              </a:lnSpc>
              <a:spcBef>
                <a:spcPts val="1000"/>
              </a:spcBef>
              <a:spcAft>
                <a:spcPts val="0"/>
              </a:spcAft>
              <a:buClr>
                <a:srgbClr val="000000"/>
              </a:buClr>
              <a:buSzPct val="100000"/>
              <a:buChar char="•"/>
            </a:pPr>
            <a:r>
              <a:rPr lang="en-US">
                <a:solidFill>
                  <a:srgbClr val="000000"/>
                </a:solidFill>
              </a:rPr>
              <a:t>At a time multiple clients are connected to the system hence multiple backend servers are executing queries concurrently.</a:t>
            </a:r>
            <a:endParaRPr/>
          </a:p>
          <a:p>
            <a:pPr marL="228600" lvl="0" indent="-215265" algn="l" rtl="0">
              <a:lnSpc>
                <a:spcPct val="90000"/>
              </a:lnSpc>
              <a:spcBef>
                <a:spcPts val="1000"/>
              </a:spcBef>
              <a:spcAft>
                <a:spcPts val="0"/>
              </a:spcAft>
              <a:buClr>
                <a:srgbClr val="000000"/>
              </a:buClr>
              <a:buSzPct val="100000"/>
              <a:buChar char="•"/>
            </a:pPr>
            <a:r>
              <a:rPr lang="en-US">
                <a:solidFill>
                  <a:srgbClr val="000000"/>
                </a:solidFill>
              </a:rPr>
              <a:t>The back-end server access data from the main-memory buffer pool which is placed in shared memory.</a:t>
            </a:r>
            <a:endParaRPr>
              <a:solidFill>
                <a:srgbClr val="000000"/>
              </a:solidFill>
            </a:endParaRPr>
          </a:p>
          <a:p>
            <a:pPr marL="228600" lvl="0" indent="-50800" algn="l" rtl="0">
              <a:lnSpc>
                <a:spcPct val="90000"/>
              </a:lnSpc>
              <a:spcBef>
                <a:spcPts val="1000"/>
              </a:spcBef>
              <a:spcAft>
                <a:spcPts val="0"/>
              </a:spcAft>
              <a:buClr>
                <a:schemeClr val="dk1"/>
              </a:buClr>
              <a:buSzPct val="100000"/>
              <a:buNone/>
            </a:pPr>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c9df8e0017_0_2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3. Background processes</a:t>
            </a:r>
            <a:endParaRPr/>
          </a:p>
        </p:txBody>
      </p:sp>
      <p:sp>
        <p:nvSpPr>
          <p:cNvPr id="155" name="Google Shape;155;g2c9df8e0017_0_22"/>
          <p:cNvSpPr txBox="1">
            <a:spLocks noGrp="1"/>
          </p:cNvSpPr>
          <p:nvPr>
            <p:ph type="body" idx="1"/>
          </p:nvPr>
        </p:nvSpPr>
        <p:spPr>
          <a:xfrm>
            <a:off x="838200" y="1825625"/>
            <a:ext cx="6209700" cy="4351200"/>
          </a:xfrm>
          <a:prstGeom prst="rect">
            <a:avLst/>
          </a:prstGeom>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1100"/>
              <a:buFont typeface="Arial"/>
              <a:buNone/>
            </a:pPr>
            <a:r>
              <a:rPr lang="en-US" sz="2500" b="1">
                <a:solidFill>
                  <a:srgbClr val="242424"/>
                </a:solidFill>
                <a:highlight>
                  <a:srgbClr val="FFFFFF"/>
                </a:highlight>
                <a:latin typeface="Georgia"/>
                <a:ea typeface="Georgia"/>
                <a:cs typeface="Georgia"/>
                <a:sym typeface="Georgia"/>
              </a:rPr>
              <a:t>Mandatory processes: We cannot Enable/Disable these processes.</a:t>
            </a:r>
            <a:endParaRPr sz="2500" b="1">
              <a:solidFill>
                <a:srgbClr val="242424"/>
              </a:solidFill>
              <a:highlight>
                <a:srgbClr val="FFFFFF"/>
              </a:highlight>
              <a:latin typeface="Georgia"/>
              <a:ea typeface="Georgia"/>
              <a:cs typeface="Georgia"/>
              <a:sym typeface="Georgia"/>
            </a:endParaRPr>
          </a:p>
          <a:p>
            <a:pPr marL="749300" lvl="0" indent="-374650" algn="l" rtl="0">
              <a:lnSpc>
                <a:spcPct val="218181"/>
              </a:lnSpc>
              <a:spcBef>
                <a:spcPts val="3200"/>
              </a:spcBef>
              <a:spcAft>
                <a:spcPts val="0"/>
              </a:spcAft>
              <a:buClr>
                <a:srgbClr val="242424"/>
              </a:buClr>
              <a:buSzPts val="2300"/>
              <a:buFont typeface="Georgia"/>
              <a:buChar char="●"/>
            </a:pPr>
            <a:r>
              <a:rPr lang="en-US" sz="2300" b="1">
                <a:solidFill>
                  <a:srgbClr val="242424"/>
                </a:solidFill>
                <a:highlight>
                  <a:srgbClr val="FFFFFF"/>
                </a:highlight>
                <a:latin typeface="Georgia"/>
                <a:ea typeface="Georgia"/>
                <a:cs typeface="Georgia"/>
                <a:sym typeface="Georgia"/>
              </a:rPr>
              <a:t>BGWriter</a:t>
            </a:r>
            <a:endParaRPr sz="2300" b="1">
              <a:solidFill>
                <a:srgbClr val="242424"/>
              </a:solidFill>
              <a:highlight>
                <a:srgbClr val="FFFFFF"/>
              </a:highlight>
              <a:latin typeface="Georgia"/>
              <a:ea typeface="Georgia"/>
              <a:cs typeface="Georgia"/>
              <a:sym typeface="Georgia"/>
            </a:endParaRPr>
          </a:p>
          <a:p>
            <a:pPr marL="749300" lvl="0" indent="-374650" algn="l" rtl="0">
              <a:lnSpc>
                <a:spcPct val="218181"/>
              </a:lnSpc>
              <a:spcBef>
                <a:spcPts val="0"/>
              </a:spcBef>
              <a:spcAft>
                <a:spcPts val="0"/>
              </a:spcAft>
              <a:buClr>
                <a:srgbClr val="242424"/>
              </a:buClr>
              <a:buSzPts val="2300"/>
              <a:buFont typeface="Georgia"/>
              <a:buChar char="●"/>
            </a:pPr>
            <a:r>
              <a:rPr lang="en-US" sz="2300" b="1">
                <a:solidFill>
                  <a:srgbClr val="242424"/>
                </a:solidFill>
                <a:highlight>
                  <a:srgbClr val="FFFFFF"/>
                </a:highlight>
                <a:latin typeface="Georgia"/>
                <a:ea typeface="Georgia"/>
                <a:cs typeface="Georgia"/>
                <a:sym typeface="Georgia"/>
              </a:rPr>
              <a:t>WAL Writer</a:t>
            </a:r>
            <a:endParaRPr sz="2300" b="1">
              <a:solidFill>
                <a:srgbClr val="242424"/>
              </a:solidFill>
              <a:highlight>
                <a:srgbClr val="FFFFFF"/>
              </a:highlight>
              <a:latin typeface="Georgia"/>
              <a:ea typeface="Georgia"/>
              <a:cs typeface="Georgia"/>
              <a:sym typeface="Georgia"/>
            </a:endParaRPr>
          </a:p>
          <a:p>
            <a:pPr marL="749300" lvl="0" indent="-374650" algn="l" rtl="0">
              <a:lnSpc>
                <a:spcPct val="218181"/>
              </a:lnSpc>
              <a:spcBef>
                <a:spcPts val="0"/>
              </a:spcBef>
              <a:spcAft>
                <a:spcPts val="0"/>
              </a:spcAft>
              <a:buClr>
                <a:srgbClr val="242424"/>
              </a:buClr>
              <a:buSzPts val="2300"/>
              <a:buFont typeface="Georgia"/>
              <a:buChar char="●"/>
            </a:pPr>
            <a:r>
              <a:rPr lang="en-US" sz="2300" b="1">
                <a:solidFill>
                  <a:srgbClr val="242424"/>
                </a:solidFill>
                <a:highlight>
                  <a:srgbClr val="FFFFFF"/>
                </a:highlight>
                <a:latin typeface="Georgia"/>
                <a:ea typeface="Georgia"/>
                <a:cs typeface="Georgia"/>
                <a:sym typeface="Georgia"/>
              </a:rPr>
              <a:t>Checkpointer</a:t>
            </a:r>
            <a:endParaRPr sz="2300" b="1">
              <a:solidFill>
                <a:srgbClr val="242424"/>
              </a:solidFill>
              <a:highlight>
                <a:srgbClr val="FFFFFF"/>
              </a:highlight>
              <a:latin typeface="Georgia"/>
              <a:ea typeface="Georgia"/>
              <a:cs typeface="Georgia"/>
              <a:sym typeface="Georgia"/>
            </a:endParaRPr>
          </a:p>
          <a:p>
            <a:pPr marL="0" lvl="0" indent="0" algn="l" rtl="0">
              <a:spcBef>
                <a:spcPts val="1000"/>
              </a:spcBef>
              <a:spcAft>
                <a:spcPts val="0"/>
              </a:spcAft>
              <a:buNone/>
            </a:pPr>
            <a:endParaRPr sz="3200" b="1"/>
          </a:p>
        </p:txBody>
      </p:sp>
      <p:sp>
        <p:nvSpPr>
          <p:cNvPr id="156" name="Google Shape;156;g2c9df8e0017_0_22"/>
          <p:cNvSpPr txBox="1"/>
          <p:nvPr/>
        </p:nvSpPr>
        <p:spPr>
          <a:xfrm>
            <a:off x="7550075" y="1690825"/>
            <a:ext cx="5178000" cy="4416300"/>
          </a:xfrm>
          <a:prstGeom prst="rect">
            <a:avLst/>
          </a:prstGeom>
          <a:noFill/>
          <a:ln>
            <a:noFill/>
          </a:ln>
        </p:spPr>
        <p:txBody>
          <a:bodyPr spcFirstLastPara="1" wrap="square" lIns="91425" tIns="91425" rIns="91425" bIns="91425" anchor="t" anchorCtr="0">
            <a:noAutofit/>
          </a:bodyPr>
          <a:lstStyle/>
          <a:p>
            <a:pPr marL="0" lvl="0" indent="0" algn="l" rtl="0">
              <a:lnSpc>
                <a:spcPct val="218181"/>
              </a:lnSpc>
              <a:spcBef>
                <a:spcPts val="3200"/>
              </a:spcBef>
              <a:spcAft>
                <a:spcPts val="0"/>
              </a:spcAft>
              <a:buClr>
                <a:schemeClr val="dk1"/>
              </a:buClr>
              <a:buSzPts val="1100"/>
              <a:buFont typeface="Arial"/>
              <a:buNone/>
            </a:pPr>
            <a:r>
              <a:rPr lang="en-US" sz="2100" b="1">
                <a:solidFill>
                  <a:srgbClr val="242424"/>
                </a:solidFill>
                <a:highlight>
                  <a:srgbClr val="FFFFFF"/>
                </a:highlight>
                <a:latin typeface="Georgia"/>
                <a:ea typeface="Georgia"/>
                <a:cs typeface="Georgia"/>
                <a:sym typeface="Georgia"/>
              </a:rPr>
              <a:t>Optional Processes:</a:t>
            </a:r>
            <a:endParaRPr sz="2100" b="1">
              <a:solidFill>
                <a:srgbClr val="242424"/>
              </a:solidFill>
              <a:highlight>
                <a:srgbClr val="FFFFFF"/>
              </a:highlight>
              <a:latin typeface="Georgia"/>
              <a:ea typeface="Georgia"/>
              <a:cs typeface="Georgia"/>
              <a:sym typeface="Georgia"/>
            </a:endParaRPr>
          </a:p>
          <a:p>
            <a:pPr marL="749300" lvl="0" indent="-400050" algn="l" rtl="0">
              <a:lnSpc>
                <a:spcPct val="100000"/>
              </a:lnSpc>
              <a:spcBef>
                <a:spcPts val="1000"/>
              </a:spcBef>
              <a:spcAft>
                <a:spcPts val="0"/>
              </a:spcAft>
              <a:buClr>
                <a:srgbClr val="242424"/>
              </a:buClr>
              <a:buSzPts val="2700"/>
              <a:buFont typeface="Georgia"/>
              <a:buChar char="●"/>
            </a:pPr>
            <a:r>
              <a:rPr lang="en-US" sz="2700" b="1">
                <a:solidFill>
                  <a:srgbClr val="242424"/>
                </a:solidFill>
                <a:highlight>
                  <a:srgbClr val="FFFFFF"/>
                </a:highlight>
                <a:latin typeface="Georgia"/>
                <a:ea typeface="Georgia"/>
                <a:cs typeface="Georgia"/>
                <a:sym typeface="Georgia"/>
              </a:rPr>
              <a:t>Stats-collector</a:t>
            </a:r>
            <a:endParaRPr sz="2700" b="1">
              <a:solidFill>
                <a:srgbClr val="242424"/>
              </a:solidFill>
              <a:highlight>
                <a:srgbClr val="FFFFFF"/>
              </a:highlight>
              <a:latin typeface="Georgia"/>
              <a:ea typeface="Georgia"/>
              <a:cs typeface="Georgia"/>
              <a:sym typeface="Georgia"/>
            </a:endParaRPr>
          </a:p>
          <a:p>
            <a:pPr marL="749300" lvl="0" indent="-400050" algn="l" rtl="0">
              <a:lnSpc>
                <a:spcPct val="100000"/>
              </a:lnSpc>
              <a:spcBef>
                <a:spcPts val="1000"/>
              </a:spcBef>
              <a:spcAft>
                <a:spcPts val="0"/>
              </a:spcAft>
              <a:buClr>
                <a:srgbClr val="242424"/>
              </a:buClr>
              <a:buSzPts val="2700"/>
              <a:buFont typeface="Georgia"/>
              <a:buChar char="●"/>
            </a:pPr>
            <a:r>
              <a:rPr lang="en-US" sz="2700" b="1">
                <a:solidFill>
                  <a:srgbClr val="242424"/>
                </a:solidFill>
                <a:highlight>
                  <a:srgbClr val="FFFFFF"/>
                </a:highlight>
                <a:latin typeface="Georgia"/>
                <a:ea typeface="Georgia"/>
                <a:cs typeface="Georgia"/>
                <a:sym typeface="Georgia"/>
              </a:rPr>
              <a:t>Autovacuum launcher</a:t>
            </a:r>
            <a:endParaRPr sz="2700" b="1">
              <a:solidFill>
                <a:srgbClr val="242424"/>
              </a:solidFill>
              <a:highlight>
                <a:srgbClr val="FFFFFF"/>
              </a:highlight>
              <a:latin typeface="Georgia"/>
              <a:ea typeface="Georgia"/>
              <a:cs typeface="Georgia"/>
              <a:sym typeface="Georgia"/>
            </a:endParaRPr>
          </a:p>
          <a:p>
            <a:pPr marL="749300" lvl="0" indent="-400050" algn="l" rtl="0">
              <a:lnSpc>
                <a:spcPct val="100000"/>
              </a:lnSpc>
              <a:spcBef>
                <a:spcPts val="1000"/>
              </a:spcBef>
              <a:spcAft>
                <a:spcPts val="0"/>
              </a:spcAft>
              <a:buClr>
                <a:srgbClr val="242424"/>
              </a:buClr>
              <a:buSzPts val="2700"/>
              <a:buFont typeface="Georgia"/>
              <a:buChar char="●"/>
            </a:pPr>
            <a:r>
              <a:rPr lang="en-US" sz="2700" b="1">
                <a:solidFill>
                  <a:srgbClr val="242424"/>
                </a:solidFill>
                <a:highlight>
                  <a:srgbClr val="FFFFFF"/>
                </a:highlight>
                <a:latin typeface="Georgia"/>
                <a:ea typeface="Georgia"/>
                <a:cs typeface="Georgia"/>
                <a:sym typeface="Georgia"/>
              </a:rPr>
              <a:t>Archiver</a:t>
            </a:r>
            <a:endParaRPr sz="2700" b="1">
              <a:solidFill>
                <a:srgbClr val="242424"/>
              </a:solidFill>
              <a:highlight>
                <a:srgbClr val="FFFFFF"/>
              </a:highlight>
              <a:latin typeface="Georgia"/>
              <a:ea typeface="Georgia"/>
              <a:cs typeface="Georgia"/>
              <a:sym typeface="Georgia"/>
            </a:endParaRPr>
          </a:p>
          <a:p>
            <a:pPr marL="749300" lvl="0" indent="-400050" algn="l" rtl="0">
              <a:lnSpc>
                <a:spcPct val="100000"/>
              </a:lnSpc>
              <a:spcBef>
                <a:spcPts val="1000"/>
              </a:spcBef>
              <a:spcAft>
                <a:spcPts val="0"/>
              </a:spcAft>
              <a:buClr>
                <a:srgbClr val="242424"/>
              </a:buClr>
              <a:buSzPts val="2700"/>
              <a:buFont typeface="Georgia"/>
              <a:buChar char="●"/>
            </a:pPr>
            <a:r>
              <a:rPr lang="en-US" sz="2700" b="1">
                <a:solidFill>
                  <a:srgbClr val="242424"/>
                </a:solidFill>
                <a:highlight>
                  <a:srgbClr val="FFFFFF"/>
                </a:highlight>
                <a:latin typeface="Georgia"/>
                <a:ea typeface="Georgia"/>
                <a:cs typeface="Georgia"/>
                <a:sym typeface="Georgia"/>
              </a:rPr>
              <a:t>Syslogger</a:t>
            </a:r>
            <a:endParaRPr sz="2700" b="1">
              <a:solidFill>
                <a:srgbClr val="242424"/>
              </a:solidFill>
              <a:highlight>
                <a:srgbClr val="FFFFFF"/>
              </a:highlight>
              <a:latin typeface="Georgia"/>
              <a:ea typeface="Georgia"/>
              <a:cs typeface="Georgia"/>
              <a:sym typeface="Georgia"/>
            </a:endParaRPr>
          </a:p>
          <a:p>
            <a:pPr marL="749300" lvl="0" indent="-400050" algn="l" rtl="0">
              <a:lnSpc>
                <a:spcPct val="100000"/>
              </a:lnSpc>
              <a:spcBef>
                <a:spcPts val="1000"/>
              </a:spcBef>
              <a:spcAft>
                <a:spcPts val="0"/>
              </a:spcAft>
              <a:buClr>
                <a:srgbClr val="242424"/>
              </a:buClr>
              <a:buSzPts val="2700"/>
              <a:buFont typeface="Georgia"/>
              <a:buChar char="●"/>
            </a:pPr>
            <a:r>
              <a:rPr lang="en-US" sz="2700" b="1">
                <a:solidFill>
                  <a:srgbClr val="242424"/>
                </a:solidFill>
                <a:highlight>
                  <a:srgbClr val="FFFFFF"/>
                </a:highlight>
                <a:latin typeface="Georgia"/>
                <a:ea typeface="Georgia"/>
                <a:cs typeface="Georgia"/>
                <a:sym typeface="Georgia"/>
              </a:rPr>
              <a:t>WAL Writer</a:t>
            </a:r>
            <a:endParaRPr sz="2700" b="1">
              <a:solidFill>
                <a:srgbClr val="242424"/>
              </a:solidFill>
              <a:highlight>
                <a:srgbClr val="FFFFFF"/>
              </a:highlight>
              <a:latin typeface="Georgia"/>
              <a:ea typeface="Georgia"/>
              <a:cs typeface="Georgia"/>
              <a:sym typeface="Georgia"/>
            </a:endParaRPr>
          </a:p>
          <a:p>
            <a:pPr marL="0" lvl="0" indent="0" algn="l" rtl="0">
              <a:lnSpc>
                <a:spcPct val="100000"/>
              </a:lnSpc>
              <a:spcBef>
                <a:spcPts val="1000"/>
              </a:spcBef>
              <a:spcAft>
                <a:spcPts val="0"/>
              </a:spcAft>
              <a:buClr>
                <a:schemeClr val="dk1"/>
              </a:buClr>
              <a:buSzPts val="1100"/>
              <a:buFont typeface="Arial"/>
              <a:buNone/>
            </a:pPr>
            <a:endParaRPr sz="4000" b="1">
              <a:solidFill>
                <a:schemeClr val="dk1"/>
              </a:solidFill>
            </a:endParaRPr>
          </a:p>
          <a:p>
            <a:pPr marL="0" lvl="0" indent="0" algn="l" rtl="0">
              <a:lnSpc>
                <a:spcPct val="100000"/>
              </a:lnSpc>
              <a:spcBef>
                <a:spcPts val="1000"/>
              </a:spcBef>
              <a:spcAft>
                <a:spcPts val="0"/>
              </a:spcAft>
              <a:buNone/>
            </a:pPr>
            <a:endParaRPr sz="4000" b="1">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2c9df8e0017_0_3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Physical Files</a:t>
            </a:r>
            <a:endParaRPr/>
          </a:p>
        </p:txBody>
      </p:sp>
      <p:sp>
        <p:nvSpPr>
          <p:cNvPr id="162" name="Google Shape;162;g2c9df8e0017_0_3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US"/>
              <a:t>Provide physical Storage to Data in Disk Storage.</a:t>
            </a:r>
            <a:endParaRPr/>
          </a:p>
          <a:p>
            <a:pPr marL="0" lvl="0" indent="0" algn="l" rtl="0">
              <a:spcBef>
                <a:spcPts val="1000"/>
              </a:spcBef>
              <a:spcAft>
                <a:spcPts val="0"/>
              </a:spcAft>
              <a:buClr>
                <a:schemeClr val="dk1"/>
              </a:buClr>
              <a:buSzPct val="39285"/>
              <a:buFont typeface="Arial"/>
              <a:buNone/>
            </a:pPr>
            <a:r>
              <a:rPr lang="en-US"/>
              <a:t>The data in these files are stored permanently and used for their respective operation.</a:t>
            </a:r>
            <a:endParaRPr/>
          </a:p>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Clr>
                <a:schemeClr val="dk1"/>
              </a:buClr>
              <a:buSzPct val="39285"/>
              <a:buFont typeface="Arial"/>
              <a:buNone/>
            </a:pPr>
            <a:r>
              <a:rPr lang="en-US"/>
              <a:t>The following listed are the physical files in the PostgreSQL database.</a:t>
            </a:r>
            <a:endParaRPr/>
          </a:p>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Clr>
                <a:schemeClr val="dk1"/>
              </a:buClr>
              <a:buSzPct val="39285"/>
              <a:buFont typeface="Arial"/>
              <a:buNone/>
            </a:pPr>
            <a:r>
              <a:rPr lang="en-US" b="1"/>
              <a:t>Data Files</a:t>
            </a:r>
            <a:endParaRPr b="1"/>
          </a:p>
          <a:p>
            <a:pPr marL="0" lvl="0" indent="0" algn="l" rtl="0">
              <a:spcBef>
                <a:spcPts val="1000"/>
              </a:spcBef>
              <a:spcAft>
                <a:spcPts val="0"/>
              </a:spcAft>
              <a:buClr>
                <a:schemeClr val="dk1"/>
              </a:buClr>
              <a:buSzPct val="39285"/>
              <a:buFont typeface="Arial"/>
              <a:buNone/>
            </a:pPr>
            <a:r>
              <a:rPr lang="en-US" b="1"/>
              <a:t>Wal Files</a:t>
            </a:r>
            <a:endParaRPr b="1"/>
          </a:p>
          <a:p>
            <a:pPr marL="0" lvl="0" indent="0" algn="l" rtl="0">
              <a:spcBef>
                <a:spcPts val="1000"/>
              </a:spcBef>
              <a:spcAft>
                <a:spcPts val="0"/>
              </a:spcAft>
              <a:buClr>
                <a:schemeClr val="dk1"/>
              </a:buClr>
              <a:buSzPct val="39285"/>
              <a:buFont typeface="Arial"/>
              <a:buNone/>
            </a:pPr>
            <a:r>
              <a:rPr lang="en-US" b="1"/>
              <a:t>Log Files</a:t>
            </a:r>
            <a:endParaRPr b="1"/>
          </a:p>
          <a:p>
            <a:pPr marL="0" lvl="0" indent="0" algn="l" rtl="0">
              <a:spcBef>
                <a:spcPts val="1000"/>
              </a:spcBef>
              <a:spcAft>
                <a:spcPts val="0"/>
              </a:spcAft>
              <a:buClr>
                <a:schemeClr val="dk1"/>
              </a:buClr>
              <a:buSzPct val="39285"/>
              <a:buFont typeface="Arial"/>
              <a:buNone/>
            </a:pPr>
            <a:r>
              <a:rPr lang="en-US" b="1"/>
              <a:t>Archive Logs</a:t>
            </a:r>
            <a:endParaRPr b="1"/>
          </a:p>
          <a:p>
            <a:pPr marL="0" lvl="0" indent="0" algn="l" rtl="0">
              <a:spcBef>
                <a:spcPts val="1000"/>
              </a:spcBef>
              <a:spcAft>
                <a:spcPts val="0"/>
              </a:spcAft>
              <a:buNone/>
            </a:pP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2c9df8e0017_0_43"/>
          <p:cNvSpPr txBox="1">
            <a:spLocks noGrp="1"/>
          </p:cNvSpPr>
          <p:nvPr>
            <p:ph type="body" idx="1"/>
          </p:nvPr>
        </p:nvSpPr>
        <p:spPr>
          <a:xfrm>
            <a:off x="959425" y="353575"/>
            <a:ext cx="10515600" cy="6013800"/>
          </a:xfrm>
          <a:prstGeom prst="rect">
            <a:avLst/>
          </a:prstGeom>
        </p:spPr>
        <p:txBody>
          <a:bodyPr spcFirstLastPara="1" wrap="square" lIns="91425" tIns="45700" rIns="91425" bIns="45700" anchor="t" anchorCtr="0">
            <a:normAutofit fontScale="92500" lnSpcReduction="10000"/>
          </a:bodyPr>
          <a:lstStyle/>
          <a:p>
            <a:pPr marL="0" lvl="0" indent="0" algn="l" rtl="0">
              <a:spcBef>
                <a:spcPts val="1000"/>
              </a:spcBef>
              <a:spcAft>
                <a:spcPts val="0"/>
              </a:spcAft>
              <a:buNone/>
            </a:pPr>
            <a:r>
              <a:rPr lang="en-US" b="1"/>
              <a:t>Data Files</a:t>
            </a:r>
            <a:endParaRPr b="1"/>
          </a:p>
          <a:p>
            <a:pPr marL="0" lvl="0" indent="0" algn="l" rtl="0">
              <a:spcBef>
                <a:spcPts val="1000"/>
              </a:spcBef>
              <a:spcAft>
                <a:spcPts val="0"/>
              </a:spcAft>
              <a:buClr>
                <a:schemeClr val="dk1"/>
              </a:buClr>
              <a:buSzPts val="1100"/>
              <a:buFont typeface="Arial"/>
              <a:buNone/>
            </a:pPr>
            <a:endParaRPr b="1"/>
          </a:p>
          <a:p>
            <a:pPr marL="457200" lvl="0" indent="-387350" algn="l" rtl="0">
              <a:lnSpc>
                <a:spcPct val="100000"/>
              </a:lnSpc>
              <a:spcBef>
                <a:spcPts val="1000"/>
              </a:spcBef>
              <a:spcAft>
                <a:spcPts val="0"/>
              </a:spcAft>
              <a:buSzPts val="2500"/>
              <a:buChar char="•"/>
            </a:pPr>
            <a:r>
              <a:rPr lang="en-US" sz="2500"/>
              <a:t>The PostgreSQL Data Files are used to store the</a:t>
            </a:r>
            <a:r>
              <a:rPr lang="en-US" sz="2500" b="1"/>
              <a:t> actual data</a:t>
            </a:r>
            <a:r>
              <a:rPr lang="en-US" sz="2500"/>
              <a:t>.</a:t>
            </a:r>
            <a:endParaRPr sz="2500"/>
          </a:p>
          <a:p>
            <a:pPr marL="457200" lvl="0" indent="-387350" algn="l" rtl="0">
              <a:lnSpc>
                <a:spcPct val="100000"/>
              </a:lnSpc>
              <a:spcBef>
                <a:spcPts val="1000"/>
              </a:spcBef>
              <a:spcAft>
                <a:spcPts val="0"/>
              </a:spcAft>
              <a:buSzPts val="2500"/>
              <a:buChar char="•"/>
            </a:pPr>
            <a:r>
              <a:rPr lang="en-US" sz="2500"/>
              <a:t> It stores the actual data and</a:t>
            </a:r>
            <a:r>
              <a:rPr lang="en-US" sz="2500" b="1"/>
              <a:t> no such instruction or any kind of code information. </a:t>
            </a:r>
            <a:endParaRPr sz="2500" b="1"/>
          </a:p>
          <a:p>
            <a:pPr marL="457200" lvl="0" indent="-387350" algn="l" rtl="0">
              <a:lnSpc>
                <a:spcPct val="100000"/>
              </a:lnSpc>
              <a:spcBef>
                <a:spcPts val="1000"/>
              </a:spcBef>
              <a:spcAft>
                <a:spcPts val="0"/>
              </a:spcAft>
              <a:buSzPts val="2500"/>
              <a:buChar char="•"/>
            </a:pPr>
            <a:r>
              <a:rPr lang="en-US" sz="2500"/>
              <a:t>When the user requests the data, PostgreSQL looks for the data in the shared buffer if it is not there then it loads data from the data files in the shared buffer and then processes further.</a:t>
            </a:r>
            <a:endParaRPr sz="2500"/>
          </a:p>
          <a:p>
            <a:pPr marL="457200" lvl="0" indent="0" algn="l" rtl="0">
              <a:lnSpc>
                <a:spcPct val="100000"/>
              </a:lnSpc>
              <a:spcBef>
                <a:spcPts val="1000"/>
              </a:spcBef>
              <a:spcAft>
                <a:spcPts val="0"/>
              </a:spcAft>
              <a:buNone/>
            </a:pPr>
            <a:endParaRPr sz="2500"/>
          </a:p>
          <a:p>
            <a:pPr marL="0" lvl="0" indent="0" algn="l" rtl="0">
              <a:lnSpc>
                <a:spcPct val="100000"/>
              </a:lnSpc>
              <a:spcBef>
                <a:spcPts val="1000"/>
              </a:spcBef>
              <a:spcAft>
                <a:spcPts val="0"/>
              </a:spcAft>
              <a:buNone/>
            </a:pPr>
            <a:r>
              <a:rPr lang="en-US" sz="3040" b="1"/>
              <a:t>Wal Files</a:t>
            </a:r>
            <a:endParaRPr sz="3040" b="1"/>
          </a:p>
          <a:p>
            <a:pPr marL="457200" lvl="0" indent="-387350" algn="l" rtl="0">
              <a:lnSpc>
                <a:spcPct val="100000"/>
              </a:lnSpc>
              <a:spcBef>
                <a:spcPts val="1000"/>
              </a:spcBef>
              <a:spcAft>
                <a:spcPts val="0"/>
              </a:spcAft>
              <a:buSzPts val="2500"/>
              <a:buChar char="•"/>
            </a:pPr>
            <a:r>
              <a:rPr lang="en-US" sz="2500"/>
              <a:t>The PostgreSQL WAL files are used to </a:t>
            </a:r>
            <a:r>
              <a:rPr lang="en-US" sz="2500" b="1"/>
              <a:t>store all changes</a:t>
            </a:r>
            <a:r>
              <a:rPr lang="en-US" sz="2500"/>
              <a:t> from the WAL Buffer </a:t>
            </a:r>
            <a:r>
              <a:rPr lang="en-US" sz="2500" b="1"/>
              <a:t>before the commit happens. </a:t>
            </a:r>
            <a:endParaRPr sz="2500" b="1"/>
          </a:p>
          <a:p>
            <a:pPr marL="457200" lvl="0" indent="-387350" algn="l" rtl="0">
              <a:lnSpc>
                <a:spcPct val="100000"/>
              </a:lnSpc>
              <a:spcBef>
                <a:spcPts val="1000"/>
              </a:spcBef>
              <a:spcAft>
                <a:spcPts val="0"/>
              </a:spcAft>
              <a:buSzPts val="2500"/>
              <a:buChar char="•"/>
            </a:pPr>
            <a:r>
              <a:rPr lang="en-US" sz="2500"/>
              <a:t>WAL files are primarily used to maintain durability and consistency during a write operation on database storage.</a:t>
            </a:r>
            <a:endParaRPr sz="2500"/>
          </a:p>
          <a:p>
            <a:pPr marL="0" lvl="0" indent="0" algn="l" rtl="0">
              <a:lnSpc>
                <a:spcPct val="100000"/>
              </a:lnSpc>
              <a:spcBef>
                <a:spcPts val="1000"/>
              </a:spcBef>
              <a:spcAft>
                <a:spcPts val="0"/>
              </a:spcAft>
              <a:buNone/>
            </a:pPr>
            <a:endParaRPr sz="25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2c9df8e0017_0_52"/>
          <p:cNvSpPr txBox="1">
            <a:spLocks noGrp="1"/>
          </p:cNvSpPr>
          <p:nvPr>
            <p:ph type="body" idx="1"/>
          </p:nvPr>
        </p:nvSpPr>
        <p:spPr>
          <a:xfrm>
            <a:off x="734300" y="718650"/>
            <a:ext cx="10515600" cy="5420700"/>
          </a:xfrm>
          <a:prstGeom prst="rect">
            <a:avLst/>
          </a:prstGeom>
        </p:spPr>
        <p:txBody>
          <a:bodyPr spcFirstLastPara="1" wrap="square" lIns="91425" tIns="45700" rIns="91425" bIns="45700" anchor="t" anchorCtr="0">
            <a:normAutofit fontScale="92500"/>
          </a:bodyPr>
          <a:lstStyle/>
          <a:p>
            <a:pPr marL="0" lvl="0" indent="0" algn="l" rtl="0">
              <a:spcBef>
                <a:spcPts val="1000"/>
              </a:spcBef>
              <a:spcAft>
                <a:spcPts val="0"/>
              </a:spcAft>
              <a:buClr>
                <a:schemeClr val="dk1"/>
              </a:buClr>
              <a:buSzPts val="1100"/>
              <a:buFont typeface="Arial"/>
              <a:buNone/>
            </a:pPr>
            <a:r>
              <a:rPr lang="en-US" b="1"/>
              <a:t>Log Files</a:t>
            </a:r>
            <a:endParaRPr b="1"/>
          </a:p>
          <a:p>
            <a:pPr marL="457200" lvl="0" indent="-342900" algn="l" rtl="0">
              <a:spcBef>
                <a:spcPts val="1000"/>
              </a:spcBef>
              <a:spcAft>
                <a:spcPts val="0"/>
              </a:spcAft>
              <a:buSzPts val="1800"/>
              <a:buChar char="•"/>
            </a:pPr>
            <a:r>
              <a:rPr lang="en-US"/>
              <a:t>The PostgreSQL Log files store all logs related to the server, stderr, csvlog, Syslog, error message, warning message, informative message, and so on. </a:t>
            </a:r>
            <a:endParaRPr/>
          </a:p>
          <a:p>
            <a:pPr marL="457200" lvl="0" indent="-342900" algn="l" rtl="0">
              <a:spcBef>
                <a:spcPts val="0"/>
              </a:spcBef>
              <a:spcAft>
                <a:spcPts val="0"/>
              </a:spcAft>
              <a:buSzPts val="1800"/>
              <a:buChar char="•"/>
            </a:pPr>
            <a:r>
              <a:rPr lang="en-US"/>
              <a:t>It helps the database administrator to debug any issue in detail.</a:t>
            </a:r>
            <a:endParaRPr/>
          </a:p>
          <a:p>
            <a:pPr marL="0" lvl="0" indent="0" algn="l" rtl="0">
              <a:spcBef>
                <a:spcPts val="1000"/>
              </a:spcBef>
              <a:spcAft>
                <a:spcPts val="0"/>
              </a:spcAft>
              <a:buNone/>
            </a:pPr>
            <a:endParaRPr/>
          </a:p>
          <a:p>
            <a:pPr marL="0" lvl="0" indent="0" algn="l" rtl="0">
              <a:spcBef>
                <a:spcPts val="1000"/>
              </a:spcBef>
              <a:spcAft>
                <a:spcPts val="0"/>
              </a:spcAft>
              <a:buClr>
                <a:schemeClr val="dk1"/>
              </a:buClr>
              <a:buSzPts val="1100"/>
              <a:buFont typeface="Arial"/>
              <a:buNone/>
            </a:pPr>
            <a:r>
              <a:rPr lang="en-US" b="1"/>
              <a:t>Archive Logs</a:t>
            </a:r>
            <a:endParaRPr b="1"/>
          </a:p>
          <a:p>
            <a:pPr marL="457200" lvl="0" indent="-342900" algn="l" rtl="0">
              <a:spcBef>
                <a:spcPts val="1000"/>
              </a:spcBef>
              <a:spcAft>
                <a:spcPts val="0"/>
              </a:spcAft>
              <a:buSzPts val="1800"/>
              <a:buChar char="•"/>
            </a:pPr>
            <a:r>
              <a:rPr lang="en-US"/>
              <a:t>The PostgreSQL Archive Log files are used to store the WAL segment on the disk. </a:t>
            </a:r>
            <a:endParaRPr/>
          </a:p>
          <a:p>
            <a:pPr marL="457200" lvl="0" indent="-342900" algn="l" rtl="0">
              <a:spcBef>
                <a:spcPts val="0"/>
              </a:spcBef>
              <a:spcAft>
                <a:spcPts val="0"/>
              </a:spcAft>
              <a:buSzPts val="1800"/>
              <a:buChar char="•"/>
            </a:pPr>
            <a:r>
              <a:rPr lang="en-US"/>
              <a:t>The Archive logs are used in case there is an unexpected crash that happens due to which the data is lost, in that scenario the Archive logs are used to repair/recover the database.</a:t>
            </a:r>
            <a:endParaRPr/>
          </a:p>
          <a:p>
            <a:pPr marL="0" lvl="0" indent="0" algn="l" rtl="0">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680</Words>
  <Application>Microsoft Office PowerPoint</Application>
  <PresentationFormat>Widescreen</PresentationFormat>
  <Paragraphs>105</Paragraphs>
  <Slides>16</Slides>
  <Notes>16</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Georgia</vt:lpstr>
      <vt:lpstr>Play</vt:lpstr>
      <vt:lpstr>Courier New</vt:lpstr>
      <vt:lpstr>office theme</vt:lpstr>
      <vt:lpstr>PostgreSQL  </vt:lpstr>
      <vt:lpstr>Why do we need PostgreSQL? </vt:lpstr>
      <vt:lpstr>PowerPoint Presentation</vt:lpstr>
      <vt:lpstr>PowerPoint Presentation</vt:lpstr>
      <vt:lpstr>Object oriented features</vt:lpstr>
      <vt:lpstr>  PostgreSQL – System Architecture </vt:lpstr>
      <vt:lpstr>System Architecture</vt:lpstr>
      <vt:lpstr>Client-side Process : </vt:lpstr>
      <vt:lpstr>1. Postmaster Daemon Process : </vt:lpstr>
      <vt:lpstr>Shared Memory</vt:lpstr>
      <vt:lpstr>PowerPoint Presentation</vt:lpstr>
      <vt:lpstr>2. Back-end process: </vt:lpstr>
      <vt:lpstr>3. Background processes</vt:lpstr>
      <vt:lpstr>Physical Files</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PostgreSQL</dc:title>
  <dc:creator>Komal S</dc:creator>
  <cp:lastModifiedBy>Komal S</cp:lastModifiedBy>
  <cp:revision>3</cp:revision>
  <dcterms:created xsi:type="dcterms:W3CDTF">2024-04-07T06:08:27Z</dcterms:created>
  <dcterms:modified xsi:type="dcterms:W3CDTF">2024-05-03T09:20:42Z</dcterms:modified>
</cp:coreProperties>
</file>