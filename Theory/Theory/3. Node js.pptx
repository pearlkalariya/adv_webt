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7" r:id="rId1"/>
  </p:sldMasterIdLst>
  <p:sldIdLst>
    <p:sldId id="262" r:id="rId2"/>
    <p:sldId id="256" r:id="rId3"/>
    <p:sldId id="274" r:id="rId4"/>
    <p:sldId id="257" r:id="rId5"/>
    <p:sldId id="258" r:id="rId6"/>
    <p:sldId id="259" r:id="rId7"/>
    <p:sldId id="264" r:id="rId8"/>
    <p:sldId id="273" r:id="rId9"/>
    <p:sldId id="265" r:id="rId10"/>
    <p:sldId id="266" r:id="rId11"/>
    <p:sldId id="267" r:id="rId12"/>
    <p:sldId id="272" r:id="rId13"/>
    <p:sldId id="268" r:id="rId14"/>
    <p:sldId id="269" r:id="rId15"/>
    <p:sldId id="270" r:id="rId16"/>
    <p:sldId id="271" r:id="rId17"/>
    <p:sldId id="260" r:id="rId18"/>
    <p:sldId id="261" r:id="rId19"/>
    <p:sldId id="263" r:id="rId20"/>
  </p:sldIdLst>
  <p:sldSz cx="12192000" cy="6858000"/>
  <p:notesSz cx="7010400" cy="9296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51" autoAdjust="0"/>
    <p:restoredTop sz="94660"/>
  </p:normalViewPr>
  <p:slideViewPr>
    <p:cSldViewPr snapToGrid="0">
      <p:cViewPr varScale="1">
        <p:scale>
          <a:sx n="91" d="100"/>
          <a:sy n="91" d="100"/>
        </p:scale>
        <p:origin x="48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154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40513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4970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69773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1/8/2024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35103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1/8/2024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60486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1/8/2024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6591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6800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86935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54984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356865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78257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648616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43880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77744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25324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4080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8" r:id="rId1"/>
    <p:sldLayoutId id="2147483849" r:id="rId2"/>
    <p:sldLayoutId id="2147483850" r:id="rId3"/>
    <p:sldLayoutId id="2147483851" r:id="rId4"/>
    <p:sldLayoutId id="2147483852" r:id="rId5"/>
    <p:sldLayoutId id="2147483853" r:id="rId6"/>
    <p:sldLayoutId id="2147483854" r:id="rId7"/>
    <p:sldLayoutId id="2147483855" r:id="rId8"/>
    <p:sldLayoutId id="2147483856" r:id="rId9"/>
    <p:sldLayoutId id="2147483857" r:id="rId10"/>
    <p:sldLayoutId id="2147483858" r:id="rId11"/>
    <p:sldLayoutId id="2147483859" r:id="rId12"/>
    <p:sldLayoutId id="2147483860" r:id="rId13"/>
    <p:sldLayoutId id="2147483861" r:id="rId14"/>
    <p:sldLayoutId id="2147483862" r:id="rId15"/>
    <p:sldLayoutId id="214748386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nodejs.org/api/url.html" TargetMode="External"/><Relationship Id="rId7" Type="http://schemas.openxmlformats.org/officeDocument/2006/relationships/hyperlink" Target="https://nodejs.org/api/util.html" TargetMode="External"/><Relationship Id="rId2" Type="http://schemas.openxmlformats.org/officeDocument/2006/relationships/hyperlink" Target="https://nodejs.org/api/http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nodejs.org/api/fs.html" TargetMode="External"/><Relationship Id="rId5" Type="http://schemas.openxmlformats.org/officeDocument/2006/relationships/hyperlink" Target="https://nodejs.org/api/path.html" TargetMode="External"/><Relationship Id="rId4" Type="http://schemas.openxmlformats.org/officeDocument/2006/relationships/hyperlink" Target="https://nodejs.org/api/querystring.html" TargetMode="Externa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133" y="2052638"/>
            <a:ext cx="8024533" cy="4195762"/>
          </a:xfrm>
        </p:spPr>
      </p:pic>
    </p:spTree>
    <p:extLst>
      <p:ext uri="{BB962C8B-B14F-4D97-AF65-F5344CB8AC3E}">
        <p14:creationId xmlns:p14="http://schemas.microsoft.com/office/powerpoint/2010/main" val="2588672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Node </a:t>
            </a:r>
            <a:r>
              <a:rPr lang="en-US" dirty="0" err="1" smtClean="0"/>
              <a:t>js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By Komal </a:t>
            </a:r>
            <a:r>
              <a:rPr lang="en-US" dirty="0"/>
              <a:t>S</a:t>
            </a:r>
            <a:r>
              <a:rPr lang="en-US" dirty="0" smtClean="0"/>
              <a:t>ingh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110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idea behind node.js….</a:t>
            </a:r>
            <a:endParaRPr lang="en-US" dirty="0">
              <a:solidFill>
                <a:srgbClr val="92D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601663" lvl="1" indent="-342900" algn="just">
              <a:buFont typeface="Wingdings" panose="05000000000000000000" pitchFamily="2" charset="2"/>
              <a:buChar char="Ø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 asynchronous processing on single thread instead of classical multithread processing, </a:t>
            </a:r>
            <a:r>
              <a:rPr lang="en-US" alt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minimise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overhead &amp; latency, </a:t>
            </a:r>
            <a:r>
              <a:rPr lang="en-US" alt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maximise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scalability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01663" lvl="1" indent="-342900" algn="just">
              <a:buFont typeface="Wingdings" panose="05000000000000000000" pitchFamily="2" charset="2"/>
              <a:buChar char="Ø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Scale horizontally instead of 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vertically</a:t>
            </a:r>
          </a:p>
          <a:p>
            <a:pPr marL="601663" lvl="1" indent="-342900" algn="just">
              <a:buFont typeface="Wingdings" panose="05000000000000000000" pitchFamily="2" charset="2"/>
              <a:buChar char="Ø"/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Ideal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applications that serve a lot of requests but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dont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use/need lots of computational power per 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request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01663" lvl="1" indent="-342900" algn="just">
              <a:buFont typeface="Wingdings" panose="05000000000000000000" pitchFamily="2" charset="2"/>
              <a:buChar char="Ø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so ideal for heavy calculations, e.g. massive parallel 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computing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01663" lvl="1" indent="-342900" algn="just">
              <a:buFont typeface="Wingdings" panose="05000000000000000000" pitchFamily="2" charset="2"/>
              <a:buChar char="Ø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Also: Less problems with concurrency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54345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Node </a:t>
            </a:r>
            <a:r>
              <a:rPr lang="en-US" dirty="0" err="1" smtClean="0"/>
              <a:t>js</a:t>
            </a:r>
            <a:r>
              <a:rPr lang="en-US" dirty="0" smtClean="0"/>
              <a:t>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1636890"/>
            <a:ext cx="8946541" cy="4611510"/>
          </a:xfrm>
        </p:spPr>
        <p:txBody>
          <a:bodyPr>
            <a:normAutofit lnSpcReduction="10000"/>
          </a:bodyPr>
          <a:lstStyle/>
          <a:p>
            <a:r>
              <a:rPr lang="en-US" sz="2400" dirty="0" smtClean="0"/>
              <a:t>Node is not a language</a:t>
            </a:r>
          </a:p>
          <a:p>
            <a:r>
              <a:rPr lang="en-US" sz="2400" dirty="0" smtClean="0"/>
              <a:t>Node is a server environment</a:t>
            </a:r>
          </a:p>
          <a:p>
            <a:r>
              <a:rPr lang="en-US" sz="2400" dirty="0" smtClean="0"/>
              <a:t>Node </a:t>
            </a:r>
            <a:r>
              <a:rPr lang="en-US" sz="2400" dirty="0" err="1" smtClean="0"/>
              <a:t>js</a:t>
            </a:r>
            <a:r>
              <a:rPr lang="en-US" sz="2400" dirty="0" smtClean="0"/>
              <a:t> can connect with the database</a:t>
            </a:r>
          </a:p>
          <a:p>
            <a:r>
              <a:rPr lang="en-US" sz="2400" dirty="0" smtClean="0"/>
              <a:t>Code and syntax is very similar to </a:t>
            </a:r>
            <a:r>
              <a:rPr lang="en-US" sz="2400" dirty="0" err="1" smtClean="0"/>
              <a:t>javascript</a:t>
            </a:r>
            <a:r>
              <a:rPr lang="en-US" sz="2400" dirty="0" smtClean="0"/>
              <a:t> but not exactly the same.</a:t>
            </a:r>
          </a:p>
          <a:p>
            <a:r>
              <a:rPr lang="en-US" sz="2400" dirty="0" smtClean="0"/>
              <a:t>Node </a:t>
            </a:r>
            <a:r>
              <a:rPr lang="en-US" sz="2400" dirty="0" err="1" smtClean="0"/>
              <a:t>js</a:t>
            </a:r>
            <a:r>
              <a:rPr lang="en-US" sz="2400" dirty="0" smtClean="0"/>
              <a:t> free ,open source</a:t>
            </a:r>
          </a:p>
          <a:p>
            <a:r>
              <a:rPr lang="en-US" sz="2400" dirty="0" smtClean="0"/>
              <a:t>Node </a:t>
            </a:r>
            <a:r>
              <a:rPr lang="en-US" sz="2400" dirty="0" err="1" smtClean="0"/>
              <a:t>js</a:t>
            </a:r>
            <a:r>
              <a:rPr lang="en-US" sz="2400" dirty="0" smtClean="0"/>
              <a:t> use chrome’s v8 engine to execute code.</a:t>
            </a:r>
          </a:p>
          <a:p>
            <a:r>
              <a:rPr lang="en-US" sz="2400" dirty="0"/>
              <a:t>Node JS provides fast and highly scalable services.</a:t>
            </a:r>
          </a:p>
          <a:p>
            <a:r>
              <a:rPr lang="en-US" sz="2400" dirty="0"/>
              <a:t>The source code in node </a:t>
            </a:r>
            <a:r>
              <a:rPr lang="en-US" sz="2400" dirty="0" err="1"/>
              <a:t>js</a:t>
            </a:r>
            <a:r>
              <a:rPr lang="en-US" sz="2400" dirty="0"/>
              <a:t> is more consistent and clean.</a:t>
            </a:r>
          </a:p>
          <a:p>
            <a:r>
              <a:rPr lang="en-US" sz="2400" dirty="0"/>
              <a:t>It provides a large ecosystem for open source </a:t>
            </a:r>
            <a:r>
              <a:rPr lang="en-US" sz="2400" dirty="0" smtClean="0"/>
              <a:t>libraries.</a:t>
            </a:r>
            <a:endParaRPr lang="en-US" sz="2400" dirty="0"/>
          </a:p>
          <a:p>
            <a:endParaRPr lang="en-US" dirty="0" smtClean="0"/>
          </a:p>
          <a:p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46959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Definition of node </a:t>
            </a:r>
            <a:r>
              <a:rPr lang="en-US" dirty="0" err="1" smtClean="0"/>
              <a:t>js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Node JS is an open-source and provides a cross-platform runtime environment that helps for executing </a:t>
            </a:r>
            <a:r>
              <a:rPr lang="en-US" sz="2400" dirty="0" err="1"/>
              <a:t>javascript</a:t>
            </a:r>
            <a:r>
              <a:rPr lang="en-US" sz="2400" dirty="0"/>
              <a:t> code outside the browser. </a:t>
            </a:r>
            <a:endParaRPr lang="en-US" sz="2400" dirty="0" smtClean="0"/>
          </a:p>
          <a:p>
            <a:r>
              <a:rPr lang="en-US" sz="2400" dirty="0" smtClean="0"/>
              <a:t>Hence </a:t>
            </a:r>
            <a:r>
              <a:rPr lang="en-US" sz="2400" dirty="0"/>
              <a:t>it is not the framework and its not a programming language. Most of the time node </a:t>
            </a:r>
            <a:r>
              <a:rPr lang="en-US" sz="2400" dirty="0" err="1"/>
              <a:t>js</a:t>
            </a:r>
            <a:r>
              <a:rPr lang="en-US" sz="2400" dirty="0"/>
              <a:t> are used as building back end services like APIs (Web App or Mobile App). </a:t>
            </a:r>
            <a:endParaRPr lang="en-US" sz="2400" dirty="0" smtClean="0"/>
          </a:p>
          <a:p>
            <a:r>
              <a:rPr lang="en-US" sz="2400" dirty="0" smtClean="0"/>
              <a:t>Large </a:t>
            </a:r>
            <a:r>
              <a:rPr lang="en-US" sz="2400" dirty="0"/>
              <a:t>companies like Netflix, </a:t>
            </a:r>
            <a:r>
              <a:rPr lang="en-US" sz="2400" dirty="0" err="1"/>
              <a:t>Wallmart</a:t>
            </a:r>
            <a:r>
              <a:rPr lang="en-US" sz="2400" dirty="0"/>
              <a:t>, PayPal, Uber use the node </a:t>
            </a:r>
            <a:r>
              <a:rPr lang="en-US" sz="2400" dirty="0" err="1"/>
              <a:t>js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r>
              <a:rPr lang="en-US" sz="2400" dirty="0"/>
              <a:t/>
            </a:r>
            <a:br>
              <a:rPr lang="en-US" sz="2400" dirty="0"/>
            </a:b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468780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184171"/>
          </a:xfrm>
        </p:spPr>
        <p:txBody>
          <a:bodyPr/>
          <a:lstStyle/>
          <a:p>
            <a:r>
              <a:rPr lang="en-US" dirty="0" smtClean="0"/>
              <a:t>Why do we use Node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1207912"/>
            <a:ext cx="8946541" cy="5034844"/>
          </a:xfrm>
        </p:spPr>
        <p:txBody>
          <a:bodyPr>
            <a:noAutofit/>
          </a:bodyPr>
          <a:lstStyle/>
          <a:p>
            <a:r>
              <a:rPr lang="en-US" sz="2400" dirty="0" err="1"/>
              <a:t>NodeJs</a:t>
            </a:r>
            <a:r>
              <a:rPr lang="en-US" sz="2400" dirty="0"/>
              <a:t> is built on Google Chrome’s V8 engine, and for this reason its execution time is very fast and it runs very quickly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Node </a:t>
            </a:r>
            <a:r>
              <a:rPr lang="en-US" sz="2400" dirty="0" err="1" smtClean="0"/>
              <a:t>js</a:t>
            </a:r>
            <a:r>
              <a:rPr lang="en-US" sz="2400" dirty="0" smtClean="0"/>
              <a:t> is mostly used for API.</a:t>
            </a:r>
          </a:p>
          <a:p>
            <a:r>
              <a:rPr lang="en-US" sz="2400" dirty="0" smtClean="0"/>
              <a:t>So we can connect the same </a:t>
            </a:r>
            <a:r>
              <a:rPr lang="en-US" sz="2400" dirty="0" err="1" smtClean="0"/>
              <a:t>databse</a:t>
            </a:r>
            <a:r>
              <a:rPr lang="en-US" sz="2400" dirty="0" smtClean="0"/>
              <a:t> with web </a:t>
            </a:r>
            <a:r>
              <a:rPr lang="en-US" sz="2400" dirty="0" err="1" smtClean="0"/>
              <a:t>app,mobile</a:t>
            </a:r>
            <a:r>
              <a:rPr lang="en-US" sz="2400" dirty="0" smtClean="0"/>
              <a:t> app.</a:t>
            </a:r>
          </a:p>
          <a:p>
            <a:r>
              <a:rPr lang="en-US" sz="2400" dirty="0" smtClean="0"/>
              <a:t>Node </a:t>
            </a:r>
            <a:r>
              <a:rPr lang="en-US" sz="2400" dirty="0" err="1" smtClean="0"/>
              <a:t>js</a:t>
            </a:r>
            <a:r>
              <a:rPr lang="en-US" sz="2400" dirty="0" smtClean="0"/>
              <a:t> is easy to understand who know </a:t>
            </a:r>
            <a:r>
              <a:rPr lang="en-US" sz="2400" dirty="0" err="1" smtClean="0"/>
              <a:t>javascript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Node </a:t>
            </a:r>
            <a:r>
              <a:rPr lang="en-US" sz="2400" dirty="0" err="1" smtClean="0"/>
              <a:t>js</a:t>
            </a:r>
            <a:r>
              <a:rPr lang="en-US" sz="2400" dirty="0" smtClean="0"/>
              <a:t> is superfast for APIs.</a:t>
            </a:r>
          </a:p>
          <a:p>
            <a:r>
              <a:rPr lang="en-US" sz="2400" dirty="0" smtClean="0"/>
              <a:t>With node and </a:t>
            </a:r>
            <a:r>
              <a:rPr lang="en-US" sz="2400" dirty="0" err="1" smtClean="0"/>
              <a:t>javascript</a:t>
            </a:r>
            <a:r>
              <a:rPr lang="en-US" sz="2400" dirty="0" smtClean="0"/>
              <a:t> ,you became the full stack developer.</a:t>
            </a:r>
          </a:p>
          <a:p>
            <a:r>
              <a:rPr lang="en-US" sz="2400" dirty="0" err="1"/>
              <a:t>NodeJS</a:t>
            </a:r>
            <a:r>
              <a:rPr lang="en-US" sz="2400" dirty="0"/>
              <a:t> </a:t>
            </a:r>
            <a:r>
              <a:rPr lang="en-US" sz="2400" dirty="0" smtClean="0"/>
              <a:t>Applications:</a:t>
            </a:r>
            <a:endParaRPr lang="en-US" sz="2400" dirty="0"/>
          </a:p>
          <a:p>
            <a:r>
              <a:rPr lang="en-US" sz="2400" dirty="0"/>
              <a:t>Complex single-page </a:t>
            </a:r>
            <a:r>
              <a:rPr lang="en-US" sz="2400" dirty="0" smtClean="0"/>
              <a:t>applications.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945989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282222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4445" y="1302634"/>
            <a:ext cx="8596668" cy="5222344"/>
          </a:xfrm>
        </p:spPr>
        <p:txBody>
          <a:bodyPr/>
          <a:lstStyle/>
          <a:p>
            <a:r>
              <a:rPr lang="en-US" sz="2400" dirty="0"/>
              <a:t>Real-Time Chats.</a:t>
            </a:r>
          </a:p>
          <a:p>
            <a:r>
              <a:rPr lang="en-US" sz="2400" dirty="0"/>
              <a:t>Real-time collaboration tools</a:t>
            </a:r>
            <a:r>
              <a:rPr lang="en-US" sz="2400" dirty="0" smtClean="0"/>
              <a:t>.</a:t>
            </a:r>
            <a:endParaRPr lang="en-US" sz="2400" dirty="0"/>
          </a:p>
          <a:p>
            <a:r>
              <a:rPr lang="en-US" sz="2400" dirty="0" smtClean="0"/>
              <a:t>JSON </a:t>
            </a:r>
            <a:r>
              <a:rPr lang="en-US" sz="2400" dirty="0"/>
              <a:t>APIs based application.</a:t>
            </a:r>
          </a:p>
          <a:p>
            <a:r>
              <a:rPr lang="en-US" sz="2400" dirty="0"/>
              <a:t>Streaming apps</a:t>
            </a:r>
            <a:r>
              <a:rPr lang="en-US" sz="2400" dirty="0" smtClean="0"/>
              <a:t>.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3533423"/>
            <a:ext cx="7451902" cy="1998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986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00B050"/>
                </a:solidFill>
              </a:rPr>
              <a:t>Success Stories…..</a:t>
            </a:r>
            <a:endParaRPr lang="en-US" dirty="0"/>
          </a:p>
        </p:txBody>
      </p:sp>
      <p:pic>
        <p:nvPicPr>
          <p:cNvPr id="4" name="Picture 1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33" t="23128" r="14169" b="12105"/>
          <a:stretch>
            <a:fillRect/>
          </a:stretch>
        </p:blipFill>
        <p:spPr bwMode="auto">
          <a:xfrm>
            <a:off x="1245375" y="2160588"/>
            <a:ext cx="7461288" cy="3881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30090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Advantages of node </a:t>
            </a:r>
            <a:r>
              <a:rPr lang="en-US" dirty="0" err="1" smtClean="0"/>
              <a:t>js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1354668"/>
            <a:ext cx="8946541" cy="5271910"/>
          </a:xfrm>
        </p:spPr>
        <p:txBody>
          <a:bodyPr>
            <a:normAutofit fontScale="92500" lnSpcReduction="10000"/>
          </a:bodyPr>
          <a:lstStyle/>
          <a:p>
            <a:r>
              <a:rPr lang="en-US" sz="2600" b="1" dirty="0" smtClean="0"/>
              <a:t>Less </a:t>
            </a:r>
            <a:r>
              <a:rPr lang="en-US" sz="2600" b="1" dirty="0"/>
              <a:t>Learning Curve</a:t>
            </a:r>
          </a:p>
          <a:p>
            <a:r>
              <a:rPr lang="en-US" sz="2600" b="1" dirty="0"/>
              <a:t>Fast Development</a:t>
            </a:r>
          </a:p>
          <a:p>
            <a:r>
              <a:rPr lang="en-US" sz="2600" b="1" dirty="0"/>
              <a:t>Scalability</a:t>
            </a:r>
          </a:p>
          <a:p>
            <a:r>
              <a:rPr lang="en-US" sz="2600" b="1" dirty="0"/>
              <a:t>High Performance</a:t>
            </a:r>
          </a:p>
          <a:p>
            <a:r>
              <a:rPr lang="en-US" sz="2600" b="1" dirty="0" smtClean="0"/>
              <a:t>Real-Time </a:t>
            </a:r>
            <a:r>
              <a:rPr lang="en-US" sz="2600" b="1" dirty="0"/>
              <a:t>Applications</a:t>
            </a:r>
          </a:p>
          <a:p>
            <a:r>
              <a:rPr lang="en-US" sz="2600" b="1" dirty="0"/>
              <a:t>Great for </a:t>
            </a:r>
            <a:r>
              <a:rPr lang="en-US" sz="2600" b="1" dirty="0" err="1"/>
              <a:t>Microservices</a:t>
            </a:r>
            <a:endParaRPr lang="en-US" sz="2600" b="1" dirty="0"/>
          </a:p>
          <a:p>
            <a:r>
              <a:rPr lang="en-US" sz="2600" b="1" dirty="0"/>
              <a:t>Easy Maintainability</a:t>
            </a:r>
          </a:p>
          <a:p>
            <a:r>
              <a:rPr lang="en-US" sz="2600" b="1" dirty="0"/>
              <a:t>Extensive Libraries</a:t>
            </a:r>
          </a:p>
          <a:p>
            <a:r>
              <a:rPr lang="en-US" sz="2600" b="1" dirty="0"/>
              <a:t>Vast Community</a:t>
            </a:r>
          </a:p>
          <a:p>
            <a:r>
              <a:rPr lang="en-US" sz="2600" b="1" dirty="0" smtClean="0"/>
              <a:t>Cross-Platform</a:t>
            </a:r>
          </a:p>
          <a:p>
            <a:r>
              <a:rPr lang="en-US" sz="2600" b="1" dirty="0"/>
              <a:t>Highly Extensible</a:t>
            </a:r>
          </a:p>
          <a:p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8123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Node </a:t>
            </a:r>
            <a:r>
              <a:rPr lang="en-US" dirty="0" err="1"/>
              <a:t>J</a:t>
            </a:r>
            <a:r>
              <a:rPr lang="en-US" dirty="0" err="1" smtClean="0"/>
              <a:t>s</a:t>
            </a:r>
            <a:r>
              <a:rPr lang="en-US" dirty="0" smtClean="0"/>
              <a:t> : Modules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682045"/>
            <a:ext cx="8596668" cy="4359318"/>
          </a:xfrm>
        </p:spPr>
        <p:txBody>
          <a:bodyPr>
            <a:noAutofit/>
          </a:bodyPr>
          <a:lstStyle/>
          <a:p>
            <a:r>
              <a:rPr lang="en-US" sz="2400" dirty="0" smtClean="0"/>
              <a:t>What is module in node </a:t>
            </a:r>
            <a:r>
              <a:rPr lang="en-US" sz="2400" dirty="0" err="1" smtClean="0"/>
              <a:t>js</a:t>
            </a:r>
            <a:r>
              <a:rPr lang="en-US" sz="2400" dirty="0" smtClean="0"/>
              <a:t>?</a:t>
            </a:r>
          </a:p>
          <a:p>
            <a:r>
              <a:rPr lang="en-US" sz="2400" dirty="0"/>
              <a:t>Module in Node.js is a simple or complex functionality organized in single or multiple JavaScript files which can be reused throughout the Node.js application</a:t>
            </a:r>
            <a:r>
              <a:rPr lang="en-US" sz="2400" dirty="0" smtClean="0"/>
              <a:t>.</a:t>
            </a:r>
          </a:p>
          <a:p>
            <a:r>
              <a:rPr lang="en-US" sz="2400" dirty="0"/>
              <a:t>Node.js Module Types</a:t>
            </a:r>
          </a:p>
          <a:p>
            <a:pPr lvl="1"/>
            <a:r>
              <a:rPr lang="en-US" sz="2400" dirty="0"/>
              <a:t>Node.js includes three types of modules:</a:t>
            </a:r>
          </a:p>
          <a:p>
            <a:pPr lvl="1"/>
            <a:r>
              <a:rPr lang="en-US" sz="2400" dirty="0"/>
              <a:t>Core </a:t>
            </a:r>
            <a:r>
              <a:rPr lang="en-US" sz="2400" dirty="0" smtClean="0"/>
              <a:t>Modules/Built-in Modules</a:t>
            </a:r>
            <a:endParaRPr lang="en-US" sz="2400" dirty="0"/>
          </a:p>
          <a:p>
            <a:pPr lvl="1"/>
            <a:r>
              <a:rPr lang="en-US" sz="2400" dirty="0"/>
              <a:t>Local Modules</a:t>
            </a:r>
          </a:p>
          <a:p>
            <a:pPr lvl="1"/>
            <a:r>
              <a:rPr lang="en-US" sz="2400" dirty="0"/>
              <a:t>Third Party </a:t>
            </a:r>
            <a:r>
              <a:rPr lang="en-US" sz="2400" dirty="0" smtClean="0"/>
              <a:t>Modules/External Modules</a:t>
            </a:r>
            <a:endParaRPr lang="en-US" sz="2400" dirty="0"/>
          </a:p>
          <a:p>
            <a:endParaRPr lang="en-US" sz="2400" dirty="0" smtClean="0"/>
          </a:p>
          <a:p>
            <a:endParaRPr 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3706773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Node.js Core Modules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546579"/>
            <a:ext cx="8596668" cy="4494784"/>
          </a:xfrm>
        </p:spPr>
        <p:txBody>
          <a:bodyPr>
            <a:normAutofit lnSpcReduction="10000"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Http Module:</a:t>
            </a:r>
          </a:p>
          <a:p>
            <a:pPr fontAlgn="base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allows node.js applications to transfer data using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HyperText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Transfer Protocol (HTTP).</a:t>
            </a:r>
          </a:p>
          <a:p>
            <a:pPr fontAlgn="base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module creates an HTTP server that listens to server ports and also gives responses back to the client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400" dirty="0" smtClean="0"/>
              <a:t>Syntax : </a:t>
            </a:r>
            <a:r>
              <a:rPr lang="en-US" sz="2400" dirty="0" err="1" smtClean="0">
                <a:solidFill>
                  <a:srgbClr val="FF0000"/>
                </a:solidFill>
              </a:rPr>
              <a:t>const</a:t>
            </a:r>
            <a:r>
              <a:rPr lang="en-US" sz="2400" dirty="0" smtClean="0">
                <a:solidFill>
                  <a:srgbClr val="FF0000"/>
                </a:solidFill>
              </a:rPr>
              <a:t> </a:t>
            </a:r>
            <a:r>
              <a:rPr lang="en-US" sz="2400" dirty="0">
                <a:solidFill>
                  <a:srgbClr val="FF0000"/>
                </a:solidFill>
              </a:rPr>
              <a:t>http = require("http") </a:t>
            </a:r>
          </a:p>
          <a:p>
            <a:r>
              <a:rPr lang="en-US" sz="2400" dirty="0" smtClean="0"/>
              <a:t>Distributed with node </a:t>
            </a:r>
            <a:r>
              <a:rPr lang="en-US" sz="2400" dirty="0" err="1" smtClean="0"/>
              <a:t>js</a:t>
            </a:r>
            <a:r>
              <a:rPr lang="en-US" sz="2400" dirty="0" smtClean="0"/>
              <a:t> itself</a:t>
            </a:r>
          </a:p>
          <a:p>
            <a:r>
              <a:rPr lang="en-US" sz="2400" dirty="0" smtClean="0"/>
              <a:t>Core components of node </a:t>
            </a:r>
            <a:r>
              <a:rPr lang="en-US" sz="2400" dirty="0" err="1" smtClean="0"/>
              <a:t>js</a:t>
            </a:r>
            <a:endParaRPr lang="en-US" sz="2400" dirty="0" smtClean="0"/>
          </a:p>
          <a:p>
            <a:r>
              <a:rPr lang="en-US" sz="2400" dirty="0" smtClean="0"/>
              <a:t>Maintained by core contributors to the language</a:t>
            </a:r>
          </a:p>
          <a:p>
            <a:r>
              <a:rPr lang="en-US" sz="2400" dirty="0" smtClean="0"/>
              <a:t>Only changes with new release of node </a:t>
            </a:r>
            <a:r>
              <a:rPr lang="en-US" sz="2400" dirty="0" err="1" smtClean="0"/>
              <a:t>js</a:t>
            </a:r>
            <a:endParaRPr lang="en-US" sz="2400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233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</a:t>
            </a:r>
            <a:r>
              <a:rPr lang="en-US" dirty="0" err="1" smtClean="0"/>
              <a:t>url</a:t>
            </a:r>
            <a:r>
              <a:rPr lang="en-US" dirty="0" smtClean="0"/>
              <a:t> module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91264"/>
          </a:xfrm>
        </p:spPr>
        <p:txBody>
          <a:bodyPr>
            <a:normAutofit/>
          </a:bodyPr>
          <a:lstStyle/>
          <a:p>
            <a:r>
              <a:rPr lang="en-US" sz="2400" dirty="0" smtClean="0"/>
              <a:t>We can use the </a:t>
            </a:r>
            <a:r>
              <a:rPr lang="en-US" sz="2400" dirty="0" err="1" smtClean="0"/>
              <a:t>url</a:t>
            </a:r>
            <a:r>
              <a:rPr lang="en-US" sz="2400" dirty="0" smtClean="0"/>
              <a:t> module for parsing. </a:t>
            </a:r>
          </a:p>
          <a:p>
            <a:pPr fontAlgn="base"/>
            <a:r>
              <a:rPr lang="en-US" sz="2400" dirty="0"/>
              <a:t>This is a built-in module of node.js. It breaks down the </a:t>
            </a:r>
            <a:r>
              <a:rPr lang="en-US" sz="2400" dirty="0" err="1"/>
              <a:t>url</a:t>
            </a:r>
            <a:r>
              <a:rPr lang="en-US" sz="2400" dirty="0"/>
              <a:t> into readable parts. It is included in the file by using the require function;</a:t>
            </a:r>
          </a:p>
          <a:p>
            <a:pPr fontAlgn="base"/>
            <a:r>
              <a:rPr lang="en-US" sz="2400" dirty="0"/>
              <a:t>To Parse an address, use the </a:t>
            </a:r>
            <a:r>
              <a:rPr lang="en-US" sz="2400" dirty="0" err="1"/>
              <a:t>url.parse</a:t>
            </a:r>
            <a:r>
              <a:rPr lang="en-US" sz="2400" dirty="0"/>
              <a:t>() method. It will return a URL object with each part of the address as its properties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It is one of the core Node.js module. </a:t>
            </a:r>
          </a:p>
          <a:p>
            <a:r>
              <a:rPr lang="en-US" sz="2400" dirty="0" smtClean="0"/>
              <a:t>So, we don't have to install it using NPM.</a:t>
            </a:r>
          </a:p>
          <a:p>
            <a:r>
              <a:rPr lang="en-US" sz="2400" dirty="0" smtClean="0"/>
              <a:t>We write the following to require the </a:t>
            </a:r>
            <a:r>
              <a:rPr lang="en-US" sz="2400" dirty="0" err="1" smtClean="0"/>
              <a:t>url</a:t>
            </a:r>
            <a:r>
              <a:rPr lang="en-US" sz="2400" dirty="0" smtClean="0"/>
              <a:t> module.</a:t>
            </a:r>
          </a:p>
          <a:p>
            <a:r>
              <a:rPr lang="en-US" sz="2400" dirty="0" smtClean="0"/>
              <a:t>Syntax : </a:t>
            </a:r>
          </a:p>
          <a:p>
            <a:r>
              <a:rPr lang="en-US" sz="2400" dirty="0" err="1" smtClean="0"/>
              <a:t>const</a:t>
            </a:r>
            <a:r>
              <a:rPr lang="en-US" sz="2400" dirty="0" smtClean="0"/>
              <a:t> </a:t>
            </a:r>
            <a:r>
              <a:rPr lang="en-US" sz="2400" dirty="0" err="1" smtClean="0"/>
              <a:t>url</a:t>
            </a:r>
            <a:r>
              <a:rPr lang="en-US" sz="2400" dirty="0" smtClean="0"/>
              <a:t> = require('</a:t>
            </a:r>
            <a:r>
              <a:rPr lang="en-US" sz="2400" dirty="0" err="1" smtClean="0"/>
              <a:t>url</a:t>
            </a:r>
            <a:r>
              <a:rPr lang="en-US" sz="2400" dirty="0" smtClean="0"/>
              <a:t>');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293355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following table lists some of the important core modules in Node.js.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83129166"/>
              </p:ext>
            </p:extLst>
          </p:nvPr>
        </p:nvGraphicFramePr>
        <p:xfrm>
          <a:off x="722489" y="1898174"/>
          <a:ext cx="9629548" cy="4206240"/>
        </p:xfrm>
        <a:graphic>
          <a:graphicData uri="http://schemas.openxmlformats.org/drawingml/2006/table">
            <a:tbl>
              <a:tblPr/>
              <a:tblGrid>
                <a:gridCol w="4814774"/>
                <a:gridCol w="4814774"/>
              </a:tblGrid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US" b="0" dirty="0">
                          <a:solidFill>
                            <a:srgbClr val="FFFFFF"/>
                          </a:solidFill>
                          <a:effectLst/>
                        </a:rPr>
                        <a:t>Core Module</a:t>
                      </a:r>
                    </a:p>
                  </a:txBody>
                  <a:tcPr anchor="b">
                    <a:lnL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A9E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b="0">
                          <a:solidFill>
                            <a:srgbClr val="FFFFFF"/>
                          </a:solidFill>
                          <a:effectLst/>
                        </a:rPr>
                        <a:t>Description</a:t>
                      </a:r>
                    </a:p>
                  </a:txBody>
                  <a:tcPr anchor="b">
                    <a:lnL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A9E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n-US" u="sng">
                          <a:solidFill>
                            <a:srgbClr val="007BFF"/>
                          </a:solidFill>
                          <a:effectLst/>
                          <a:hlinkClick r:id="rId2"/>
                        </a:rPr>
                        <a:t>http</a:t>
                      </a:r>
                      <a:endParaRPr lang="en-US">
                        <a:solidFill>
                          <a:srgbClr val="414141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solidFill>
                            <a:srgbClr val="414141"/>
                          </a:solidFill>
                          <a:effectLst/>
                        </a:rPr>
                        <a:t>http module includes classes, methods and events to create Node.js http server.</a:t>
                      </a:r>
                    </a:p>
                  </a:txBody>
                  <a:tcPr>
                    <a:lnL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n-US" u="sng" dirty="0" err="1">
                          <a:solidFill>
                            <a:srgbClr val="007BFF"/>
                          </a:solidFill>
                          <a:effectLst/>
                          <a:hlinkClick r:id="rId3"/>
                        </a:rPr>
                        <a:t>url</a:t>
                      </a:r>
                      <a:endParaRPr lang="en-US" dirty="0">
                        <a:solidFill>
                          <a:srgbClr val="414141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solidFill>
                            <a:srgbClr val="414141"/>
                          </a:solidFill>
                          <a:effectLst/>
                        </a:rPr>
                        <a:t>url module includes methods for URL resolution and parsing.</a:t>
                      </a:r>
                    </a:p>
                  </a:txBody>
                  <a:tcPr>
                    <a:lnL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n-US" u="sng">
                          <a:solidFill>
                            <a:srgbClr val="007BFF"/>
                          </a:solidFill>
                          <a:effectLst/>
                          <a:hlinkClick r:id="rId4"/>
                        </a:rPr>
                        <a:t>querystring</a:t>
                      </a:r>
                      <a:endParaRPr lang="en-US">
                        <a:solidFill>
                          <a:srgbClr val="414141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solidFill>
                            <a:srgbClr val="414141"/>
                          </a:solidFill>
                          <a:effectLst/>
                        </a:rPr>
                        <a:t>querystring module includes methods to deal with query string.</a:t>
                      </a:r>
                    </a:p>
                  </a:txBody>
                  <a:tcPr>
                    <a:lnL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n-US" u="sng">
                          <a:solidFill>
                            <a:srgbClr val="007BFF"/>
                          </a:solidFill>
                          <a:effectLst/>
                          <a:hlinkClick r:id="rId5"/>
                        </a:rPr>
                        <a:t>path</a:t>
                      </a:r>
                      <a:endParaRPr lang="en-US">
                        <a:solidFill>
                          <a:srgbClr val="414141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solidFill>
                            <a:srgbClr val="414141"/>
                          </a:solidFill>
                          <a:effectLst/>
                        </a:rPr>
                        <a:t>path module includes methods to deal with file paths.</a:t>
                      </a:r>
                    </a:p>
                  </a:txBody>
                  <a:tcPr>
                    <a:lnL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n-US" u="sng" dirty="0">
                          <a:solidFill>
                            <a:srgbClr val="007BFF"/>
                          </a:solidFill>
                          <a:effectLst/>
                          <a:hlinkClick r:id="rId6"/>
                        </a:rPr>
                        <a:t>fs</a:t>
                      </a:r>
                      <a:endParaRPr lang="en-US" dirty="0">
                        <a:solidFill>
                          <a:srgbClr val="414141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solidFill>
                            <a:srgbClr val="414141"/>
                          </a:solidFill>
                          <a:effectLst/>
                        </a:rPr>
                        <a:t>fs module includes classes, methods, and events to work with file I/O.</a:t>
                      </a:r>
                    </a:p>
                  </a:txBody>
                  <a:tcPr>
                    <a:lnL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n-US" u="sng">
                          <a:solidFill>
                            <a:srgbClr val="007BFF"/>
                          </a:solidFill>
                          <a:effectLst/>
                          <a:hlinkClick r:id="rId7"/>
                        </a:rPr>
                        <a:t>util</a:t>
                      </a:r>
                      <a:endParaRPr lang="en-US">
                        <a:solidFill>
                          <a:srgbClr val="414141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 err="1">
                          <a:solidFill>
                            <a:srgbClr val="414141"/>
                          </a:solidFill>
                          <a:effectLst/>
                        </a:rPr>
                        <a:t>util</a:t>
                      </a:r>
                      <a:r>
                        <a:rPr lang="en-US" dirty="0">
                          <a:solidFill>
                            <a:srgbClr val="414141"/>
                          </a:solidFill>
                          <a:effectLst/>
                        </a:rPr>
                        <a:t> module includes utility functions useful for programmers.</a:t>
                      </a:r>
                    </a:p>
                  </a:txBody>
                  <a:tcPr>
                    <a:lnL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1393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Node.js Local Modules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71975"/>
          </a:xfrm>
        </p:spPr>
        <p:txBody>
          <a:bodyPr>
            <a:normAutofit/>
          </a:bodyPr>
          <a:lstStyle/>
          <a:p>
            <a:r>
              <a:rPr lang="en-US" sz="2400" dirty="0" smtClean="0"/>
              <a:t>Local modules are the modules that you define.</a:t>
            </a:r>
          </a:p>
          <a:p>
            <a:r>
              <a:rPr lang="en-US" sz="2400" dirty="0" smtClean="0"/>
              <a:t>It makes your code easily reusable</a:t>
            </a:r>
          </a:p>
          <a:p>
            <a:r>
              <a:rPr lang="en-US" sz="2400" dirty="0" smtClean="0"/>
              <a:t>To use local modules in your application, you need to load it using  require()   function in the same way as core module.</a:t>
            </a:r>
          </a:p>
          <a:p>
            <a:r>
              <a:rPr lang="en-US" sz="2400" dirty="0" smtClean="0"/>
              <a:t>However, you need to specify the path of JavaScript file of the module.</a:t>
            </a:r>
          </a:p>
          <a:p>
            <a:r>
              <a:rPr lang="en-US" sz="2400" dirty="0" smtClean="0"/>
              <a:t>Syntax: </a:t>
            </a:r>
          </a:p>
          <a:p>
            <a:r>
              <a:rPr lang="en-US" sz="2400" dirty="0" err="1" smtClean="0"/>
              <a:t>var</a:t>
            </a:r>
            <a:r>
              <a:rPr lang="en-US" sz="2400" dirty="0" smtClean="0"/>
              <a:t> </a:t>
            </a:r>
            <a:r>
              <a:rPr lang="en-US" sz="2400" dirty="0" err="1" smtClean="0"/>
              <a:t>mynewModule</a:t>
            </a:r>
            <a:r>
              <a:rPr lang="en-US" sz="2400" dirty="0" smtClean="0"/>
              <a:t> = require('./Log.js');</a:t>
            </a:r>
          </a:p>
          <a:p>
            <a:r>
              <a:rPr lang="en-US" sz="2400" dirty="0" smtClean="0"/>
              <a:t>mynewModule.info('Node.js started');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484912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In the above example, app.js is using log module. </a:t>
            </a:r>
            <a:endParaRPr lang="en-US" sz="2400" dirty="0" smtClean="0"/>
          </a:p>
          <a:p>
            <a:r>
              <a:rPr lang="en-US" sz="2400" dirty="0" smtClean="0"/>
              <a:t>First</a:t>
            </a:r>
            <a:r>
              <a:rPr lang="en-US" sz="2400" dirty="0"/>
              <a:t>, it loads the logging module using require() function and specified path where logging module is stored. </a:t>
            </a:r>
            <a:endParaRPr lang="en-US" sz="2400" dirty="0" smtClean="0"/>
          </a:p>
          <a:p>
            <a:r>
              <a:rPr lang="en-US" sz="2400" dirty="0" smtClean="0"/>
              <a:t>Logging </a:t>
            </a:r>
            <a:r>
              <a:rPr lang="en-US" sz="2400" dirty="0"/>
              <a:t>module is contained in Log.js file in the root folder. </a:t>
            </a:r>
            <a:endParaRPr lang="en-US" sz="2400" dirty="0" smtClean="0"/>
          </a:p>
          <a:p>
            <a:r>
              <a:rPr lang="en-US" sz="2400" dirty="0" smtClean="0"/>
              <a:t>So</a:t>
            </a:r>
            <a:r>
              <a:rPr lang="en-US" sz="2400" dirty="0"/>
              <a:t>, we have specified the path './Log.js' in the require() function. The '.' denotes a root folder.</a:t>
            </a:r>
          </a:p>
        </p:txBody>
      </p:sp>
    </p:spTree>
    <p:extLst>
      <p:ext uri="{BB962C8B-B14F-4D97-AF65-F5344CB8AC3E}">
        <p14:creationId xmlns:p14="http://schemas.microsoft.com/office/powerpoint/2010/main" val="18836854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Node.js External Modules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75644"/>
            <a:ext cx="10515600" cy="5080000"/>
          </a:xfrm>
        </p:spPr>
        <p:txBody>
          <a:bodyPr>
            <a:normAutofit fontScale="92500"/>
          </a:bodyPr>
          <a:lstStyle/>
          <a:p>
            <a:r>
              <a:rPr lang="en-IN" sz="2400" dirty="0"/>
              <a:t>External modules are also known as third party modules and require a package manager that maintains all the modules so that they can be accessed with ease. </a:t>
            </a:r>
            <a:endParaRPr lang="en-IN" sz="2400" dirty="0" smtClean="0"/>
          </a:p>
          <a:p>
            <a:r>
              <a:rPr lang="en-IN" sz="2400" dirty="0" smtClean="0"/>
              <a:t>By </a:t>
            </a:r>
            <a:r>
              <a:rPr lang="en-IN" sz="2400" dirty="0"/>
              <a:t>default, node.js uses NPM [node package manager) package manager for JavaScript runtime environment. </a:t>
            </a:r>
            <a:endParaRPr lang="en-US" sz="2400" dirty="0" smtClean="0"/>
          </a:p>
          <a:p>
            <a:r>
              <a:rPr lang="en-US" sz="2400" dirty="0" smtClean="0"/>
              <a:t>The </a:t>
            </a:r>
            <a:r>
              <a:rPr lang="en-US" sz="2400" dirty="0"/>
              <a:t>third-party module can be downloaded by </a:t>
            </a:r>
            <a:r>
              <a:rPr lang="en-US" sz="2400" b="1" dirty="0"/>
              <a:t>NPM (Node Package Manager</a:t>
            </a:r>
            <a:r>
              <a:rPr lang="en-US" sz="2400" b="1" dirty="0" smtClean="0"/>
              <a:t>)</a:t>
            </a:r>
            <a:r>
              <a:rPr lang="en-US" sz="2400" dirty="0" smtClean="0"/>
              <a:t>.</a:t>
            </a:r>
          </a:p>
          <a:p>
            <a:r>
              <a:rPr lang="en-US" sz="2400" b="1" dirty="0"/>
              <a:t>Some of the most popular third-party modules are:</a:t>
            </a:r>
            <a:endParaRPr lang="en-US" sz="2400" dirty="0" smtClean="0"/>
          </a:p>
          <a:p>
            <a:r>
              <a:rPr lang="en-US" sz="2400" dirty="0" smtClean="0"/>
              <a:t>Express</a:t>
            </a:r>
          </a:p>
          <a:p>
            <a:r>
              <a:rPr lang="en-US" sz="2400" dirty="0"/>
              <a:t>S</a:t>
            </a:r>
            <a:r>
              <a:rPr lang="en-US" sz="2400" dirty="0" smtClean="0"/>
              <a:t>ocket.io</a:t>
            </a:r>
            <a:endParaRPr lang="en-US" sz="2400" dirty="0"/>
          </a:p>
          <a:p>
            <a:r>
              <a:rPr lang="en-US" sz="2400" dirty="0"/>
              <a:t>M</a:t>
            </a:r>
            <a:r>
              <a:rPr lang="en-US" sz="2400" dirty="0" smtClean="0"/>
              <a:t>ongoose </a:t>
            </a:r>
          </a:p>
          <a:p>
            <a:r>
              <a:rPr lang="en-US" sz="2400" dirty="0" smtClean="0"/>
              <a:t>Third party modules can be install inside the project folder or globally.</a:t>
            </a:r>
            <a:br>
              <a:rPr lang="en-US" sz="2400" dirty="0" smtClean="0"/>
            </a:br>
            <a:endParaRPr lang="en-US" sz="2400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51160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7"/>
            <a:ext cx="9404723" cy="1308349"/>
          </a:xfrm>
        </p:spPr>
        <p:txBody>
          <a:bodyPr/>
          <a:lstStyle/>
          <a:p>
            <a:r>
              <a:rPr lang="en-US" dirty="0" smtClean="0"/>
              <a:t>Below are some differences between Node.JS and JavaScript:</a:t>
            </a:r>
            <a:endParaRPr lang="en-US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90431071"/>
              </p:ext>
            </p:extLst>
          </p:nvPr>
        </p:nvGraphicFramePr>
        <p:xfrm>
          <a:off x="778934" y="2038223"/>
          <a:ext cx="10182576" cy="4201167"/>
        </p:xfrm>
        <a:graphic>
          <a:graphicData uri="http://schemas.openxmlformats.org/drawingml/2006/table">
            <a:tbl>
              <a:tblPr/>
              <a:tblGrid>
                <a:gridCol w="3394192"/>
                <a:gridCol w="3394192"/>
                <a:gridCol w="3394192"/>
              </a:tblGrid>
              <a:tr h="415796"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Features</a:t>
                      </a:r>
                    </a:p>
                  </a:txBody>
                  <a:tcPr marL="94499" marR="94499" marT="94499" marB="94499">
                    <a:lnL w="9525" cap="flat" cmpd="sng" algn="ctr">
                      <a:solidFill>
                        <a:srgbClr val="40A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A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0A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CB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JavaScript</a:t>
                      </a:r>
                    </a:p>
                  </a:txBody>
                  <a:tcPr marL="94499" marR="94499" marT="94499" marB="94499">
                    <a:lnL w="9525" cap="flat" cmpd="sng" algn="ctr">
                      <a:solidFill>
                        <a:srgbClr val="40A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A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0A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CB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Node JS</a:t>
                      </a:r>
                    </a:p>
                  </a:txBody>
                  <a:tcPr marL="94499" marR="94499" marT="94499" marB="94499">
                    <a:lnL w="9525" cap="flat" cmpd="sng" algn="ctr">
                      <a:solidFill>
                        <a:srgbClr val="40A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A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0A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CBE"/>
                    </a:solidFill>
                  </a:tcPr>
                </a:tc>
              </a:tr>
              <a:tr h="1713584">
                <a:tc>
                  <a:txBody>
                    <a:bodyPr/>
                    <a:lstStyle/>
                    <a:p>
                      <a:pPr algn="just" fontAlgn="t"/>
                      <a:r>
                        <a:rPr lang="en-US" sz="1500" b="1">
                          <a:solidFill>
                            <a:srgbClr val="333333"/>
                          </a:solidFill>
                          <a:effectLst/>
                          <a:latin typeface="inter-bold"/>
                        </a:rPr>
                        <a:t>Definition</a:t>
                      </a:r>
                      <a:endParaRPr lang="en-US" sz="1500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62999" marR="62999" marT="62999" marB="62999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50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It is an open-source, cross-platform, interpreted, lightweight scripting programming language that is used to develop dynamic and web applications.</a:t>
                      </a:r>
                    </a:p>
                  </a:txBody>
                  <a:tcPr marL="62999" marR="62999" marT="62999" marB="62999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50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It is a cross-platform, open-source JavaScript runtime environment that allows JavaScript to be run on the server.</a:t>
                      </a:r>
                    </a:p>
                  </a:txBody>
                  <a:tcPr marL="62999" marR="62999" marT="62999" marB="62999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86787">
                <a:tc>
                  <a:txBody>
                    <a:bodyPr/>
                    <a:lstStyle/>
                    <a:p>
                      <a:pPr algn="just" fontAlgn="t"/>
                      <a:r>
                        <a:rPr lang="en-US" sz="1500" b="1">
                          <a:solidFill>
                            <a:srgbClr val="333333"/>
                          </a:solidFill>
                          <a:effectLst/>
                          <a:latin typeface="inter-bold"/>
                        </a:rPr>
                        <a:t>Type</a:t>
                      </a:r>
                      <a:endParaRPr lang="en-US" sz="1500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62999" marR="62999" marT="62999" marB="62999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50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It is a programming language. It works in any browser that has a proper browser engine.</a:t>
                      </a:r>
                    </a:p>
                  </a:txBody>
                  <a:tcPr marL="62999" marR="62999" marT="62999" marB="62999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50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It's a JavaScript interpreter and environment with some valuable libraries that JavaScript programming can use separately.</a:t>
                      </a:r>
                    </a:p>
                  </a:txBody>
                  <a:tcPr marL="62999" marR="62999" marT="62999" marB="62999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</a:tr>
              <a:tr h="579595">
                <a:tc>
                  <a:txBody>
                    <a:bodyPr/>
                    <a:lstStyle/>
                    <a:p>
                      <a:pPr algn="just" fontAlgn="t"/>
                      <a:r>
                        <a:rPr lang="en-US" sz="1500" b="1">
                          <a:solidFill>
                            <a:srgbClr val="333333"/>
                          </a:solidFill>
                          <a:effectLst/>
                          <a:latin typeface="inter-bold"/>
                        </a:rPr>
                        <a:t>Dedicated Server</a:t>
                      </a:r>
                      <a:endParaRPr lang="en-US" sz="1500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62999" marR="62999" marT="62999" marB="62999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50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It is generally used on the client-side server.</a:t>
                      </a:r>
                    </a:p>
                  </a:txBody>
                  <a:tcPr marL="62999" marR="62999" marT="62999" marB="62999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5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It is generally used on the server-side.</a:t>
                      </a:r>
                    </a:p>
                  </a:txBody>
                  <a:tcPr marL="62999" marR="62999" marT="62999" marB="62999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5117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563282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2007353"/>
              </p:ext>
            </p:extLst>
          </p:nvPr>
        </p:nvGraphicFramePr>
        <p:xfrm>
          <a:off x="646112" y="1276350"/>
          <a:ext cx="10800822" cy="5327651"/>
        </p:xfrm>
        <a:graphic>
          <a:graphicData uri="http://schemas.openxmlformats.org/drawingml/2006/table">
            <a:tbl>
              <a:tblPr/>
              <a:tblGrid>
                <a:gridCol w="3600274"/>
                <a:gridCol w="3600274"/>
                <a:gridCol w="3600274"/>
              </a:tblGrid>
              <a:tr h="585859">
                <a:tc>
                  <a:txBody>
                    <a:bodyPr/>
                    <a:lstStyle/>
                    <a:p>
                      <a:pPr algn="just" fontAlgn="t"/>
                      <a:r>
                        <a:rPr lang="en-US" sz="1000" b="1" dirty="0">
                          <a:solidFill>
                            <a:srgbClr val="333333"/>
                          </a:solidFill>
                          <a:effectLst/>
                          <a:latin typeface="inter-bold"/>
                        </a:rPr>
                        <a:t>Community</a:t>
                      </a:r>
                      <a:endParaRPr lang="en-US" sz="1000" dirty="0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42715" marR="42715" marT="42715" marB="42715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00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All the JavaScript is not important to the node community.</a:t>
                      </a:r>
                    </a:p>
                  </a:txBody>
                  <a:tcPr marL="42715" marR="42715" marT="42715" marB="42715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00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All node projects represent the JavaScript community.</a:t>
                      </a:r>
                    </a:p>
                  </a:txBody>
                  <a:tcPr marL="42715" marR="42715" marT="42715" marB="42715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</a:tr>
              <a:tr h="1409722">
                <a:tc>
                  <a:txBody>
                    <a:bodyPr/>
                    <a:lstStyle/>
                    <a:p>
                      <a:pPr algn="just" fontAlgn="t"/>
                      <a:r>
                        <a:rPr lang="en-US" sz="1000" b="1">
                          <a:solidFill>
                            <a:srgbClr val="333333"/>
                          </a:solidFill>
                          <a:effectLst/>
                          <a:latin typeface="inter-bold"/>
                        </a:rPr>
                        <a:t>Running Engines</a:t>
                      </a:r>
                      <a:endParaRPr lang="en-US" sz="1000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42715" marR="42715" marT="42715" marB="42715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00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JavaScript can be run on any engine, including Spider Monkey, V8, and JavaScript Core.</a:t>
                      </a:r>
                    </a:p>
                  </a:txBody>
                  <a:tcPr marL="42715" marR="42715" marT="42715" marB="42715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00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Node JS is only supported by the V8 engine, which Google Chrome mostly uses. Any JavaScript program written with Node JS will always be run in the V8 engine.</a:t>
                      </a:r>
                    </a:p>
                  </a:txBody>
                  <a:tcPr marL="42715" marR="42715" marT="42715" marB="42715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50631">
                <a:tc>
                  <a:txBody>
                    <a:bodyPr/>
                    <a:lstStyle/>
                    <a:p>
                      <a:pPr algn="just" fontAlgn="t"/>
                      <a:r>
                        <a:rPr lang="en-US" sz="1000" b="1">
                          <a:solidFill>
                            <a:srgbClr val="333333"/>
                          </a:solidFill>
                          <a:effectLst/>
                          <a:latin typeface="inter-bold"/>
                        </a:rPr>
                        <a:t>Used for</a:t>
                      </a:r>
                      <a:endParaRPr lang="en-US" sz="1000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42715" marR="42715" marT="42715" marB="42715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00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It is designed to build network-centric applications.</a:t>
                      </a:r>
                    </a:p>
                  </a:txBody>
                  <a:tcPr marL="42715" marR="42715" marT="42715" marB="42715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0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It's designed for data-intensive real-time applications that run on several platforms.</a:t>
                      </a:r>
                    </a:p>
                  </a:txBody>
                  <a:tcPr marL="42715" marR="42715" marT="42715" marB="42715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</a:tr>
              <a:tr h="750631">
                <a:tc>
                  <a:txBody>
                    <a:bodyPr/>
                    <a:lstStyle/>
                    <a:p>
                      <a:pPr algn="just" fontAlgn="t"/>
                      <a:r>
                        <a:rPr lang="en-US" sz="1000" b="1">
                          <a:solidFill>
                            <a:srgbClr val="333333"/>
                          </a:solidFill>
                          <a:effectLst/>
                          <a:latin typeface="inter-bold"/>
                        </a:rPr>
                        <a:t>Languages</a:t>
                      </a:r>
                      <a:endParaRPr lang="en-US" sz="1000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42715" marR="42715" marT="42715" marB="42715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00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It's a newer version of the ECMA script that runs on Chrome's V8 engine, which is written in C++.</a:t>
                      </a:r>
                    </a:p>
                  </a:txBody>
                  <a:tcPr marL="42715" marR="42715" marT="42715" marB="42715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00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It uses C, C++, and JavaScript.</a:t>
                      </a:r>
                    </a:p>
                  </a:txBody>
                  <a:tcPr marL="42715" marR="42715" marT="42715" marB="42715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5404">
                <a:tc>
                  <a:txBody>
                    <a:bodyPr/>
                    <a:lstStyle/>
                    <a:p>
                      <a:pPr algn="just" fontAlgn="t"/>
                      <a:r>
                        <a:rPr lang="en-US" sz="1000" b="1">
                          <a:solidFill>
                            <a:srgbClr val="333333"/>
                          </a:solidFill>
                          <a:effectLst/>
                          <a:latin typeface="inter-bold"/>
                        </a:rPr>
                        <a:t>Modules</a:t>
                      </a:r>
                      <a:endParaRPr lang="en-US" sz="1000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42715" marR="42715" marT="42715" marB="42715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00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Few JavaScript frameworks are </a:t>
                      </a:r>
                      <a:r>
                        <a:rPr lang="en-US" sz="1000" b="1">
                          <a:solidFill>
                            <a:srgbClr val="333333"/>
                          </a:solidFill>
                          <a:effectLst/>
                          <a:latin typeface="inter-bold"/>
                        </a:rPr>
                        <a:t>TypedJS, RamdaJS</a:t>
                      </a:r>
                      <a:r>
                        <a:rPr lang="en-US" sz="100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, etc.</a:t>
                      </a:r>
                    </a:p>
                  </a:txBody>
                  <a:tcPr marL="42715" marR="42715" marT="42715" marB="42715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00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Lodash, express are examples of Nodejs modules. These all modules are to be imported from </a:t>
                      </a:r>
                      <a:r>
                        <a:rPr lang="en-US" sz="1000" b="1">
                          <a:solidFill>
                            <a:srgbClr val="333333"/>
                          </a:solidFill>
                          <a:effectLst/>
                          <a:latin typeface="inter-bold"/>
                        </a:rPr>
                        <a:t>npm</a:t>
                      </a:r>
                      <a:r>
                        <a:rPr lang="en-US" sz="100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.</a:t>
                      </a:r>
                    </a:p>
                  </a:txBody>
                  <a:tcPr marL="42715" marR="42715" marT="42715" marB="42715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</a:tr>
              <a:tr h="915404">
                <a:tc>
                  <a:txBody>
                    <a:bodyPr/>
                    <a:lstStyle/>
                    <a:p>
                      <a:pPr algn="just" fontAlgn="t"/>
                      <a:r>
                        <a:rPr lang="en-US" sz="1000" b="1">
                          <a:solidFill>
                            <a:srgbClr val="333333"/>
                          </a:solidFill>
                          <a:effectLst/>
                          <a:latin typeface="inter-bold"/>
                        </a:rPr>
                        <a:t>Companies Uses</a:t>
                      </a:r>
                      <a:endParaRPr lang="en-US" sz="1000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42715" marR="42715" marT="42715" marB="42715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00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Various companies use JavaScript like </a:t>
                      </a:r>
                      <a:r>
                        <a:rPr lang="en-US" sz="1000" b="1">
                          <a:solidFill>
                            <a:srgbClr val="333333"/>
                          </a:solidFill>
                          <a:effectLst/>
                          <a:latin typeface="inter-bold"/>
                        </a:rPr>
                        <a:t>Google, Shopify, Udacity, Sendgrid, Groupon, Okta, Instacart</a:t>
                      </a:r>
                      <a:r>
                        <a:rPr lang="en-US" sz="100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, etc.</a:t>
                      </a:r>
                    </a:p>
                  </a:txBody>
                  <a:tcPr marL="42715" marR="42715" marT="42715" marB="42715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0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Various companies use Node </a:t>
                      </a:r>
                      <a:r>
                        <a:rPr lang="en-US" sz="1000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Js</a:t>
                      </a:r>
                      <a:r>
                        <a:rPr lang="en-US" sz="10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 like </a:t>
                      </a:r>
                      <a:r>
                        <a:rPr lang="en-US" sz="1000" b="1" dirty="0">
                          <a:solidFill>
                            <a:srgbClr val="333333"/>
                          </a:solidFill>
                          <a:effectLst/>
                          <a:latin typeface="inter-bold"/>
                        </a:rPr>
                        <a:t>Netflix, </a:t>
                      </a:r>
                      <a:r>
                        <a:rPr lang="en-US" sz="1000" b="1" dirty="0" err="1">
                          <a:solidFill>
                            <a:srgbClr val="333333"/>
                          </a:solidFill>
                          <a:effectLst/>
                          <a:latin typeface="inter-bold"/>
                        </a:rPr>
                        <a:t>Hapi</a:t>
                      </a:r>
                      <a:r>
                        <a:rPr lang="en-US" sz="1000" b="1" dirty="0">
                          <a:solidFill>
                            <a:srgbClr val="333333"/>
                          </a:solidFill>
                          <a:effectLst/>
                          <a:latin typeface="inter-bold"/>
                        </a:rPr>
                        <a:t>, Walmart, </a:t>
                      </a:r>
                      <a:r>
                        <a:rPr lang="en-US" sz="1000" b="1" dirty="0" err="1">
                          <a:solidFill>
                            <a:srgbClr val="333333"/>
                          </a:solidFill>
                          <a:effectLst/>
                          <a:latin typeface="inter-bold"/>
                        </a:rPr>
                        <a:t>Paypal</a:t>
                      </a:r>
                      <a:r>
                        <a:rPr lang="en-US" sz="1000" b="1" dirty="0">
                          <a:solidFill>
                            <a:srgbClr val="333333"/>
                          </a:solidFill>
                          <a:effectLst/>
                          <a:latin typeface="inter-bold"/>
                        </a:rPr>
                        <a:t>, </a:t>
                      </a:r>
                      <a:r>
                        <a:rPr lang="en-US" sz="1000" b="1" dirty="0" err="1">
                          <a:solidFill>
                            <a:srgbClr val="333333"/>
                          </a:solidFill>
                          <a:effectLst/>
                          <a:latin typeface="inter-bold"/>
                        </a:rPr>
                        <a:t>Linkedin</a:t>
                      </a:r>
                      <a:r>
                        <a:rPr lang="en-US" sz="1000" b="1" dirty="0">
                          <a:solidFill>
                            <a:srgbClr val="333333"/>
                          </a:solidFill>
                          <a:effectLst/>
                          <a:latin typeface="inter-bold"/>
                        </a:rPr>
                        <a:t>, Trello, Medium, eBay</a:t>
                      </a:r>
                      <a:r>
                        <a:rPr lang="en-US" sz="10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, etc.</a:t>
                      </a:r>
                    </a:p>
                  </a:txBody>
                  <a:tcPr marL="42715" marR="42715" marT="42715" marB="42715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8000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178" y="936978"/>
            <a:ext cx="11954933" cy="654755"/>
          </a:xfrm>
        </p:spPr>
        <p:txBody>
          <a:bodyPr>
            <a:normAutofit/>
          </a:bodyPr>
          <a:lstStyle/>
          <a:p>
            <a:pPr algn="ctr"/>
            <a:endParaRPr lang="en-US" dirty="0"/>
          </a:p>
        </p:txBody>
      </p:sp>
      <p:pic>
        <p:nvPicPr>
          <p:cNvPr id="5124" name="Picture 4" descr="Free Google Thank You Slide &amp; PowerPoint Templates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533" y="2160588"/>
            <a:ext cx="8477956" cy="3881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0758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6169</TotalTime>
  <Words>1107</Words>
  <Application>Microsoft Office PowerPoint</Application>
  <PresentationFormat>Widescreen</PresentationFormat>
  <Paragraphs>144</Paragraphs>
  <Slides>19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8" baseType="lpstr">
      <vt:lpstr>Arial</vt:lpstr>
      <vt:lpstr>inter-bold</vt:lpstr>
      <vt:lpstr>inter-regular</vt:lpstr>
      <vt:lpstr>Times New Roman</vt:lpstr>
      <vt:lpstr>Times New Roman</vt:lpstr>
      <vt:lpstr>Trebuchet MS</vt:lpstr>
      <vt:lpstr>Wingdings</vt:lpstr>
      <vt:lpstr>Wingdings 3</vt:lpstr>
      <vt:lpstr>Facet</vt:lpstr>
      <vt:lpstr>PowerPoint Presentation</vt:lpstr>
      <vt:lpstr>Node js</vt:lpstr>
      <vt:lpstr>The idea behind node.js….</vt:lpstr>
      <vt:lpstr>What is Node js?</vt:lpstr>
      <vt:lpstr>Definition of node js</vt:lpstr>
      <vt:lpstr>Why do we use Node</vt:lpstr>
      <vt:lpstr>PowerPoint Presentation</vt:lpstr>
      <vt:lpstr>Success Stories…..</vt:lpstr>
      <vt:lpstr>Advantages of node js</vt:lpstr>
      <vt:lpstr>Node Js : Modules</vt:lpstr>
      <vt:lpstr>Node.js Core Modules </vt:lpstr>
      <vt:lpstr>The url module</vt:lpstr>
      <vt:lpstr>The following table lists some of the important core modules in Node.js.</vt:lpstr>
      <vt:lpstr>Node.js Local Modules </vt:lpstr>
      <vt:lpstr>PowerPoint Presentation</vt:lpstr>
      <vt:lpstr>Node.js External Modules</vt:lpstr>
      <vt:lpstr>Below are some differences between Node.JS and JavaScript: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Node js</dc:title>
  <dc:creator>Komal S</dc:creator>
  <cp:lastModifiedBy>Komal S</cp:lastModifiedBy>
  <cp:revision>39</cp:revision>
  <cp:lastPrinted>2024-01-08T11:39:54Z</cp:lastPrinted>
  <dcterms:created xsi:type="dcterms:W3CDTF">2024-01-01T08:52:11Z</dcterms:created>
  <dcterms:modified xsi:type="dcterms:W3CDTF">2024-01-09T07:41:22Z</dcterms:modified>
</cp:coreProperties>
</file>