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73" r:id="rId3"/>
    <p:sldId id="274" r:id="rId4"/>
    <p:sldId id="275" r:id="rId5"/>
    <p:sldId id="276" r:id="rId6"/>
    <p:sldId id="277"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91" d="100"/>
          <a:sy n="91"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565782E-D725-4FD7-86E1-500E6B5A8494}" type="datetimeFigureOut">
              <a:rPr lang="en-US" smtClean="0"/>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4057191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65782E-D725-4FD7-86E1-500E6B5A8494}" type="datetimeFigureOut">
              <a:rPr lang="en-US" smtClean="0"/>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3098620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565782E-D725-4FD7-86E1-500E6B5A8494}" type="datetimeFigureOut">
              <a:rPr lang="en-US" smtClean="0"/>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82557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565782E-D725-4FD7-86E1-500E6B5A8494}" type="datetimeFigureOut">
              <a:rPr lang="en-US" smtClean="0"/>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213842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565782E-D725-4FD7-86E1-500E6B5A8494}" type="datetimeFigureOut">
              <a:rPr lang="en-US" smtClean="0"/>
              <a:t>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1185601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565782E-D725-4FD7-86E1-500E6B5A8494}" type="datetimeFigureOut">
              <a:rPr lang="en-US" smtClean="0"/>
              <a:t>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3344604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65782E-D725-4FD7-86E1-500E6B5A8494}" type="datetimeFigureOut">
              <a:rPr lang="en-US" smtClean="0"/>
              <a:t>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1488167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565782E-D725-4FD7-86E1-500E6B5A8494}" type="datetimeFigureOut">
              <a:rPr lang="en-US" smtClean="0"/>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1471040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565782E-D725-4FD7-86E1-500E6B5A8494}" type="datetimeFigureOut">
              <a:rPr lang="en-US" smtClean="0"/>
              <a:t>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4216496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65782E-D725-4FD7-86E1-500E6B5A8494}" type="datetimeFigureOut">
              <a:rPr lang="en-US" smtClean="0"/>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529188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65782E-D725-4FD7-86E1-500E6B5A8494}" type="datetimeFigureOut">
              <a:rPr lang="en-US" smtClean="0"/>
              <a:t>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889DCB-BDD3-4DD0-BD88-41294A0F0986}" type="slidenum">
              <a:rPr lang="en-US" smtClean="0"/>
              <a:t>‹#›</a:t>
            </a:fld>
            <a:endParaRPr lang="en-US"/>
          </a:p>
        </p:txBody>
      </p:sp>
    </p:spTree>
    <p:extLst>
      <p:ext uri="{BB962C8B-B14F-4D97-AF65-F5344CB8AC3E}">
        <p14:creationId xmlns:p14="http://schemas.microsoft.com/office/powerpoint/2010/main" val="698430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65782E-D725-4FD7-86E1-500E6B5A8494}" type="datetimeFigureOut">
              <a:rPr lang="en-US" smtClean="0"/>
              <a:t>2/5/2024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889DCB-BDD3-4DD0-BD88-41294A0F0986}" type="slidenum">
              <a:rPr lang="en-US" smtClean="0"/>
              <a:t>‹#›</a:t>
            </a:fld>
            <a:endParaRPr lang="en-US"/>
          </a:p>
        </p:txBody>
      </p:sp>
    </p:spTree>
    <p:extLst>
      <p:ext uri="{BB962C8B-B14F-4D97-AF65-F5344CB8AC3E}">
        <p14:creationId xmlns:p14="http://schemas.microsoft.com/office/powerpoint/2010/main" val="239263510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expressjs.com/en/4x/api.html#res.send" TargetMode="External"/><Relationship Id="rId3" Type="http://schemas.openxmlformats.org/officeDocument/2006/relationships/hyperlink" Target="https://expressjs.com/en/4x/api.html#res.end" TargetMode="External"/><Relationship Id="rId7" Type="http://schemas.openxmlformats.org/officeDocument/2006/relationships/hyperlink" Target="https://expressjs.com/en/4x/api.html#res.render" TargetMode="External"/><Relationship Id="rId2" Type="http://schemas.openxmlformats.org/officeDocument/2006/relationships/hyperlink" Target="https://expressjs.com/en/4x/api.html#res.download" TargetMode="External"/><Relationship Id="rId1" Type="http://schemas.openxmlformats.org/officeDocument/2006/relationships/slideLayout" Target="../slideLayouts/slideLayout2.xml"/><Relationship Id="rId6" Type="http://schemas.openxmlformats.org/officeDocument/2006/relationships/hyperlink" Target="https://expressjs.com/en/4x/api.html#res.redirect" TargetMode="External"/><Relationship Id="rId5" Type="http://schemas.openxmlformats.org/officeDocument/2006/relationships/hyperlink" Target="https://expressjs.com/en/4x/api.html#res.jsonp" TargetMode="External"/><Relationship Id="rId10" Type="http://schemas.openxmlformats.org/officeDocument/2006/relationships/hyperlink" Target="https://expressjs.com/en/4x/api.html#res.sendStatus" TargetMode="External"/><Relationship Id="rId4" Type="http://schemas.openxmlformats.org/officeDocument/2006/relationships/hyperlink" Target="https://expressjs.com/en/4x/api.html#res.json" TargetMode="External"/><Relationship Id="rId9" Type="http://schemas.openxmlformats.org/officeDocument/2006/relationships/hyperlink" Target="https://expressjs.com/en/4x/api.html#res.sendFil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xpressjs.com/en/resources/frameworks.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enchalabs/connect#middleware" TargetMode="External"/><Relationship Id="rId2" Type="http://schemas.openxmlformats.org/officeDocument/2006/relationships/hyperlink" Target="https://github.com/senchalabs/connect" TargetMode="External"/><Relationship Id="rId1" Type="http://schemas.openxmlformats.org/officeDocument/2006/relationships/slideLayout" Target="../slideLayouts/slideLayout2.xml"/><Relationship Id="rId6" Type="http://schemas.openxmlformats.org/officeDocument/2006/relationships/hyperlink" Target="https://expressjs.com/en/4x/api.html#express.urlencoded" TargetMode="External"/><Relationship Id="rId5" Type="http://schemas.openxmlformats.org/officeDocument/2006/relationships/hyperlink" Target="https://expressjs.com/en/4x/api.html#express.json" TargetMode="External"/><Relationship Id="rId4" Type="http://schemas.openxmlformats.org/officeDocument/2006/relationships/hyperlink" Target="https://expressjs.com/en/4x/api.html#express.stati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expressjs.com/resources/middleware/cookie-parser.html" TargetMode="External"/><Relationship Id="rId13" Type="http://schemas.openxmlformats.org/officeDocument/2006/relationships/hyperlink" Target="https://expressjs.com/resources/middleware/errorhandler.html" TargetMode="External"/><Relationship Id="rId3" Type="http://schemas.openxmlformats.org/officeDocument/2006/relationships/hyperlink" Target="https://github.com/raynos/body" TargetMode="External"/><Relationship Id="rId7" Type="http://schemas.openxmlformats.org/officeDocument/2006/relationships/hyperlink" Target="https://expressjs.com/resources/middleware/connect-rid.html" TargetMode="External"/><Relationship Id="rId12" Type="http://schemas.openxmlformats.org/officeDocument/2006/relationships/hyperlink" Target="https://expressjs.com/resources/middleware/cors.html" TargetMode="External"/><Relationship Id="rId2" Type="http://schemas.openxmlformats.org/officeDocument/2006/relationships/hyperlink" Target="https://expressjs.com/resources/middleware/body-parser.html" TargetMode="External"/><Relationship Id="rId1" Type="http://schemas.openxmlformats.org/officeDocument/2006/relationships/slideLayout" Target="../slideLayouts/slideLayout2.xml"/><Relationship Id="rId6" Type="http://schemas.openxmlformats.org/officeDocument/2006/relationships/hyperlink" Target="https://expressjs.com/resources/middleware/compression.html" TargetMode="External"/><Relationship Id="rId11" Type="http://schemas.openxmlformats.org/officeDocument/2006/relationships/hyperlink" Target="https://expressjs.com/resources/middleware/cookie-session.html" TargetMode="External"/><Relationship Id="rId5" Type="http://schemas.openxmlformats.org/officeDocument/2006/relationships/hyperlink" Target="https://github.com/stream-utils/raw-body" TargetMode="External"/><Relationship Id="rId10" Type="http://schemas.openxmlformats.org/officeDocument/2006/relationships/hyperlink" Target="https://github.com/jed/keygrip" TargetMode="External"/><Relationship Id="rId4" Type="http://schemas.openxmlformats.org/officeDocument/2006/relationships/hyperlink" Target="https://github.com/visionmedia/co-body" TargetMode="External"/><Relationship Id="rId9" Type="http://schemas.openxmlformats.org/officeDocument/2006/relationships/hyperlink" Target="https://github.com/jed/cookies" TargetMode="External"/><Relationship Id="rId14" Type="http://schemas.openxmlformats.org/officeDocument/2006/relationships/hyperlink" Target="https://expressjs.com/resources/middleware/method-override.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expressjs.com/en/4x/api.html#req" TargetMode="External"/><Relationship Id="rId2" Type="http://schemas.openxmlformats.org/officeDocument/2006/relationships/hyperlink" Target="https://expressjs.com/en/4x/api.html#res"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Express</a:t>
            </a:r>
            <a:endParaRPr lang="en-US" dirty="0"/>
          </a:p>
        </p:txBody>
      </p:sp>
      <p:sp>
        <p:nvSpPr>
          <p:cNvPr id="3" name="Subtitle 2"/>
          <p:cNvSpPr>
            <a:spLocks noGrp="1"/>
          </p:cNvSpPr>
          <p:nvPr>
            <p:ph type="subTitle" idx="1"/>
          </p:nvPr>
        </p:nvSpPr>
        <p:spPr/>
        <p:txBody>
          <a:bodyPr/>
          <a:lstStyle/>
          <a:p>
            <a:r>
              <a:rPr lang="en-US" dirty="0" smtClean="0"/>
              <a:t>By Komal Singh</a:t>
            </a:r>
            <a:endParaRPr lang="en-US" dirty="0"/>
          </a:p>
        </p:txBody>
      </p:sp>
    </p:spTree>
    <p:extLst>
      <p:ext uri="{BB962C8B-B14F-4D97-AF65-F5344CB8AC3E}">
        <p14:creationId xmlns:p14="http://schemas.microsoft.com/office/powerpoint/2010/main" val="12068259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Routing</a:t>
            </a:r>
            <a:br>
              <a:rPr lang="en-US" b="1" dirty="0"/>
            </a:br>
            <a:endParaRPr lang="en-US" dirty="0"/>
          </a:p>
        </p:txBody>
      </p:sp>
      <p:sp>
        <p:nvSpPr>
          <p:cNvPr id="3" name="Content Placeholder 2"/>
          <p:cNvSpPr>
            <a:spLocks noGrp="1"/>
          </p:cNvSpPr>
          <p:nvPr>
            <p:ph idx="1"/>
          </p:nvPr>
        </p:nvSpPr>
        <p:spPr/>
        <p:txBody>
          <a:bodyPr>
            <a:normAutofit/>
          </a:bodyPr>
          <a:lstStyle/>
          <a:p>
            <a:r>
              <a:rPr lang="en-US" dirty="0" smtClean="0"/>
              <a:t>Routing refers to how an application’s endpoints (URIs) respond to client requests. For an introduction to routing, see Basic routing.</a:t>
            </a:r>
          </a:p>
          <a:p>
            <a:r>
              <a:rPr lang="en-US" dirty="0" smtClean="0"/>
              <a:t>You define routing using methods of the Express app object that correspond to HTTP methods; for example, </a:t>
            </a:r>
            <a:r>
              <a:rPr lang="en-US" dirty="0" err="1" smtClean="0"/>
              <a:t>app.get</a:t>
            </a:r>
            <a:r>
              <a:rPr lang="en-US" dirty="0" smtClean="0"/>
              <a:t>() to handle GET requests and </a:t>
            </a:r>
            <a:r>
              <a:rPr lang="en-US" dirty="0" err="1" smtClean="0"/>
              <a:t>app.post</a:t>
            </a:r>
            <a:r>
              <a:rPr lang="en-US" dirty="0" smtClean="0"/>
              <a:t> to handle POST requests.</a:t>
            </a:r>
          </a:p>
          <a:p>
            <a:r>
              <a:rPr lang="en-US" dirty="0" smtClean="0"/>
              <a:t>In fact, the routing methods can have more than one callback function as arguments. With multiple callback functions, it is important to provide next as an argument to the callback function and then call next() within the body of the function to hand off control to the next callback.</a:t>
            </a:r>
          </a:p>
          <a:p>
            <a:endParaRPr lang="en-US" dirty="0" smtClean="0"/>
          </a:p>
          <a:p>
            <a:endParaRPr lang="en-US" dirty="0"/>
          </a:p>
        </p:txBody>
      </p:sp>
    </p:spTree>
    <p:extLst>
      <p:ext uri="{BB962C8B-B14F-4D97-AF65-F5344CB8AC3E}">
        <p14:creationId xmlns:p14="http://schemas.microsoft.com/office/powerpoint/2010/main" val="3967285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i="1" dirty="0" smtClean="0"/>
              <a:t>The following code is an example of a very basic route.</a:t>
            </a:r>
            <a:br>
              <a:rPr lang="en-US" sz="3600" i="1" dirty="0" smtClean="0"/>
            </a:br>
            <a:endParaRPr lang="en-US" sz="3600" i="1" dirty="0"/>
          </a:p>
        </p:txBody>
      </p:sp>
      <p:sp>
        <p:nvSpPr>
          <p:cNvPr id="3" name="Content Placeholder 2"/>
          <p:cNvSpPr>
            <a:spLocks noGrp="1"/>
          </p:cNvSpPr>
          <p:nvPr>
            <p:ph idx="1"/>
          </p:nvPr>
        </p:nvSpPr>
        <p:spPr/>
        <p:txBody>
          <a:bodyPr>
            <a:normAutofit lnSpcReduction="10000"/>
          </a:bodyPr>
          <a:lstStyle/>
          <a:p>
            <a:endParaRPr lang="en-US" dirty="0" smtClean="0"/>
          </a:p>
          <a:p>
            <a:r>
              <a:rPr lang="en-US" dirty="0" err="1" smtClean="0"/>
              <a:t>const</a:t>
            </a:r>
            <a:r>
              <a:rPr lang="en-US" dirty="0" smtClean="0"/>
              <a:t> express = require('express')</a:t>
            </a:r>
          </a:p>
          <a:p>
            <a:r>
              <a:rPr lang="en-US" dirty="0" err="1" smtClean="0"/>
              <a:t>const</a:t>
            </a:r>
            <a:r>
              <a:rPr lang="en-US" dirty="0" smtClean="0"/>
              <a:t> app = express()</a:t>
            </a:r>
          </a:p>
          <a:p>
            <a:endParaRPr lang="en-US" dirty="0" smtClean="0"/>
          </a:p>
          <a:p>
            <a:r>
              <a:rPr lang="en-US" dirty="0" smtClean="0"/>
              <a:t>// respond with "hello world" when a GET request is made to the homepage</a:t>
            </a:r>
          </a:p>
          <a:p>
            <a:r>
              <a:rPr lang="en-US" dirty="0" err="1" smtClean="0"/>
              <a:t>app.get</a:t>
            </a:r>
            <a:r>
              <a:rPr lang="en-US" dirty="0" smtClean="0"/>
              <a:t>('/', (</a:t>
            </a:r>
            <a:r>
              <a:rPr lang="en-US" dirty="0" err="1" smtClean="0"/>
              <a:t>req</a:t>
            </a:r>
            <a:r>
              <a:rPr lang="en-US" dirty="0" smtClean="0"/>
              <a:t>, res) =&gt; {</a:t>
            </a:r>
          </a:p>
          <a:p>
            <a:r>
              <a:rPr lang="en-US" dirty="0" smtClean="0"/>
              <a:t>  </a:t>
            </a:r>
            <a:r>
              <a:rPr lang="en-US" dirty="0" err="1" smtClean="0"/>
              <a:t>res.send</a:t>
            </a:r>
            <a:r>
              <a:rPr lang="en-US" dirty="0" smtClean="0"/>
              <a:t>('hello world')</a:t>
            </a:r>
          </a:p>
          <a:p>
            <a:r>
              <a:rPr lang="en-US" dirty="0" smtClean="0"/>
              <a:t>})</a:t>
            </a:r>
            <a:endParaRPr lang="en-US" dirty="0"/>
          </a:p>
        </p:txBody>
      </p:sp>
    </p:spTree>
    <p:extLst>
      <p:ext uri="{BB962C8B-B14F-4D97-AF65-F5344CB8AC3E}">
        <p14:creationId xmlns:p14="http://schemas.microsoft.com/office/powerpoint/2010/main" val="8202546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Route methods</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 route method is derived from one of the HTTP methods, and is attached to an instance of the express class.</a:t>
            </a:r>
          </a:p>
          <a:p>
            <a:r>
              <a:rPr lang="en-US" dirty="0" smtClean="0"/>
              <a:t>The following code is an example of routes that are defined for the GET and the POST methods to the root of the app.</a:t>
            </a:r>
          </a:p>
          <a:p>
            <a:r>
              <a:rPr lang="en-US" dirty="0" smtClean="0"/>
              <a:t>// GET method route</a:t>
            </a:r>
          </a:p>
          <a:p>
            <a:r>
              <a:rPr lang="en-US" dirty="0" err="1" smtClean="0"/>
              <a:t>app.get</a:t>
            </a:r>
            <a:r>
              <a:rPr lang="en-US" dirty="0" smtClean="0"/>
              <a:t>('/', (</a:t>
            </a:r>
            <a:r>
              <a:rPr lang="en-US" dirty="0" err="1" smtClean="0"/>
              <a:t>req</a:t>
            </a:r>
            <a:r>
              <a:rPr lang="en-US" dirty="0" smtClean="0"/>
              <a:t>, res) =&gt; {</a:t>
            </a:r>
          </a:p>
          <a:p>
            <a:r>
              <a:rPr lang="en-US" dirty="0" smtClean="0"/>
              <a:t>  </a:t>
            </a:r>
            <a:r>
              <a:rPr lang="en-US" dirty="0" err="1" smtClean="0"/>
              <a:t>res.send</a:t>
            </a:r>
            <a:r>
              <a:rPr lang="en-US" dirty="0" smtClean="0"/>
              <a:t>('GET request to the homepage')</a:t>
            </a:r>
          </a:p>
          <a:p>
            <a:r>
              <a:rPr lang="en-US" dirty="0" smtClean="0"/>
              <a:t>})</a:t>
            </a:r>
          </a:p>
          <a:p>
            <a:r>
              <a:rPr lang="en-US" dirty="0" smtClean="0"/>
              <a:t>// POST method route</a:t>
            </a:r>
          </a:p>
          <a:p>
            <a:r>
              <a:rPr lang="en-US" dirty="0" err="1" smtClean="0"/>
              <a:t>app.post</a:t>
            </a:r>
            <a:r>
              <a:rPr lang="en-US" dirty="0" smtClean="0"/>
              <a:t>('/', (</a:t>
            </a:r>
            <a:r>
              <a:rPr lang="en-US" dirty="0" err="1" smtClean="0"/>
              <a:t>req</a:t>
            </a:r>
            <a:r>
              <a:rPr lang="en-US" dirty="0" smtClean="0"/>
              <a:t>, res) =&gt; {</a:t>
            </a:r>
          </a:p>
          <a:p>
            <a:r>
              <a:rPr lang="en-US" dirty="0" smtClean="0"/>
              <a:t>  </a:t>
            </a:r>
            <a:r>
              <a:rPr lang="en-US" dirty="0" err="1" smtClean="0"/>
              <a:t>res.send</a:t>
            </a:r>
            <a:r>
              <a:rPr lang="en-US" dirty="0" smtClean="0"/>
              <a:t>('POST request to the homepage')</a:t>
            </a:r>
          </a:p>
          <a:p>
            <a:r>
              <a:rPr lang="en-US" dirty="0" smtClean="0"/>
              <a:t>})</a:t>
            </a:r>
            <a:endParaRPr lang="en-US" dirty="0"/>
          </a:p>
        </p:txBody>
      </p:sp>
    </p:spTree>
    <p:extLst>
      <p:ext uri="{BB962C8B-B14F-4D97-AF65-F5344CB8AC3E}">
        <p14:creationId xmlns:p14="http://schemas.microsoft.com/office/powerpoint/2010/main" val="19671700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Response methods</a:t>
            </a:r>
            <a:br>
              <a:rPr lang="en-US" b="1" dirty="0"/>
            </a:br>
            <a:endParaRPr lang="en-US" dirty="0"/>
          </a:p>
        </p:txBody>
      </p:sp>
      <p:sp>
        <p:nvSpPr>
          <p:cNvPr id="3" name="Content Placeholder 2"/>
          <p:cNvSpPr>
            <a:spLocks noGrp="1"/>
          </p:cNvSpPr>
          <p:nvPr>
            <p:ph idx="1"/>
          </p:nvPr>
        </p:nvSpPr>
        <p:spPr/>
        <p:txBody>
          <a:bodyPr/>
          <a:lstStyle/>
          <a:p>
            <a:r>
              <a:rPr lang="en-US" dirty="0" smtClean="0"/>
              <a:t>The methods on the response object (res) in the following table can send a response to the client, and terminate the request-response cycle. </a:t>
            </a:r>
          </a:p>
          <a:p>
            <a:r>
              <a:rPr lang="en-US" dirty="0" smtClean="0"/>
              <a:t>If none of these methods are called from a route handler, the client request will be left hanging.</a:t>
            </a:r>
            <a:endParaRPr lang="en-US" dirty="0"/>
          </a:p>
        </p:txBody>
      </p:sp>
    </p:spTree>
    <p:extLst>
      <p:ext uri="{BB962C8B-B14F-4D97-AF65-F5344CB8AC3E}">
        <p14:creationId xmlns:p14="http://schemas.microsoft.com/office/powerpoint/2010/main" val="27417383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2437458" y="1824204"/>
          <a:ext cx="7317084" cy="4354180"/>
        </p:xfrm>
        <a:graphic>
          <a:graphicData uri="http://schemas.openxmlformats.org/drawingml/2006/table">
            <a:tbl>
              <a:tblPr/>
              <a:tblGrid>
                <a:gridCol w="3658542"/>
                <a:gridCol w="3658542"/>
              </a:tblGrid>
              <a:tr h="362048">
                <a:tc>
                  <a:txBody>
                    <a:bodyPr/>
                    <a:lstStyle/>
                    <a:p>
                      <a:pPr fontAlgn="t"/>
                      <a:r>
                        <a:rPr lang="en-US" sz="1600">
                          <a:solidFill>
                            <a:srgbClr val="353535"/>
                          </a:solidFill>
                          <a:effectLst/>
                        </a:rPr>
                        <a:t>Method</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solidFill>
                      <a:srgbClr val="DADADA"/>
                    </a:solidFill>
                  </a:tcPr>
                </a:tc>
                <a:tc>
                  <a:txBody>
                    <a:bodyPr/>
                    <a:lstStyle/>
                    <a:p>
                      <a:pPr fontAlgn="t"/>
                      <a:r>
                        <a:rPr lang="en-US" sz="1600">
                          <a:solidFill>
                            <a:srgbClr val="353535"/>
                          </a:solidFill>
                          <a:effectLst/>
                        </a:rPr>
                        <a:t>Description</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solidFill>
                      <a:srgbClr val="DADADA"/>
                    </a:solidFill>
                  </a:tcPr>
                </a:tc>
              </a:tr>
              <a:tr h="362048">
                <a:tc>
                  <a:txBody>
                    <a:bodyPr/>
                    <a:lstStyle/>
                    <a:p>
                      <a:pPr fontAlgn="t"/>
                      <a:r>
                        <a:rPr lang="en-US" sz="1600" u="none" strike="noStrike">
                          <a:solidFill>
                            <a:srgbClr val="259DFF"/>
                          </a:solidFill>
                          <a:effectLst/>
                          <a:hlinkClick r:id="rId2"/>
                        </a:rPr>
                        <a:t>res.download()</a:t>
                      </a:r>
                      <a:endParaRPr lang="en-US" sz="1600">
                        <a:effectLst/>
                      </a:endParaRP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1600">
                          <a:effectLst/>
                        </a:rPr>
                        <a:t>Prompt a file to be downloaded.</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362048">
                <a:tc>
                  <a:txBody>
                    <a:bodyPr/>
                    <a:lstStyle/>
                    <a:p>
                      <a:pPr fontAlgn="t"/>
                      <a:r>
                        <a:rPr lang="en-US" sz="1600" u="none" strike="noStrike">
                          <a:solidFill>
                            <a:srgbClr val="259DFF"/>
                          </a:solidFill>
                          <a:effectLst/>
                          <a:hlinkClick r:id="rId3"/>
                        </a:rPr>
                        <a:t>res.end()</a:t>
                      </a:r>
                      <a:endParaRPr lang="en-US" sz="1600">
                        <a:effectLst/>
                      </a:endParaRP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1600">
                          <a:effectLst/>
                        </a:rPr>
                        <a:t>End the response process.</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362048">
                <a:tc>
                  <a:txBody>
                    <a:bodyPr/>
                    <a:lstStyle/>
                    <a:p>
                      <a:pPr fontAlgn="t"/>
                      <a:r>
                        <a:rPr lang="en-US" sz="1600" u="none" strike="noStrike">
                          <a:solidFill>
                            <a:srgbClr val="259DFF"/>
                          </a:solidFill>
                          <a:effectLst/>
                          <a:hlinkClick r:id="rId4"/>
                        </a:rPr>
                        <a:t>res.json()</a:t>
                      </a:r>
                      <a:endParaRPr lang="en-US" sz="1600">
                        <a:effectLst/>
                      </a:endParaRP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1600">
                          <a:effectLst/>
                        </a:rPr>
                        <a:t>Send a JSON response.</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605668">
                <a:tc>
                  <a:txBody>
                    <a:bodyPr/>
                    <a:lstStyle/>
                    <a:p>
                      <a:pPr fontAlgn="t"/>
                      <a:r>
                        <a:rPr lang="en-US" sz="1600" u="none" strike="noStrike">
                          <a:solidFill>
                            <a:srgbClr val="259DFF"/>
                          </a:solidFill>
                          <a:effectLst/>
                          <a:hlinkClick r:id="rId5"/>
                        </a:rPr>
                        <a:t>res.jsonp()</a:t>
                      </a:r>
                      <a:endParaRPr lang="en-US" sz="1600">
                        <a:effectLst/>
                      </a:endParaRP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1600">
                          <a:effectLst/>
                        </a:rPr>
                        <a:t>Send a JSON response with JSONP support.</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362048">
                <a:tc>
                  <a:txBody>
                    <a:bodyPr/>
                    <a:lstStyle/>
                    <a:p>
                      <a:pPr fontAlgn="t"/>
                      <a:r>
                        <a:rPr lang="en-US" sz="1600" u="none" strike="noStrike">
                          <a:solidFill>
                            <a:srgbClr val="259DFF"/>
                          </a:solidFill>
                          <a:effectLst/>
                          <a:hlinkClick r:id="rId6"/>
                        </a:rPr>
                        <a:t>res.redirect()</a:t>
                      </a:r>
                      <a:endParaRPr lang="en-US" sz="1600">
                        <a:effectLst/>
                      </a:endParaRP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1600">
                          <a:effectLst/>
                        </a:rPr>
                        <a:t>Redirect a request.</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362048">
                <a:tc>
                  <a:txBody>
                    <a:bodyPr/>
                    <a:lstStyle/>
                    <a:p>
                      <a:pPr fontAlgn="t"/>
                      <a:r>
                        <a:rPr lang="en-US" sz="1600" u="none" strike="noStrike">
                          <a:solidFill>
                            <a:srgbClr val="259DFF"/>
                          </a:solidFill>
                          <a:effectLst/>
                          <a:hlinkClick r:id="rId7"/>
                        </a:rPr>
                        <a:t>res.render()</a:t>
                      </a:r>
                      <a:endParaRPr lang="en-US" sz="1600">
                        <a:effectLst/>
                      </a:endParaRP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1600">
                          <a:effectLst/>
                        </a:rPr>
                        <a:t>Render a view template.</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362048">
                <a:tc>
                  <a:txBody>
                    <a:bodyPr/>
                    <a:lstStyle/>
                    <a:p>
                      <a:pPr fontAlgn="t"/>
                      <a:r>
                        <a:rPr lang="en-US" sz="1600" u="none" strike="noStrike">
                          <a:solidFill>
                            <a:srgbClr val="259DFF"/>
                          </a:solidFill>
                          <a:effectLst/>
                          <a:hlinkClick r:id="rId8"/>
                        </a:rPr>
                        <a:t>res.send()</a:t>
                      </a:r>
                      <a:endParaRPr lang="en-US" sz="1600">
                        <a:effectLst/>
                      </a:endParaRP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1600">
                          <a:effectLst/>
                        </a:rPr>
                        <a:t>Send a response of various types.</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362048">
                <a:tc>
                  <a:txBody>
                    <a:bodyPr/>
                    <a:lstStyle/>
                    <a:p>
                      <a:pPr fontAlgn="t"/>
                      <a:r>
                        <a:rPr lang="en-US" sz="1600" u="none" strike="noStrike">
                          <a:solidFill>
                            <a:srgbClr val="259DFF"/>
                          </a:solidFill>
                          <a:effectLst/>
                          <a:hlinkClick r:id="rId9"/>
                        </a:rPr>
                        <a:t>res.sendFile()</a:t>
                      </a:r>
                      <a:endParaRPr lang="en-US" sz="1600">
                        <a:effectLst/>
                      </a:endParaRP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1600">
                          <a:effectLst/>
                        </a:rPr>
                        <a:t>Send a file as an octet stream.</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849289">
                <a:tc>
                  <a:txBody>
                    <a:bodyPr/>
                    <a:lstStyle/>
                    <a:p>
                      <a:pPr fontAlgn="t"/>
                      <a:r>
                        <a:rPr lang="en-US" sz="1600" u="none" strike="noStrike">
                          <a:solidFill>
                            <a:srgbClr val="259DFF"/>
                          </a:solidFill>
                          <a:effectLst/>
                          <a:hlinkClick r:id="rId10"/>
                        </a:rPr>
                        <a:t>res.sendStatus()</a:t>
                      </a:r>
                      <a:endParaRPr lang="en-US" sz="1600">
                        <a:effectLst/>
                      </a:endParaRP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1600" dirty="0">
                          <a:effectLst/>
                        </a:rPr>
                        <a:t>Set the response status code and send its string representation as the response body.</a:t>
                      </a:r>
                    </a:p>
                  </a:txBody>
                  <a:tcPr marL="59213" marR="59213" marT="59213" marB="59213">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7835043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Express</a:t>
            </a:r>
            <a:endParaRPr lang="en-US" dirty="0"/>
          </a:p>
        </p:txBody>
      </p:sp>
      <p:sp>
        <p:nvSpPr>
          <p:cNvPr id="3" name="Content Placeholder 2"/>
          <p:cNvSpPr>
            <a:spLocks noGrp="1"/>
          </p:cNvSpPr>
          <p:nvPr>
            <p:ph idx="1"/>
          </p:nvPr>
        </p:nvSpPr>
        <p:spPr/>
        <p:txBody>
          <a:bodyPr>
            <a:normAutofit/>
          </a:bodyPr>
          <a:lstStyle/>
          <a:p>
            <a:r>
              <a:rPr lang="en-US" dirty="0"/>
              <a:t>Express. </a:t>
            </a:r>
            <a:r>
              <a:rPr lang="en-US" dirty="0" err="1"/>
              <a:t>js</a:t>
            </a:r>
            <a:r>
              <a:rPr lang="en-US" dirty="0"/>
              <a:t> is the most popular backend framework for Node. </a:t>
            </a:r>
            <a:r>
              <a:rPr lang="en-US" dirty="0" err="1"/>
              <a:t>js</a:t>
            </a:r>
            <a:r>
              <a:rPr lang="en-US" dirty="0"/>
              <a:t>, and it is an extensive part of the JavaScript ecosystem</a:t>
            </a:r>
            <a:r>
              <a:rPr lang="en-US" dirty="0" smtClean="0"/>
              <a:t>.</a:t>
            </a:r>
          </a:p>
          <a:p>
            <a:r>
              <a:rPr lang="en-US" dirty="0" smtClean="0"/>
              <a:t> </a:t>
            </a:r>
            <a:r>
              <a:rPr lang="en-US" dirty="0"/>
              <a:t>It is designed to build single-page, multi-page, and hybrid web applications, it has also become the standard for developing backend applications with Node</a:t>
            </a:r>
            <a:r>
              <a:rPr lang="en-US" dirty="0" smtClean="0"/>
              <a:t>.</a:t>
            </a:r>
          </a:p>
          <a:p>
            <a:r>
              <a:rPr lang="en-US" dirty="0"/>
              <a:t>Web </a:t>
            </a:r>
            <a:r>
              <a:rPr lang="en-US" dirty="0" smtClean="0"/>
              <a:t>Applications :</a:t>
            </a:r>
            <a:endParaRPr lang="en-US" dirty="0"/>
          </a:p>
          <a:p>
            <a:r>
              <a:rPr lang="en-US" dirty="0"/>
              <a:t>Express is a minimal and flexible Node.js web application framework that provides a robust set of features for web and mobile applications.</a:t>
            </a:r>
            <a:endParaRPr lang="en-US" dirty="0" smtClean="0"/>
          </a:p>
          <a:p>
            <a:endParaRPr lang="en-US" dirty="0"/>
          </a:p>
        </p:txBody>
      </p:sp>
    </p:spTree>
    <p:extLst>
      <p:ext uri="{BB962C8B-B14F-4D97-AF65-F5344CB8AC3E}">
        <p14:creationId xmlns:p14="http://schemas.microsoft.com/office/powerpoint/2010/main" val="10221372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APIs</a:t>
            </a:r>
          </a:p>
          <a:p>
            <a:r>
              <a:rPr lang="en-US" dirty="0"/>
              <a:t>With a myriad of HTTP utility methods and middleware at your </a:t>
            </a:r>
            <a:r>
              <a:rPr lang="en-US" dirty="0" smtClean="0"/>
              <a:t>disposal</a:t>
            </a:r>
            <a:r>
              <a:rPr lang="en-US" dirty="0"/>
              <a:t>, creating a robust API is quick and easy</a:t>
            </a:r>
            <a:r>
              <a:rPr lang="en-US" dirty="0" smtClean="0"/>
              <a:t>.</a:t>
            </a:r>
          </a:p>
          <a:p>
            <a:r>
              <a:rPr lang="en-US" dirty="0"/>
              <a:t>Performance</a:t>
            </a:r>
          </a:p>
          <a:p>
            <a:r>
              <a:rPr lang="en-US" dirty="0"/>
              <a:t>Express provides a thin layer of fundamental web application features, without obscuring Node.js features that you know and love</a:t>
            </a:r>
            <a:r>
              <a:rPr lang="en-US" dirty="0" smtClean="0"/>
              <a:t>.</a:t>
            </a:r>
          </a:p>
          <a:p>
            <a:r>
              <a:rPr lang="en-US" dirty="0"/>
              <a:t>Frameworks</a:t>
            </a:r>
          </a:p>
          <a:p>
            <a:r>
              <a:rPr lang="en-US" dirty="0"/>
              <a:t>Many </a:t>
            </a:r>
            <a:r>
              <a:rPr lang="en-US" dirty="0">
                <a:hlinkClick r:id="rId2"/>
              </a:rPr>
              <a:t>popular frameworks</a:t>
            </a:r>
            <a:r>
              <a:rPr lang="en-US" dirty="0"/>
              <a:t> are based on Express.</a:t>
            </a:r>
          </a:p>
        </p:txBody>
      </p:sp>
    </p:spTree>
    <p:extLst>
      <p:ext uri="{BB962C8B-B14F-4D97-AF65-F5344CB8AC3E}">
        <p14:creationId xmlns:p14="http://schemas.microsoft.com/office/powerpoint/2010/main" val="33974711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Middleware</a:t>
            </a:r>
            <a:endParaRPr lang="en-US" dirty="0"/>
          </a:p>
        </p:txBody>
      </p:sp>
      <p:sp>
        <p:nvSpPr>
          <p:cNvPr id="3" name="Content Placeholder 2"/>
          <p:cNvSpPr>
            <a:spLocks noGrp="1"/>
          </p:cNvSpPr>
          <p:nvPr>
            <p:ph idx="1"/>
          </p:nvPr>
        </p:nvSpPr>
        <p:spPr/>
        <p:txBody>
          <a:bodyPr/>
          <a:lstStyle/>
          <a:p>
            <a:r>
              <a:rPr lang="en-US" dirty="0"/>
              <a:t>Express is a routing and middleware web framework that has minimal functionality of its own: An Express application is essentially a series of middleware function calls</a:t>
            </a:r>
            <a:r>
              <a:rPr lang="en-US" dirty="0" smtClean="0"/>
              <a:t>.</a:t>
            </a:r>
          </a:p>
          <a:p>
            <a:r>
              <a:rPr lang="en-US" dirty="0" smtClean="0"/>
              <a:t>Middleware functions are functions that have access to the request object (</a:t>
            </a:r>
            <a:r>
              <a:rPr lang="en-US" dirty="0" err="1" smtClean="0"/>
              <a:t>req</a:t>
            </a:r>
            <a:r>
              <a:rPr lang="en-US" dirty="0" smtClean="0"/>
              <a:t>), the response object (res), and the next middleware function in the application’s request-response cycle. </a:t>
            </a:r>
          </a:p>
          <a:p>
            <a:r>
              <a:rPr lang="en-US" dirty="0" smtClean="0"/>
              <a:t>The next middleware function is commonly denoted by a variable named next.</a:t>
            </a:r>
            <a:endParaRPr lang="en-US" dirty="0"/>
          </a:p>
        </p:txBody>
      </p:sp>
    </p:spTree>
    <p:extLst>
      <p:ext uri="{BB962C8B-B14F-4D97-AF65-F5344CB8AC3E}">
        <p14:creationId xmlns:p14="http://schemas.microsoft.com/office/powerpoint/2010/main" val="9578337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23454"/>
          </a:xfrm>
        </p:spPr>
        <p:txBody>
          <a:bodyPr>
            <a:normAutofit fontScale="90000"/>
          </a:bodyPr>
          <a:lstStyle/>
          <a:p>
            <a:endParaRPr lang="en-US" dirty="0"/>
          </a:p>
        </p:txBody>
      </p:sp>
      <p:sp>
        <p:nvSpPr>
          <p:cNvPr id="3" name="Content Placeholder 2"/>
          <p:cNvSpPr>
            <a:spLocks noGrp="1"/>
          </p:cNvSpPr>
          <p:nvPr>
            <p:ph idx="1"/>
          </p:nvPr>
        </p:nvSpPr>
        <p:spPr>
          <a:xfrm>
            <a:off x="838200" y="1786759"/>
            <a:ext cx="10515600" cy="4390204"/>
          </a:xfrm>
        </p:spPr>
        <p:txBody>
          <a:bodyPr>
            <a:normAutofit/>
          </a:bodyPr>
          <a:lstStyle/>
          <a:p>
            <a:r>
              <a:rPr lang="en-US" dirty="0"/>
              <a:t>Middleware functions can perform the following tasks:</a:t>
            </a:r>
          </a:p>
          <a:p>
            <a:r>
              <a:rPr lang="en-US" dirty="0"/>
              <a:t>Execute any code.</a:t>
            </a:r>
          </a:p>
          <a:p>
            <a:r>
              <a:rPr lang="en-US" dirty="0"/>
              <a:t>Make changes to the request and the response objects.</a:t>
            </a:r>
          </a:p>
          <a:p>
            <a:r>
              <a:rPr lang="en-US" dirty="0"/>
              <a:t>End the request-response cycle.</a:t>
            </a:r>
          </a:p>
          <a:p>
            <a:r>
              <a:rPr lang="en-US" dirty="0"/>
              <a:t>Call the next middleware function in the stack</a:t>
            </a:r>
            <a:r>
              <a:rPr lang="en-US" dirty="0" smtClean="0"/>
              <a:t>.</a:t>
            </a:r>
          </a:p>
          <a:p>
            <a:r>
              <a:rPr lang="en-US" dirty="0" smtClean="0"/>
              <a:t>If the current middleware function does not end the request-response cycle, it must call next() to pass control to the next middleware function. Otherwise, the request will be left hanging.</a:t>
            </a:r>
          </a:p>
          <a:p>
            <a:endParaRPr lang="en-US" dirty="0"/>
          </a:p>
          <a:p>
            <a:endParaRPr lang="en-US" dirty="0"/>
          </a:p>
        </p:txBody>
      </p:sp>
    </p:spTree>
    <p:extLst>
      <p:ext uri="{BB962C8B-B14F-4D97-AF65-F5344CB8AC3E}">
        <p14:creationId xmlns:p14="http://schemas.microsoft.com/office/powerpoint/2010/main" val="16612674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An Express application can use the following types of middleware:</a:t>
            </a:r>
          </a:p>
          <a:p>
            <a:r>
              <a:rPr lang="en-US" dirty="0" smtClean="0"/>
              <a:t>Application-level middleware</a:t>
            </a:r>
          </a:p>
          <a:p>
            <a:r>
              <a:rPr lang="en-US" dirty="0" smtClean="0"/>
              <a:t>Router-level middleware</a:t>
            </a:r>
          </a:p>
          <a:p>
            <a:r>
              <a:rPr lang="en-US" dirty="0" smtClean="0"/>
              <a:t>Error-handling middleware</a:t>
            </a:r>
          </a:p>
          <a:p>
            <a:r>
              <a:rPr lang="en-US" dirty="0" smtClean="0"/>
              <a:t>Built-in middleware</a:t>
            </a:r>
          </a:p>
          <a:p>
            <a:r>
              <a:rPr lang="en-US" dirty="0" smtClean="0"/>
              <a:t>Third-party middleware</a:t>
            </a:r>
          </a:p>
          <a:p>
            <a:endParaRPr lang="en-US" dirty="0"/>
          </a:p>
        </p:txBody>
      </p:sp>
    </p:spTree>
    <p:extLst>
      <p:ext uri="{BB962C8B-B14F-4D97-AF65-F5344CB8AC3E}">
        <p14:creationId xmlns:p14="http://schemas.microsoft.com/office/powerpoint/2010/main" val="28136720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Application-level middleware</a:t>
            </a:r>
            <a:endParaRPr lang="en-US" dirty="0"/>
          </a:p>
        </p:txBody>
      </p:sp>
      <p:sp>
        <p:nvSpPr>
          <p:cNvPr id="3" name="Content Placeholder 2"/>
          <p:cNvSpPr>
            <a:spLocks noGrp="1"/>
          </p:cNvSpPr>
          <p:nvPr>
            <p:ph idx="1"/>
          </p:nvPr>
        </p:nvSpPr>
        <p:spPr>
          <a:xfrm>
            <a:off x="838200" y="1439917"/>
            <a:ext cx="10515600" cy="4737046"/>
          </a:xfrm>
        </p:spPr>
        <p:txBody>
          <a:bodyPr>
            <a:normAutofit fontScale="92500" lnSpcReduction="20000"/>
          </a:bodyPr>
          <a:lstStyle/>
          <a:p>
            <a:r>
              <a:rPr lang="en-US" dirty="0" smtClean="0"/>
              <a:t>Bind application-level middleware to an instance of the app object by using the </a:t>
            </a:r>
            <a:r>
              <a:rPr lang="en-US" dirty="0" err="1" smtClean="0"/>
              <a:t>app.use</a:t>
            </a:r>
            <a:r>
              <a:rPr lang="en-US" dirty="0" smtClean="0"/>
              <a:t>() and </a:t>
            </a:r>
            <a:r>
              <a:rPr lang="en-US" dirty="0" err="1" smtClean="0"/>
              <a:t>app.METHOD</a:t>
            </a:r>
            <a:r>
              <a:rPr lang="en-US" dirty="0" smtClean="0"/>
              <a:t>() functions, where METHOD is the HTTP method of the request that the middleware function handles (such as GET, PUT, or POST) in lowercase.</a:t>
            </a:r>
          </a:p>
          <a:p>
            <a:r>
              <a:rPr lang="en-US" dirty="0"/>
              <a:t>This example shows a middleware function with no mount path. The function is executed every time the app receives a request</a:t>
            </a:r>
            <a:r>
              <a:rPr lang="en-US" dirty="0" smtClean="0"/>
              <a:t>.</a:t>
            </a:r>
          </a:p>
          <a:p>
            <a:r>
              <a:rPr lang="en-US" dirty="0" err="1" smtClean="0"/>
              <a:t>const</a:t>
            </a:r>
            <a:r>
              <a:rPr lang="en-US" dirty="0" smtClean="0"/>
              <a:t> express = require('express')</a:t>
            </a:r>
          </a:p>
          <a:p>
            <a:r>
              <a:rPr lang="en-US" dirty="0" err="1" smtClean="0"/>
              <a:t>const</a:t>
            </a:r>
            <a:r>
              <a:rPr lang="en-US" dirty="0" smtClean="0"/>
              <a:t> app = express()</a:t>
            </a:r>
          </a:p>
          <a:p>
            <a:r>
              <a:rPr lang="en-US" dirty="0" err="1" smtClean="0"/>
              <a:t>app.use</a:t>
            </a:r>
            <a:r>
              <a:rPr lang="en-US" dirty="0" smtClean="0"/>
              <a:t>((</a:t>
            </a:r>
            <a:r>
              <a:rPr lang="en-US" dirty="0" err="1" smtClean="0"/>
              <a:t>req</a:t>
            </a:r>
            <a:r>
              <a:rPr lang="en-US" dirty="0" smtClean="0"/>
              <a:t>, res, next) =&gt; {</a:t>
            </a:r>
          </a:p>
          <a:p>
            <a:r>
              <a:rPr lang="en-US" dirty="0" smtClean="0"/>
              <a:t>  console.log('Time:', </a:t>
            </a:r>
            <a:r>
              <a:rPr lang="en-US" dirty="0" err="1" smtClean="0"/>
              <a:t>Date.now</a:t>
            </a:r>
            <a:r>
              <a:rPr lang="en-US" dirty="0" smtClean="0"/>
              <a:t>())</a:t>
            </a:r>
          </a:p>
          <a:p>
            <a:r>
              <a:rPr lang="en-US" dirty="0" smtClean="0"/>
              <a:t>  next()</a:t>
            </a:r>
          </a:p>
          <a:p>
            <a:r>
              <a:rPr lang="en-US" dirty="0" smtClean="0"/>
              <a:t>})</a:t>
            </a:r>
            <a:endParaRPr lang="en-US" dirty="0"/>
          </a:p>
        </p:txBody>
      </p:sp>
    </p:spTree>
    <p:extLst>
      <p:ext uri="{BB962C8B-B14F-4D97-AF65-F5344CB8AC3E}">
        <p14:creationId xmlns:p14="http://schemas.microsoft.com/office/powerpoint/2010/main" val="4128305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Built-in middleware</a:t>
            </a:r>
            <a:endParaRPr lang="en-US" dirty="0"/>
          </a:p>
        </p:txBody>
      </p:sp>
      <p:sp>
        <p:nvSpPr>
          <p:cNvPr id="3" name="Content Placeholder 2"/>
          <p:cNvSpPr>
            <a:spLocks noGrp="1"/>
          </p:cNvSpPr>
          <p:nvPr>
            <p:ph idx="1"/>
          </p:nvPr>
        </p:nvSpPr>
        <p:spPr/>
        <p:txBody>
          <a:bodyPr>
            <a:normAutofit lnSpcReduction="10000"/>
          </a:bodyPr>
          <a:lstStyle/>
          <a:p>
            <a:r>
              <a:rPr lang="en-US" dirty="0"/>
              <a:t>Starting with version 4.x, Express no longer depends on </a:t>
            </a:r>
            <a:r>
              <a:rPr lang="en-US" dirty="0">
                <a:hlinkClick r:id="rId2"/>
              </a:rPr>
              <a:t>Connect</a:t>
            </a:r>
            <a:r>
              <a:rPr lang="en-US" dirty="0"/>
              <a:t>. The middleware functions that were previously included with Express are now in separate modules; see </a:t>
            </a:r>
            <a:r>
              <a:rPr lang="en-US" dirty="0">
                <a:hlinkClick r:id="rId3"/>
              </a:rPr>
              <a:t>the list of middleware functions</a:t>
            </a:r>
            <a:r>
              <a:rPr lang="en-US" dirty="0"/>
              <a:t>.</a:t>
            </a:r>
          </a:p>
          <a:p>
            <a:r>
              <a:rPr lang="en-US" dirty="0"/>
              <a:t>Express has the following built-in middleware functions:</a:t>
            </a:r>
          </a:p>
          <a:p>
            <a:r>
              <a:rPr lang="en-US" dirty="0" err="1">
                <a:hlinkClick r:id="rId4"/>
              </a:rPr>
              <a:t>express.static</a:t>
            </a:r>
            <a:r>
              <a:rPr lang="en-US" dirty="0"/>
              <a:t> serves static assets such as HTML files, images, and so on.</a:t>
            </a:r>
          </a:p>
          <a:p>
            <a:r>
              <a:rPr lang="en-US" dirty="0" err="1">
                <a:hlinkClick r:id="rId5"/>
              </a:rPr>
              <a:t>express.json</a:t>
            </a:r>
            <a:r>
              <a:rPr lang="en-US" dirty="0"/>
              <a:t> parses incoming requests with JSON payloads. </a:t>
            </a:r>
            <a:r>
              <a:rPr lang="en-US" b="1" dirty="0"/>
              <a:t>NOTE: Available with Express 4.16.0+</a:t>
            </a:r>
            <a:endParaRPr lang="en-US" dirty="0"/>
          </a:p>
          <a:p>
            <a:r>
              <a:rPr lang="en-US" dirty="0" err="1">
                <a:hlinkClick r:id="rId6"/>
              </a:rPr>
              <a:t>express.urlencoded</a:t>
            </a:r>
            <a:r>
              <a:rPr lang="en-US" dirty="0"/>
              <a:t> parses incoming requests with URL-encoded payloads. </a:t>
            </a:r>
            <a:r>
              <a:rPr lang="en-US" b="1" dirty="0"/>
              <a:t>NOTE: Available with Express 4.16.0+</a:t>
            </a:r>
            <a:endParaRPr lang="en-US" dirty="0"/>
          </a:p>
          <a:p>
            <a:endParaRPr lang="en-US" dirty="0"/>
          </a:p>
        </p:txBody>
      </p:sp>
    </p:spTree>
    <p:extLst>
      <p:ext uri="{BB962C8B-B14F-4D97-AF65-F5344CB8AC3E}">
        <p14:creationId xmlns:p14="http://schemas.microsoft.com/office/powerpoint/2010/main" val="3434080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Third-party middleware</a:t>
            </a:r>
            <a:endParaRPr lang="en-US" dirty="0"/>
          </a:p>
        </p:txBody>
      </p:sp>
      <p:sp>
        <p:nvSpPr>
          <p:cNvPr id="3" name="Content Placeholder 2"/>
          <p:cNvSpPr>
            <a:spLocks noGrp="1"/>
          </p:cNvSpPr>
          <p:nvPr>
            <p:ph idx="1"/>
          </p:nvPr>
        </p:nvSpPr>
        <p:spPr/>
        <p:txBody>
          <a:bodyPr/>
          <a:lstStyle/>
          <a:p>
            <a:r>
              <a:rPr lang="en-US" dirty="0" smtClean="0"/>
              <a:t>Use third-party middleware to add functionality to Express apps.</a:t>
            </a:r>
          </a:p>
          <a:p>
            <a:r>
              <a:rPr lang="en-US" dirty="0" smtClean="0"/>
              <a:t>Install the Node.js module for the required functionality, then load it in your app at the application level or at the router level.</a:t>
            </a:r>
          </a:p>
          <a:p>
            <a:r>
              <a:rPr lang="en-US" dirty="0" smtClean="0"/>
              <a:t>The following example illustrates installing and loading the cookie-parsing middleware function cookie-parser.</a:t>
            </a:r>
          </a:p>
          <a:p>
            <a:r>
              <a:rPr lang="en-US" dirty="0" smtClean="0"/>
              <a:t>$ </a:t>
            </a:r>
            <a:r>
              <a:rPr lang="en-US" dirty="0" err="1" smtClean="0"/>
              <a:t>npm</a:t>
            </a:r>
            <a:r>
              <a:rPr lang="en-US" dirty="0" smtClean="0"/>
              <a:t> install cookie-parser</a:t>
            </a:r>
            <a:endParaRPr lang="en-US" dirty="0"/>
          </a:p>
        </p:txBody>
      </p:sp>
    </p:spTree>
    <p:extLst>
      <p:ext uri="{BB962C8B-B14F-4D97-AF65-F5344CB8AC3E}">
        <p14:creationId xmlns:p14="http://schemas.microsoft.com/office/powerpoint/2010/main" val="18427264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const</a:t>
            </a:r>
            <a:r>
              <a:rPr lang="en-US" dirty="0" smtClean="0"/>
              <a:t> express = require('express')</a:t>
            </a:r>
          </a:p>
          <a:p>
            <a:r>
              <a:rPr lang="en-US" dirty="0" err="1" smtClean="0"/>
              <a:t>const</a:t>
            </a:r>
            <a:r>
              <a:rPr lang="en-US" dirty="0" smtClean="0"/>
              <a:t> app = express()</a:t>
            </a:r>
          </a:p>
          <a:p>
            <a:r>
              <a:rPr lang="en-US" dirty="0" err="1" smtClean="0"/>
              <a:t>const</a:t>
            </a:r>
            <a:r>
              <a:rPr lang="en-US" dirty="0" smtClean="0"/>
              <a:t> </a:t>
            </a:r>
            <a:r>
              <a:rPr lang="en-US" dirty="0" err="1" smtClean="0"/>
              <a:t>cookieParser</a:t>
            </a:r>
            <a:r>
              <a:rPr lang="en-US" dirty="0" smtClean="0"/>
              <a:t> = require('cookie-parser')</a:t>
            </a:r>
          </a:p>
          <a:p>
            <a:endParaRPr lang="en-US" dirty="0" smtClean="0"/>
          </a:p>
          <a:p>
            <a:r>
              <a:rPr lang="en-US" dirty="0" smtClean="0"/>
              <a:t>// load the cookie-parsing middleware</a:t>
            </a:r>
          </a:p>
          <a:p>
            <a:r>
              <a:rPr lang="en-US" dirty="0" err="1" smtClean="0"/>
              <a:t>app.use</a:t>
            </a:r>
            <a:r>
              <a:rPr lang="en-US" dirty="0" smtClean="0"/>
              <a:t>(</a:t>
            </a:r>
            <a:r>
              <a:rPr lang="en-US" dirty="0" err="1" smtClean="0"/>
              <a:t>cookieParser</a:t>
            </a:r>
            <a:r>
              <a:rPr lang="en-US" dirty="0" smtClean="0"/>
              <a:t>())</a:t>
            </a:r>
            <a:endParaRPr lang="en-US" dirty="0"/>
          </a:p>
        </p:txBody>
      </p:sp>
    </p:spTree>
    <p:extLst>
      <p:ext uri="{BB962C8B-B14F-4D97-AF65-F5344CB8AC3E}">
        <p14:creationId xmlns:p14="http://schemas.microsoft.com/office/powerpoint/2010/main" val="37954416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81109"/>
          </a:xfrm>
        </p:spPr>
        <p:txBody>
          <a:bodyPr>
            <a:normAutofit fontScale="90000"/>
          </a:bodyPr>
          <a:lstStyle/>
          <a:p>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688431174"/>
              </p:ext>
            </p:extLst>
          </p:nvPr>
        </p:nvGraphicFramePr>
        <p:xfrm>
          <a:off x="838200" y="746237"/>
          <a:ext cx="10515600" cy="5430726"/>
        </p:xfrm>
        <a:graphic>
          <a:graphicData uri="http://schemas.openxmlformats.org/drawingml/2006/table">
            <a:tbl>
              <a:tblPr/>
              <a:tblGrid>
                <a:gridCol w="3505200"/>
                <a:gridCol w="3505200"/>
                <a:gridCol w="3505200"/>
              </a:tblGrid>
              <a:tr h="430323">
                <a:tc>
                  <a:txBody>
                    <a:bodyPr/>
                    <a:lstStyle/>
                    <a:p>
                      <a:pPr fontAlgn="t"/>
                      <a:r>
                        <a:rPr lang="en-US" sz="900" dirty="0">
                          <a:solidFill>
                            <a:srgbClr val="353535"/>
                          </a:solidFill>
                          <a:effectLst/>
                        </a:rPr>
                        <a:t>Middleware module</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solidFill>
                      <a:srgbClr val="DADADA"/>
                    </a:solidFill>
                  </a:tcPr>
                </a:tc>
                <a:tc>
                  <a:txBody>
                    <a:bodyPr/>
                    <a:lstStyle/>
                    <a:p>
                      <a:pPr fontAlgn="t"/>
                      <a:r>
                        <a:rPr lang="en-US" sz="900">
                          <a:solidFill>
                            <a:srgbClr val="353535"/>
                          </a:solidFill>
                          <a:effectLst/>
                        </a:rPr>
                        <a:t>Description</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solidFill>
                      <a:srgbClr val="DADADA"/>
                    </a:solidFill>
                  </a:tcPr>
                </a:tc>
                <a:tc>
                  <a:txBody>
                    <a:bodyPr/>
                    <a:lstStyle/>
                    <a:p>
                      <a:pPr fontAlgn="t"/>
                      <a:r>
                        <a:rPr lang="en-US" sz="900">
                          <a:solidFill>
                            <a:srgbClr val="353535"/>
                          </a:solidFill>
                          <a:effectLst/>
                        </a:rPr>
                        <a:t>Replaces built-in function (Express 3)</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solidFill>
                      <a:srgbClr val="DADADA"/>
                    </a:solidFill>
                  </a:tcPr>
                </a:tc>
              </a:tr>
              <a:tr h="776505">
                <a:tc>
                  <a:txBody>
                    <a:bodyPr/>
                    <a:lstStyle/>
                    <a:p>
                      <a:pPr fontAlgn="t"/>
                      <a:r>
                        <a:rPr lang="en-US" sz="900" u="none" strike="noStrike">
                          <a:solidFill>
                            <a:srgbClr val="259DFF"/>
                          </a:solidFill>
                          <a:effectLst/>
                          <a:hlinkClick r:id="rId2"/>
                        </a:rPr>
                        <a:t>body-parser</a:t>
                      </a:r>
                      <a:endParaRPr lang="en-US" sz="900">
                        <a:effectLst/>
                      </a:endParaRP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dirty="0">
                          <a:effectLst/>
                        </a:rPr>
                        <a:t>Parse HTTP request body. See also: </a:t>
                      </a:r>
                      <a:r>
                        <a:rPr lang="en-US" sz="900" u="none" strike="noStrike" dirty="0">
                          <a:solidFill>
                            <a:srgbClr val="259DFF"/>
                          </a:solidFill>
                          <a:effectLst/>
                          <a:hlinkClick r:id="rId3"/>
                        </a:rPr>
                        <a:t>body</a:t>
                      </a:r>
                      <a:r>
                        <a:rPr lang="en-US" sz="900" dirty="0">
                          <a:effectLst/>
                        </a:rPr>
                        <a:t>, </a:t>
                      </a:r>
                      <a:r>
                        <a:rPr lang="en-US" sz="900" u="none" strike="noStrike" dirty="0">
                          <a:solidFill>
                            <a:srgbClr val="259DFF"/>
                          </a:solidFill>
                          <a:effectLst/>
                          <a:hlinkClick r:id="rId4"/>
                        </a:rPr>
                        <a:t>co-body</a:t>
                      </a:r>
                      <a:r>
                        <a:rPr lang="en-US" sz="900" dirty="0">
                          <a:effectLst/>
                        </a:rPr>
                        <a:t>, and </a:t>
                      </a:r>
                      <a:r>
                        <a:rPr lang="en-US" sz="900" u="none" strike="noStrike" dirty="0">
                          <a:solidFill>
                            <a:srgbClr val="259DFF"/>
                          </a:solidFill>
                          <a:effectLst/>
                          <a:hlinkClick r:id="rId5"/>
                        </a:rPr>
                        <a:t>raw-body</a:t>
                      </a:r>
                      <a:r>
                        <a:rPr lang="en-US" sz="900" dirty="0">
                          <a:effectLst/>
                        </a:rPr>
                        <a:t>.</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dirty="0" err="1">
                          <a:effectLst/>
                        </a:rPr>
                        <a:t>express.bodyParser</a:t>
                      </a:r>
                      <a:endParaRPr lang="en-US" sz="900" dirty="0">
                        <a:effectLst/>
                      </a:endParaRP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430323">
                <a:tc>
                  <a:txBody>
                    <a:bodyPr/>
                    <a:lstStyle/>
                    <a:p>
                      <a:pPr fontAlgn="t"/>
                      <a:r>
                        <a:rPr lang="en-US" sz="900" u="none" strike="noStrike" dirty="0">
                          <a:solidFill>
                            <a:srgbClr val="259DFF"/>
                          </a:solidFill>
                          <a:effectLst/>
                          <a:hlinkClick r:id="rId6"/>
                        </a:rPr>
                        <a:t>compression</a:t>
                      </a:r>
                      <a:endParaRPr lang="en-US" sz="900" dirty="0">
                        <a:effectLst/>
                      </a:endParaRP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Compress HTTP responses.</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express.compress</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430323">
                <a:tc>
                  <a:txBody>
                    <a:bodyPr/>
                    <a:lstStyle/>
                    <a:p>
                      <a:pPr fontAlgn="t"/>
                      <a:r>
                        <a:rPr lang="en-US" sz="900" u="none" strike="noStrike">
                          <a:solidFill>
                            <a:srgbClr val="259DFF"/>
                          </a:solidFill>
                          <a:effectLst/>
                          <a:hlinkClick r:id="rId7"/>
                        </a:rPr>
                        <a:t>connect-rid</a:t>
                      </a:r>
                      <a:endParaRPr lang="en-US" sz="900">
                        <a:effectLst/>
                      </a:endParaRP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Generate unique request ID.</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NA</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1122687">
                <a:tc>
                  <a:txBody>
                    <a:bodyPr/>
                    <a:lstStyle/>
                    <a:p>
                      <a:pPr fontAlgn="t"/>
                      <a:r>
                        <a:rPr lang="en-US" sz="900" u="none" strike="noStrike">
                          <a:solidFill>
                            <a:srgbClr val="259DFF"/>
                          </a:solidFill>
                          <a:effectLst/>
                          <a:hlinkClick r:id="rId8"/>
                        </a:rPr>
                        <a:t>cookie-parser</a:t>
                      </a:r>
                      <a:endParaRPr lang="en-US" sz="900">
                        <a:effectLst/>
                      </a:endParaRP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Parse cookie header and populate req.cookies. See also </a:t>
                      </a:r>
                      <a:r>
                        <a:rPr lang="en-US" sz="900" u="none" strike="noStrike">
                          <a:solidFill>
                            <a:srgbClr val="259DFF"/>
                          </a:solidFill>
                          <a:effectLst/>
                          <a:hlinkClick r:id="rId9"/>
                        </a:rPr>
                        <a:t>cookies</a:t>
                      </a:r>
                      <a:r>
                        <a:rPr lang="en-US" sz="900">
                          <a:effectLst/>
                        </a:rPr>
                        <a:t> and </a:t>
                      </a:r>
                      <a:r>
                        <a:rPr lang="en-US" sz="900" u="none" strike="noStrike">
                          <a:solidFill>
                            <a:srgbClr val="259DFF"/>
                          </a:solidFill>
                          <a:effectLst/>
                          <a:hlinkClick r:id="rId10"/>
                        </a:rPr>
                        <a:t>keygrip</a:t>
                      </a:r>
                      <a:r>
                        <a:rPr lang="en-US" sz="900">
                          <a:effectLst/>
                        </a:rPr>
                        <a:t>.</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express.cookieParser</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430323">
                <a:tc>
                  <a:txBody>
                    <a:bodyPr/>
                    <a:lstStyle/>
                    <a:p>
                      <a:pPr fontAlgn="t"/>
                      <a:r>
                        <a:rPr lang="en-US" sz="900" u="none" strike="noStrike">
                          <a:solidFill>
                            <a:srgbClr val="259DFF"/>
                          </a:solidFill>
                          <a:effectLst/>
                          <a:hlinkClick r:id="rId11"/>
                        </a:rPr>
                        <a:t>cookie-session</a:t>
                      </a:r>
                      <a:endParaRPr lang="en-US" sz="900">
                        <a:effectLst/>
                      </a:endParaRP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Establish cookie-based sessions.</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express.cookieSession</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776505">
                <a:tc>
                  <a:txBody>
                    <a:bodyPr/>
                    <a:lstStyle/>
                    <a:p>
                      <a:pPr fontAlgn="t"/>
                      <a:r>
                        <a:rPr lang="en-US" sz="900" u="none" strike="noStrike">
                          <a:solidFill>
                            <a:srgbClr val="259DFF"/>
                          </a:solidFill>
                          <a:effectLst/>
                          <a:hlinkClick r:id="rId12"/>
                        </a:rPr>
                        <a:t>cors</a:t>
                      </a:r>
                      <a:endParaRPr lang="en-US" sz="900">
                        <a:effectLst/>
                      </a:endParaRP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Enable cross-origin resource sharing (CORS) with various options.</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NA</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430323">
                <a:tc>
                  <a:txBody>
                    <a:bodyPr/>
                    <a:lstStyle/>
                    <a:p>
                      <a:pPr fontAlgn="t"/>
                      <a:r>
                        <a:rPr lang="en-US" sz="900" u="none" strike="noStrike">
                          <a:solidFill>
                            <a:srgbClr val="259DFF"/>
                          </a:solidFill>
                          <a:effectLst/>
                          <a:hlinkClick r:id="rId13"/>
                        </a:rPr>
                        <a:t>errorhandler</a:t>
                      </a:r>
                      <a:endParaRPr lang="en-US" sz="900">
                        <a:effectLst/>
                      </a:endParaRP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Development error-handling/debugging.</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express.errorHandler</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r h="603414">
                <a:tc>
                  <a:txBody>
                    <a:bodyPr/>
                    <a:lstStyle/>
                    <a:p>
                      <a:pPr fontAlgn="t"/>
                      <a:r>
                        <a:rPr lang="en-US" sz="900" u="none" strike="noStrike" dirty="0">
                          <a:solidFill>
                            <a:srgbClr val="259DFF"/>
                          </a:solidFill>
                          <a:effectLst/>
                          <a:hlinkClick r:id="rId14"/>
                        </a:rPr>
                        <a:t>method-override</a:t>
                      </a:r>
                      <a:endParaRPr lang="en-US" sz="900" dirty="0">
                        <a:effectLst/>
                      </a:endParaRP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a:effectLst/>
                        </a:rPr>
                        <a:t>Override HTTP methods using header.</a:t>
                      </a: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c>
                  <a:txBody>
                    <a:bodyPr/>
                    <a:lstStyle/>
                    <a:p>
                      <a:pPr fontAlgn="t"/>
                      <a:r>
                        <a:rPr lang="en-US" sz="900" dirty="0" err="1">
                          <a:effectLst/>
                        </a:rPr>
                        <a:t>express.methodOverride</a:t>
                      </a:r>
                      <a:endParaRPr lang="en-US" sz="900" dirty="0">
                        <a:effectLst/>
                      </a:endParaRPr>
                    </a:p>
                  </a:txBody>
                  <a:tcPr marL="33709" marR="33709" marT="33709" marB="33709">
                    <a:lnL w="9525" cap="flat" cmpd="sng" algn="ctr">
                      <a:solidFill>
                        <a:srgbClr val="C6C6C6"/>
                      </a:solidFill>
                      <a:prstDash val="solid"/>
                      <a:round/>
                      <a:headEnd type="none" w="med" len="med"/>
                      <a:tailEnd type="none" w="med" len="med"/>
                    </a:lnL>
                    <a:lnR w="9525" cap="flat" cmpd="sng" algn="ctr">
                      <a:solidFill>
                        <a:srgbClr val="C6C6C6"/>
                      </a:solidFill>
                      <a:prstDash val="solid"/>
                      <a:round/>
                      <a:headEnd type="none" w="med" len="med"/>
                      <a:tailEnd type="none" w="med" len="med"/>
                    </a:lnR>
                    <a:lnT w="9525" cap="flat" cmpd="sng" algn="ctr">
                      <a:solidFill>
                        <a:srgbClr val="C6C6C6"/>
                      </a:solidFill>
                      <a:prstDash val="solid"/>
                      <a:round/>
                      <a:headEnd type="none" w="med" len="med"/>
                      <a:tailEnd type="none" w="med" len="med"/>
                    </a:lnT>
                    <a:lnB w="9525" cap="flat" cmpd="sng" algn="ctr">
                      <a:solidFill>
                        <a:srgbClr val="C6C6C6"/>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912957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Writing middleware for use in Express apps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If the current middleware function does not end the request-response cycle, it must call next() to pass control to the next middleware function. </a:t>
            </a:r>
          </a:p>
          <a:p>
            <a:r>
              <a:rPr lang="en-US" dirty="0" smtClean="0"/>
              <a:t>Otherwise, the request will be left hanging.</a:t>
            </a:r>
          </a:p>
          <a:p>
            <a:r>
              <a:rPr lang="en-US" dirty="0" smtClean="0"/>
              <a:t>Example:</a:t>
            </a:r>
          </a:p>
          <a:p>
            <a:r>
              <a:rPr lang="en-US" dirty="0" err="1" smtClean="0"/>
              <a:t>const</a:t>
            </a:r>
            <a:r>
              <a:rPr lang="en-US" dirty="0" smtClean="0"/>
              <a:t> express = require('express')</a:t>
            </a:r>
          </a:p>
          <a:p>
            <a:r>
              <a:rPr lang="en-US" dirty="0" err="1" smtClean="0"/>
              <a:t>const</a:t>
            </a:r>
            <a:r>
              <a:rPr lang="en-US" dirty="0" smtClean="0"/>
              <a:t> app = express()</a:t>
            </a:r>
          </a:p>
          <a:p>
            <a:r>
              <a:rPr lang="en-US" dirty="0" err="1" smtClean="0"/>
              <a:t>app.get</a:t>
            </a:r>
            <a:r>
              <a:rPr lang="en-US" dirty="0" smtClean="0"/>
              <a:t>('/', (</a:t>
            </a:r>
            <a:r>
              <a:rPr lang="en-US" dirty="0" err="1" smtClean="0"/>
              <a:t>req</a:t>
            </a:r>
            <a:r>
              <a:rPr lang="en-US" dirty="0" smtClean="0"/>
              <a:t>, res) =&gt; {</a:t>
            </a:r>
          </a:p>
          <a:p>
            <a:r>
              <a:rPr lang="en-US" dirty="0" smtClean="0"/>
              <a:t>  </a:t>
            </a:r>
            <a:r>
              <a:rPr lang="en-US" dirty="0" err="1" smtClean="0"/>
              <a:t>res.send</a:t>
            </a:r>
            <a:r>
              <a:rPr lang="en-US" dirty="0" smtClean="0"/>
              <a:t>('Hello World!')</a:t>
            </a:r>
          </a:p>
          <a:p>
            <a:r>
              <a:rPr lang="en-US" dirty="0" smtClean="0"/>
              <a:t>})</a:t>
            </a:r>
          </a:p>
          <a:p>
            <a:r>
              <a:rPr lang="en-US" dirty="0" err="1" smtClean="0"/>
              <a:t>app.listen</a:t>
            </a:r>
            <a:r>
              <a:rPr lang="en-US" dirty="0" smtClean="0"/>
              <a:t>(3000)</a:t>
            </a:r>
          </a:p>
          <a:p>
            <a:endParaRPr lang="en-US" dirty="0" smtClean="0"/>
          </a:p>
          <a:p>
            <a:endParaRPr lang="en-US" dirty="0"/>
          </a:p>
        </p:txBody>
      </p:sp>
    </p:spTree>
    <p:extLst>
      <p:ext uri="{BB962C8B-B14F-4D97-AF65-F5344CB8AC3E}">
        <p14:creationId xmlns:p14="http://schemas.microsoft.com/office/powerpoint/2010/main" val="31148417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following figure shows the elements of a middleware function call:</a:t>
            </a:r>
            <a:br>
              <a:rPr lang="en-US" dirty="0" smtClean="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69722715"/>
              </p:ext>
            </p:extLst>
          </p:nvPr>
        </p:nvGraphicFramePr>
        <p:xfrm>
          <a:off x="5326444" y="3247829"/>
          <a:ext cx="6676369" cy="3108960"/>
        </p:xfrm>
        <a:graphic>
          <a:graphicData uri="http://schemas.openxmlformats.org/drawingml/2006/table">
            <a:tbl>
              <a:tblPr/>
              <a:tblGrid>
                <a:gridCol w="6676369"/>
              </a:tblGrid>
              <a:tr h="3089909">
                <a:tc>
                  <a:txBody>
                    <a:bodyPr/>
                    <a:lstStyle/>
                    <a:p>
                      <a:pPr algn="l" fontAlgn="t"/>
                      <a:r>
                        <a:rPr lang="en-US" dirty="0">
                          <a:effectLst/>
                        </a:rPr>
                        <a:t>HTTP method for which the middleware function applies</a:t>
                      </a:r>
                      <a:r>
                        <a:rPr lang="en-US" dirty="0" smtClean="0">
                          <a:effectLst/>
                        </a:rPr>
                        <a:t>.</a:t>
                      </a:r>
                      <a:endParaRPr lang="en-US" dirty="0">
                        <a:effectLst/>
                      </a:endParaRPr>
                    </a:p>
                    <a:p>
                      <a:pPr fontAlgn="t"/>
                      <a:r>
                        <a:rPr lang="en-US" dirty="0">
                          <a:effectLst/>
                        </a:rPr>
                        <a:t>Path (route) for which the middleware function applies</a:t>
                      </a:r>
                      <a:r>
                        <a:rPr lang="en-US" dirty="0" smtClean="0">
                          <a:effectLst/>
                        </a:rPr>
                        <a:t>.</a:t>
                      </a:r>
                    </a:p>
                    <a:p>
                      <a:pPr fontAlgn="t"/>
                      <a:endParaRPr lang="en-US" dirty="0">
                        <a:effectLst/>
                      </a:endParaRPr>
                    </a:p>
                    <a:p>
                      <a:pPr fontAlgn="t"/>
                      <a:r>
                        <a:rPr lang="en-US" dirty="0">
                          <a:effectLst/>
                        </a:rPr>
                        <a:t>The middleware function.</a:t>
                      </a:r>
                    </a:p>
                    <a:p>
                      <a:pPr fontAlgn="t"/>
                      <a:endParaRPr lang="en-US" dirty="0" smtClean="0">
                        <a:effectLst/>
                      </a:endParaRPr>
                    </a:p>
                    <a:p>
                      <a:pPr fontAlgn="t"/>
                      <a:r>
                        <a:rPr lang="en-US" dirty="0" smtClean="0">
                          <a:effectLst/>
                        </a:rPr>
                        <a:t>Callback </a:t>
                      </a:r>
                      <a:r>
                        <a:rPr lang="en-US" dirty="0">
                          <a:effectLst/>
                        </a:rPr>
                        <a:t>argument to the middleware function, called "next" by convention.</a:t>
                      </a:r>
                    </a:p>
                    <a:p>
                      <a:pPr fontAlgn="t"/>
                      <a:r>
                        <a:rPr lang="en-US" dirty="0">
                          <a:effectLst/>
                        </a:rPr>
                        <a:t>HTTP </a:t>
                      </a:r>
                      <a:r>
                        <a:rPr lang="en-US" u="none" strike="noStrike" dirty="0">
                          <a:solidFill>
                            <a:srgbClr val="259DFF"/>
                          </a:solidFill>
                          <a:effectLst/>
                          <a:hlinkClick r:id="rId2"/>
                        </a:rPr>
                        <a:t>response</a:t>
                      </a:r>
                      <a:r>
                        <a:rPr lang="en-US" dirty="0">
                          <a:effectLst/>
                        </a:rPr>
                        <a:t> argument to the middleware function, called "res" by convention.</a:t>
                      </a:r>
                    </a:p>
                    <a:p>
                      <a:pPr fontAlgn="t"/>
                      <a:r>
                        <a:rPr lang="en-US" dirty="0">
                          <a:effectLst/>
                        </a:rPr>
                        <a:t>HTTP </a:t>
                      </a:r>
                      <a:r>
                        <a:rPr lang="en-US" u="none" strike="noStrike" dirty="0">
                          <a:solidFill>
                            <a:srgbClr val="259DFF"/>
                          </a:solidFill>
                          <a:effectLst/>
                          <a:hlinkClick r:id="rId3"/>
                        </a:rPr>
                        <a:t>request</a:t>
                      </a:r>
                      <a:r>
                        <a:rPr lang="en-US" dirty="0">
                          <a:effectLst/>
                        </a:rPr>
                        <a:t> argument to the middleware function, called "</a:t>
                      </a:r>
                      <a:r>
                        <a:rPr lang="en-US" dirty="0" err="1">
                          <a:effectLst/>
                        </a:rPr>
                        <a:t>req</a:t>
                      </a:r>
                      <a:r>
                        <a:rPr lang="en-US" dirty="0">
                          <a:effectLst/>
                        </a:rPr>
                        <a:t>" by convention.</a:t>
                      </a:r>
                    </a:p>
                  </a:txBody>
                  <a:tcPr marL="47625">
                    <a:lnL>
                      <a:noFill/>
                    </a:lnL>
                    <a:lnR>
                      <a:noFill/>
                    </a:lnR>
                    <a:lnT>
                      <a:noFill/>
                    </a:lnT>
                    <a:lnB>
                      <a:noFill/>
                    </a:lnB>
                  </a:tcPr>
                </a:tc>
              </a:tr>
            </a:tbl>
          </a:graphicData>
        </a:graphic>
      </p:graphicFrame>
      <p:pic>
        <p:nvPicPr>
          <p:cNvPr id="5" name="Picture 4"/>
          <p:cNvPicPr>
            <a:picLocks noChangeAspect="1"/>
          </p:cNvPicPr>
          <p:nvPr/>
        </p:nvPicPr>
        <p:blipFill>
          <a:blip r:embed="rId4"/>
          <a:stretch>
            <a:fillRect/>
          </a:stretch>
        </p:blipFill>
        <p:spPr>
          <a:xfrm>
            <a:off x="838200" y="3044716"/>
            <a:ext cx="4306285" cy="2933700"/>
          </a:xfrm>
          <a:prstGeom prst="rect">
            <a:avLst/>
          </a:prstGeom>
        </p:spPr>
      </p:pic>
    </p:spTree>
    <p:extLst>
      <p:ext uri="{BB962C8B-B14F-4D97-AF65-F5344CB8AC3E}">
        <p14:creationId xmlns:p14="http://schemas.microsoft.com/office/powerpoint/2010/main" val="16614368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Middleware function </a:t>
            </a:r>
            <a:r>
              <a:rPr lang="en-US" dirty="0" err="1" smtClean="0"/>
              <a:t>myLogger</a:t>
            </a:r>
            <a:endParaRPr lang="en-US" dirty="0"/>
          </a:p>
        </p:txBody>
      </p:sp>
      <p:sp>
        <p:nvSpPr>
          <p:cNvPr id="3" name="Content Placeholder 2"/>
          <p:cNvSpPr>
            <a:spLocks noGrp="1"/>
          </p:cNvSpPr>
          <p:nvPr>
            <p:ph idx="1"/>
          </p:nvPr>
        </p:nvSpPr>
        <p:spPr/>
        <p:txBody>
          <a:bodyPr/>
          <a:lstStyle/>
          <a:p>
            <a:r>
              <a:rPr lang="en-US" dirty="0" smtClean="0"/>
              <a:t>Here is a simple example of a middleware function called “</a:t>
            </a:r>
            <a:r>
              <a:rPr lang="en-US" dirty="0" err="1" smtClean="0"/>
              <a:t>myLogger</a:t>
            </a:r>
            <a:r>
              <a:rPr lang="en-US" dirty="0" smtClean="0"/>
              <a:t>”. This function just prints “LOGGED” when a request to the app passes through it. The middleware function is assigned to a variable named </a:t>
            </a:r>
            <a:r>
              <a:rPr lang="en-US" dirty="0" err="1" smtClean="0"/>
              <a:t>myLogger</a:t>
            </a:r>
            <a:r>
              <a:rPr lang="en-US" dirty="0" smtClean="0"/>
              <a:t>.</a:t>
            </a:r>
          </a:p>
          <a:p>
            <a:r>
              <a:rPr lang="en-US" dirty="0" err="1" smtClean="0"/>
              <a:t>const</a:t>
            </a:r>
            <a:r>
              <a:rPr lang="en-US" dirty="0" smtClean="0"/>
              <a:t> </a:t>
            </a:r>
            <a:r>
              <a:rPr lang="en-US" dirty="0" err="1" smtClean="0"/>
              <a:t>myLogger</a:t>
            </a:r>
            <a:r>
              <a:rPr lang="en-US" dirty="0" smtClean="0"/>
              <a:t> = function (</a:t>
            </a:r>
            <a:r>
              <a:rPr lang="en-US" dirty="0" err="1" smtClean="0"/>
              <a:t>req</a:t>
            </a:r>
            <a:r>
              <a:rPr lang="en-US" dirty="0" smtClean="0"/>
              <a:t>, res, next) {</a:t>
            </a:r>
          </a:p>
          <a:p>
            <a:r>
              <a:rPr lang="en-US" dirty="0" smtClean="0"/>
              <a:t>  console.log('LOGGED')</a:t>
            </a:r>
          </a:p>
          <a:p>
            <a:r>
              <a:rPr lang="en-US" dirty="0" smtClean="0"/>
              <a:t>  next()</a:t>
            </a:r>
          </a:p>
          <a:p>
            <a:r>
              <a:rPr lang="en-US" dirty="0" smtClean="0"/>
              <a:t>}</a:t>
            </a:r>
            <a:endParaRPr lang="en-US" dirty="0"/>
          </a:p>
        </p:txBody>
      </p:sp>
    </p:spTree>
    <p:extLst>
      <p:ext uri="{BB962C8B-B14F-4D97-AF65-F5344CB8AC3E}">
        <p14:creationId xmlns:p14="http://schemas.microsoft.com/office/powerpoint/2010/main" val="18628397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Configurable middleware</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r>
              <a:rPr lang="en-US" smtClean="0"/>
              <a:t>If </a:t>
            </a:r>
            <a:r>
              <a:rPr lang="en-US" dirty="0" smtClean="0"/>
              <a:t>you need your middleware to be configurable, export a function which accepts an options object or other parameters, which, then returns the middleware implementation based on the input parameters.</a:t>
            </a:r>
          </a:p>
          <a:p>
            <a:r>
              <a:rPr lang="en-US" dirty="0" smtClean="0"/>
              <a:t>File: my-middleware.js</a:t>
            </a:r>
          </a:p>
          <a:p>
            <a:r>
              <a:rPr lang="en-US" dirty="0" err="1" smtClean="0"/>
              <a:t>module.exports</a:t>
            </a:r>
            <a:r>
              <a:rPr lang="en-US" dirty="0" smtClean="0"/>
              <a:t> = function (options) {</a:t>
            </a:r>
          </a:p>
          <a:p>
            <a:r>
              <a:rPr lang="en-US" dirty="0" smtClean="0"/>
              <a:t>  return function (</a:t>
            </a:r>
            <a:r>
              <a:rPr lang="en-US" dirty="0" err="1" smtClean="0"/>
              <a:t>req</a:t>
            </a:r>
            <a:r>
              <a:rPr lang="en-US" dirty="0" smtClean="0"/>
              <a:t>, res, next) {</a:t>
            </a:r>
          </a:p>
          <a:p>
            <a:r>
              <a:rPr lang="en-US" dirty="0" smtClean="0"/>
              <a:t>    // Implement the middleware function based on the options object</a:t>
            </a:r>
          </a:p>
          <a:p>
            <a:r>
              <a:rPr lang="en-US" dirty="0" smtClean="0"/>
              <a:t>    next()</a:t>
            </a:r>
          </a:p>
          <a:p>
            <a:r>
              <a:rPr lang="en-US" dirty="0" smtClean="0"/>
              <a:t>  }</a:t>
            </a:r>
          </a:p>
          <a:p>
            <a:r>
              <a:rPr lang="en-US" dirty="0" smtClean="0"/>
              <a:t>}</a:t>
            </a:r>
            <a:endParaRPr lang="en-US" dirty="0"/>
          </a:p>
        </p:txBody>
      </p:sp>
    </p:spTree>
    <p:extLst>
      <p:ext uri="{BB962C8B-B14F-4D97-AF65-F5344CB8AC3E}">
        <p14:creationId xmlns:p14="http://schemas.microsoft.com/office/powerpoint/2010/main" val="19318971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Middleware function </a:t>
            </a:r>
            <a:r>
              <a:rPr lang="en-US" dirty="0" err="1" smtClean="0"/>
              <a:t>requestTime</a:t>
            </a:r>
            <a:endParaRPr lang="en-US" dirty="0"/>
          </a:p>
        </p:txBody>
      </p:sp>
      <p:sp>
        <p:nvSpPr>
          <p:cNvPr id="3" name="Content Placeholder 2"/>
          <p:cNvSpPr>
            <a:spLocks noGrp="1"/>
          </p:cNvSpPr>
          <p:nvPr>
            <p:ph idx="1"/>
          </p:nvPr>
        </p:nvSpPr>
        <p:spPr/>
        <p:txBody>
          <a:bodyPr>
            <a:normAutofit/>
          </a:bodyPr>
          <a:lstStyle/>
          <a:p>
            <a:r>
              <a:rPr lang="en-US" dirty="0" smtClean="0"/>
              <a:t>we’ll create a middleware function called “</a:t>
            </a:r>
            <a:r>
              <a:rPr lang="en-US" dirty="0" err="1" smtClean="0"/>
              <a:t>requestTime</a:t>
            </a:r>
            <a:r>
              <a:rPr lang="en-US" dirty="0" smtClean="0"/>
              <a:t>” and add a property called </a:t>
            </a:r>
            <a:r>
              <a:rPr lang="en-US" dirty="0" err="1" smtClean="0"/>
              <a:t>requestTime</a:t>
            </a:r>
            <a:r>
              <a:rPr lang="en-US" dirty="0" smtClean="0"/>
              <a:t> to the request object.</a:t>
            </a:r>
          </a:p>
          <a:p>
            <a:r>
              <a:rPr lang="en-US" dirty="0" err="1" smtClean="0"/>
              <a:t>const</a:t>
            </a:r>
            <a:r>
              <a:rPr lang="en-US" dirty="0" smtClean="0"/>
              <a:t> </a:t>
            </a:r>
            <a:r>
              <a:rPr lang="en-US" dirty="0" err="1" smtClean="0"/>
              <a:t>requestTime</a:t>
            </a:r>
            <a:r>
              <a:rPr lang="en-US" dirty="0" smtClean="0"/>
              <a:t> = function (</a:t>
            </a:r>
            <a:r>
              <a:rPr lang="en-US" dirty="0" err="1" smtClean="0"/>
              <a:t>req</a:t>
            </a:r>
            <a:r>
              <a:rPr lang="en-US" dirty="0" smtClean="0"/>
              <a:t>, res, next) {</a:t>
            </a:r>
          </a:p>
          <a:p>
            <a:r>
              <a:rPr lang="en-US" dirty="0" smtClean="0"/>
              <a:t>  </a:t>
            </a:r>
            <a:r>
              <a:rPr lang="en-US" dirty="0" err="1" smtClean="0"/>
              <a:t>req.requestTime</a:t>
            </a:r>
            <a:r>
              <a:rPr lang="en-US" dirty="0" smtClean="0"/>
              <a:t> = </a:t>
            </a:r>
            <a:r>
              <a:rPr lang="en-US" dirty="0" err="1" smtClean="0"/>
              <a:t>Date.now</a:t>
            </a:r>
            <a:r>
              <a:rPr lang="en-US" dirty="0" smtClean="0"/>
              <a:t>()</a:t>
            </a:r>
          </a:p>
          <a:p>
            <a:r>
              <a:rPr lang="en-US" dirty="0" smtClean="0"/>
              <a:t>  next()</a:t>
            </a:r>
          </a:p>
          <a:p>
            <a:r>
              <a:rPr lang="en-US" dirty="0" smtClean="0"/>
              <a:t>} The app now uses the </a:t>
            </a:r>
            <a:r>
              <a:rPr lang="en-US" dirty="0" err="1" smtClean="0"/>
              <a:t>requestTime</a:t>
            </a:r>
            <a:r>
              <a:rPr lang="en-US" dirty="0" smtClean="0"/>
              <a:t> middleware function. Also, the callback function of the root path route uses the property that the middleware function adds to </a:t>
            </a:r>
            <a:r>
              <a:rPr lang="en-US" dirty="0" err="1" smtClean="0"/>
              <a:t>req</a:t>
            </a:r>
            <a:r>
              <a:rPr lang="en-US" dirty="0" smtClean="0"/>
              <a:t> (the request object).</a:t>
            </a:r>
          </a:p>
          <a:p>
            <a:endParaRPr lang="en-US" dirty="0"/>
          </a:p>
        </p:txBody>
      </p:sp>
    </p:spTree>
    <p:extLst>
      <p:ext uri="{BB962C8B-B14F-4D97-AF65-F5344CB8AC3E}">
        <p14:creationId xmlns:p14="http://schemas.microsoft.com/office/powerpoint/2010/main" val="22797841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Middleware function validate Cookies</a:t>
            </a:r>
            <a:endParaRPr lang="en-US" dirty="0"/>
          </a:p>
        </p:txBody>
      </p:sp>
      <p:sp>
        <p:nvSpPr>
          <p:cNvPr id="3" name="Content Placeholder 2"/>
          <p:cNvSpPr>
            <a:spLocks noGrp="1"/>
          </p:cNvSpPr>
          <p:nvPr>
            <p:ph idx="1"/>
          </p:nvPr>
        </p:nvSpPr>
        <p:spPr>
          <a:xfrm>
            <a:off x="838200" y="1501501"/>
            <a:ext cx="10515600" cy="4983381"/>
          </a:xfrm>
        </p:spPr>
        <p:txBody>
          <a:bodyPr>
            <a:normAutofit lnSpcReduction="10000"/>
          </a:bodyPr>
          <a:lstStyle/>
          <a:p>
            <a:r>
              <a:rPr lang="en-US" dirty="0" smtClean="0"/>
              <a:t>Finally, we’ll create a middleware function that validates incoming cookies and sends a 400 response if cookies are invalid.</a:t>
            </a:r>
          </a:p>
          <a:p>
            <a:r>
              <a:rPr lang="en-US" dirty="0" smtClean="0"/>
              <a:t>Here’s an example function that validates cookies with an external </a:t>
            </a:r>
            <a:r>
              <a:rPr lang="en-US" dirty="0" err="1" smtClean="0"/>
              <a:t>async</a:t>
            </a:r>
            <a:r>
              <a:rPr lang="en-US" dirty="0" smtClean="0"/>
              <a:t> service.</a:t>
            </a:r>
          </a:p>
          <a:p>
            <a:r>
              <a:rPr lang="en-US" dirty="0" err="1" smtClean="0"/>
              <a:t>async</a:t>
            </a:r>
            <a:r>
              <a:rPr lang="en-US" dirty="0" smtClean="0"/>
              <a:t> function </a:t>
            </a:r>
            <a:r>
              <a:rPr lang="en-US" dirty="0" err="1" smtClean="0"/>
              <a:t>cookieValidator</a:t>
            </a:r>
            <a:r>
              <a:rPr lang="en-US" dirty="0" smtClean="0"/>
              <a:t> (cookies) {</a:t>
            </a:r>
          </a:p>
          <a:p>
            <a:r>
              <a:rPr lang="en-US" dirty="0" smtClean="0"/>
              <a:t>  try {</a:t>
            </a:r>
          </a:p>
          <a:p>
            <a:r>
              <a:rPr lang="en-US" dirty="0" smtClean="0"/>
              <a:t>    await </a:t>
            </a:r>
            <a:r>
              <a:rPr lang="en-US" dirty="0" err="1" smtClean="0"/>
              <a:t>externallyValidateCookie</a:t>
            </a:r>
            <a:r>
              <a:rPr lang="en-US" dirty="0" smtClean="0"/>
              <a:t>(</a:t>
            </a:r>
            <a:r>
              <a:rPr lang="en-US" dirty="0" err="1" smtClean="0"/>
              <a:t>cookies.testCookie</a:t>
            </a:r>
            <a:r>
              <a:rPr lang="en-US" dirty="0" smtClean="0"/>
              <a:t>)</a:t>
            </a:r>
          </a:p>
          <a:p>
            <a:r>
              <a:rPr lang="en-US" dirty="0" smtClean="0"/>
              <a:t>  } catch {</a:t>
            </a:r>
          </a:p>
          <a:p>
            <a:r>
              <a:rPr lang="en-US" dirty="0" smtClean="0"/>
              <a:t>    throw new Error('Invalid cookies')</a:t>
            </a:r>
          </a:p>
          <a:p>
            <a:r>
              <a:rPr lang="en-US" dirty="0" smtClean="0"/>
              <a:t>  }</a:t>
            </a:r>
          </a:p>
          <a:p>
            <a:r>
              <a:rPr lang="en-US" dirty="0" smtClean="0"/>
              <a:t>}</a:t>
            </a:r>
          </a:p>
        </p:txBody>
      </p:sp>
    </p:spTree>
    <p:extLst>
      <p:ext uri="{BB962C8B-B14F-4D97-AF65-F5344CB8AC3E}">
        <p14:creationId xmlns:p14="http://schemas.microsoft.com/office/powerpoint/2010/main" val="21230679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251</TotalTime>
  <Words>1299</Words>
  <Application>Microsoft Office PowerPoint</Application>
  <PresentationFormat>Widescreen</PresentationFormat>
  <Paragraphs>179</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Express</vt:lpstr>
      <vt:lpstr>Routing </vt:lpstr>
      <vt:lpstr>The following code is an example of a very basic route. </vt:lpstr>
      <vt:lpstr>Route methods </vt:lpstr>
      <vt:lpstr>Response methods </vt:lpstr>
      <vt:lpstr>PowerPoint Presentation</vt:lpstr>
      <vt:lpstr>Express</vt:lpstr>
      <vt:lpstr>PowerPoint Presentation</vt:lpstr>
      <vt:lpstr>Middleware</vt:lpstr>
      <vt:lpstr>PowerPoint Presentation</vt:lpstr>
      <vt:lpstr>PowerPoint Presentation</vt:lpstr>
      <vt:lpstr>Application-level middleware</vt:lpstr>
      <vt:lpstr>Built-in middleware</vt:lpstr>
      <vt:lpstr>Third-party middleware</vt:lpstr>
      <vt:lpstr>PowerPoint Presentation</vt:lpstr>
      <vt:lpstr>PowerPoint Presentation</vt:lpstr>
      <vt:lpstr>Writing middleware for use in Express apps</vt:lpstr>
      <vt:lpstr>The following figure shows the elements of a middleware function call: </vt:lpstr>
      <vt:lpstr>Middleware function myLogger</vt:lpstr>
      <vt:lpstr>Configurable middleware </vt:lpstr>
      <vt:lpstr>Middleware function requestTime</vt:lpstr>
      <vt:lpstr>Middleware function validate Cookies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Komal S</dc:creator>
  <cp:lastModifiedBy>Komal S</cp:lastModifiedBy>
  <cp:revision>13</cp:revision>
  <dcterms:created xsi:type="dcterms:W3CDTF">2024-02-02T10:10:26Z</dcterms:created>
  <dcterms:modified xsi:type="dcterms:W3CDTF">2024-02-05T04:50:10Z</dcterms:modified>
</cp:coreProperties>
</file>