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exend" panose="020B0604020202020204" charset="0"/>
      <p:regular r:id="rId20"/>
      <p:bold r:id="rId21"/>
    </p:embeddedFont>
    <p:embeddedFont>
      <p:font typeface="Raleway" pitchFamily="2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667798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570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b1d396a1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ab1d396a1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156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b1d396a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ab1d396a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67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b1d396a1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ab1d396a1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1595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ab1d396a1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ab1d396a1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2259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ab1d396a1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ab1d396a1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369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ab1d396a1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ab1d396a1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4557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b3a2f309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ab3a2f309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530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THE JAVASCRIPT REVOLUTION</a:t>
            </a:r>
            <a:endParaRPr b="1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By Komal Singh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Pillars of Web Development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Essentially, just three things: </a:t>
            </a:r>
            <a:r>
              <a:rPr lang="en" sz="1700" b="1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HTML, CSS and JavaScript</a:t>
            </a:r>
            <a:r>
              <a:rPr lang="en" sz="170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—the three pillars of the web.</a:t>
            </a:r>
            <a:endParaRPr sz="1700" b="1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457200" lvl="0" indent="-310832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●"/>
            </a:pPr>
            <a:r>
              <a:rPr lang="en" sz="14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Together, these three pillars make every website work, </a:t>
            </a:r>
            <a:endParaRPr sz="14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10832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●"/>
            </a:pPr>
            <a:r>
              <a:rPr lang="en" sz="14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defining the content to be displayed (HTML), </a:t>
            </a:r>
            <a:endParaRPr sz="14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10832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●"/>
            </a:pPr>
            <a:r>
              <a:rPr lang="en" sz="14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telling a browser how to display that content (CSS), </a:t>
            </a:r>
            <a:endParaRPr sz="14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1083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●"/>
            </a:pPr>
            <a:r>
              <a:rPr lang="en" sz="14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making the content interactive and modelling its behavior (JavaScript), respectively.</a:t>
            </a:r>
            <a:endParaRPr sz="1700" b="1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666325" y="6062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of JavaScript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495000" y="1322050"/>
            <a:ext cx="8368200" cy="34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30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oboto"/>
              <a:buChar char="●"/>
            </a:pPr>
            <a:r>
              <a:rPr lang="en" sz="133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JavaScript is a </a:t>
            </a: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scripting language</a:t>
            </a:r>
            <a:r>
              <a:rPr lang="en" sz="133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used to develop web pages. Developed in </a:t>
            </a: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Netscape,</a:t>
            </a:r>
            <a:r>
              <a:rPr lang="en" sz="133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JS allows developers to create a </a:t>
            </a: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dynamic </a:t>
            </a:r>
            <a:r>
              <a:rPr lang="en" sz="133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interactive web page</a:t>
            </a:r>
            <a:r>
              <a:rPr lang="en" sz="133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to interact with visitors and execute complex actions.</a:t>
            </a:r>
            <a:endParaRPr sz="133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457200" lvl="0" indent="-31305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oboto"/>
              <a:buChar char="●"/>
            </a:pPr>
            <a:r>
              <a:rPr lang="en" sz="133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In applications like Google Maps, if users want to explore a map, all they have to do is click and drag the mouse to get a detailed view. This is powered by JavaScript, which</a:t>
            </a: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interacts with the browser without communicating with the servers.</a:t>
            </a:r>
            <a:endParaRPr sz="1330" b="1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457200" lvl="0" indent="-31305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oboto"/>
              <a:buChar char="●"/>
            </a:pP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Node.js</a:t>
            </a:r>
            <a:r>
              <a:rPr lang="en" sz="133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allows developers to use JavaScript to </a:t>
            </a: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create a web server</a:t>
            </a:r>
            <a:r>
              <a:rPr lang="en" sz="133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. Node.js being event-driven, it moves to the</a:t>
            </a: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next call without waiting for the response of the previous call, hence avoids buffering.</a:t>
            </a:r>
            <a:endParaRPr sz="1330" b="1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" sz="1330" b="1">
                <a:solidFill>
                  <a:srgbClr val="5156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Various other applications of JavaScript include:</a:t>
            </a:r>
            <a:endParaRPr sz="1330" b="1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30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Lexend"/>
              <a:buChar char="●"/>
            </a:pP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Games (EaselJS library )</a:t>
            </a:r>
            <a:endParaRPr sz="1330" b="1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457200" lvl="0" indent="-3130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Lexend"/>
              <a:buChar char="●"/>
            </a:pP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Art (Canvas element of  HTML5 in JavaScript)</a:t>
            </a:r>
            <a:endParaRPr sz="1330" b="1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457200" lvl="0" indent="-3130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Lexend"/>
              <a:buChar char="●"/>
            </a:pP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Small robots, creative maker projects, and IoT devices (Node.js ecosystem)</a:t>
            </a:r>
            <a:endParaRPr sz="1330" b="1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457200" lvl="0" indent="-3130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Lexend"/>
              <a:buChar char="●"/>
            </a:pP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Smart Watches(an example is Pebble.js)</a:t>
            </a:r>
            <a:endParaRPr sz="1330" b="1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457200" lvl="0" indent="-3130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Lexend"/>
              <a:buChar char="●"/>
            </a:pPr>
            <a:r>
              <a:rPr lang="en" sz="1330" b="1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And many more.</a:t>
            </a:r>
            <a:endParaRPr sz="1330" b="1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endParaRPr sz="1330" b="1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684350" y="443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3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>
                <a:solidFill>
                  <a:srgbClr val="3D3B49"/>
                </a:solidFill>
                <a:highlight>
                  <a:srgbClr val="FFFFFF"/>
                </a:highlight>
              </a:rPr>
              <a:t>The JavaScript Revolution</a:t>
            </a:r>
            <a:endParaRPr sz="2300">
              <a:solidFill>
                <a:srgbClr val="3D3B49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1322050"/>
            <a:ext cx="8007900" cy="35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35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38"/>
              <a:buFont typeface="Georgia"/>
              <a:buChar char="●"/>
            </a:pPr>
            <a:r>
              <a:rPr lang="en" sz="1337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From its humble beginnings as a language primarily used for adding</a:t>
            </a:r>
            <a:r>
              <a:rPr lang="en" sz="1337" b="1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interactivity to web pages, </a:t>
            </a:r>
            <a:r>
              <a:rPr lang="en" sz="1337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JavaScript has undergone a </a:t>
            </a:r>
            <a:r>
              <a:rPr lang="en" sz="1337" b="1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revolutionary transformation.</a:t>
            </a:r>
            <a:endParaRPr sz="1337" b="1">
              <a:solidFill>
                <a:srgbClr val="0000FF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13531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38"/>
              <a:buFont typeface="Georgia"/>
              <a:buChar char="●"/>
            </a:pPr>
            <a:r>
              <a:rPr lang="en" sz="1337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JavaScript was born out of the </a:t>
            </a:r>
            <a:r>
              <a:rPr lang="en" sz="1337" b="1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necessity</a:t>
            </a:r>
            <a:r>
              <a:rPr lang="en" sz="1337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to make the web more </a:t>
            </a:r>
            <a:r>
              <a:rPr lang="en" sz="1337" b="1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dynamic and responsive. </a:t>
            </a:r>
            <a:r>
              <a:rPr lang="en" sz="1337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Developed by Brendan Eich in just</a:t>
            </a:r>
            <a:r>
              <a:rPr lang="en" sz="1337" b="1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ten days for Netscape Navigator</a:t>
            </a:r>
            <a:r>
              <a:rPr lang="en" sz="1337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in 1995, it started as a </a:t>
            </a:r>
            <a:r>
              <a:rPr lang="en" sz="1337" b="1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simple scripting language.</a:t>
            </a:r>
            <a:endParaRPr sz="1337" b="1">
              <a:solidFill>
                <a:srgbClr val="0000FF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135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38"/>
              <a:buFont typeface="Georgia"/>
              <a:buChar char="●"/>
            </a:pPr>
            <a:r>
              <a:rPr lang="en" sz="1337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advent of </a:t>
            </a:r>
            <a:r>
              <a:rPr lang="en" sz="1337" b="1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AJAX (Asynchronous JavaScript and XML) </a:t>
            </a:r>
            <a:r>
              <a:rPr lang="en" sz="1337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in 2000s </a:t>
            </a:r>
            <a:r>
              <a:rPr lang="en" sz="1337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marked a turning point, allowing developers to create seamless, asynchronous</a:t>
            </a:r>
            <a:r>
              <a:rPr lang="en" sz="1337" b="1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data exchanges without requiring a page reload.</a:t>
            </a:r>
            <a:r>
              <a:rPr lang="en" sz="1337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This capability paved the way for more interactive and user-friendly web applications. Before that  there was </a:t>
            </a:r>
            <a:r>
              <a:rPr lang="en" sz="1337" b="1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no way to save data with JavaScript.</a:t>
            </a:r>
            <a:r>
              <a:rPr lang="en" sz="1337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If you wanted data to persist, you had to submit a form to a web server and wait for a page refresh.</a:t>
            </a:r>
            <a:endParaRPr sz="1337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13531" algn="l" rtl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>
                <a:srgbClr val="242424"/>
              </a:buClr>
              <a:buSzPts val="1338"/>
              <a:buFont typeface="Georgia"/>
              <a:buChar char="●"/>
            </a:pPr>
            <a:r>
              <a:rPr lang="en" sz="1337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Single Page Applications (SPAs) became the new norm, providing a seamless user experience without the need for page reloads.</a:t>
            </a:r>
            <a:endParaRPr sz="1337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278675" y="73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311700" y="1015999"/>
            <a:ext cx="8520600" cy="3553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One of the most significant milestones in its revolution was the introduction of </a:t>
            </a:r>
            <a:r>
              <a:rPr lang="en" sz="1600" b="1" dirty="0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Node.js.</a:t>
            </a: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Developed by Ryan Dahl in 2009, Node.js allowed developers to use JavaScript on the </a:t>
            </a:r>
            <a:r>
              <a:rPr lang="en" sz="1600" b="1" dirty="0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server side, </a:t>
            </a: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opening the door for </a:t>
            </a:r>
            <a:r>
              <a:rPr lang="en" sz="1600" b="1" dirty="0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full-stack development with a single language.</a:t>
            </a:r>
            <a:endParaRPr sz="1600" b="1" dirty="0">
              <a:solidFill>
                <a:srgbClr val="0000FF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advent of mobile devices brought Frameworks like </a:t>
            </a:r>
            <a:r>
              <a:rPr lang="en" sz="1600" b="1" dirty="0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React Native and frameworks like Ionic </a:t>
            </a:r>
            <a:r>
              <a:rPr lang="en" sz="1600" dirty="0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which </a:t>
            </a: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enabled developers to build c</a:t>
            </a:r>
            <a:r>
              <a:rPr lang="en" sz="1600" b="1" dirty="0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ross-platform mobile applications </a:t>
            </a: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using JavaScript. This not only </a:t>
            </a:r>
            <a:r>
              <a:rPr lang="en" sz="1600" b="1" dirty="0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reduced development time</a:t>
            </a: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but also allowed for </a:t>
            </a:r>
            <a:r>
              <a:rPr lang="en" sz="1600" b="1" dirty="0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code reuse</a:t>
            </a: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across different platforms.</a:t>
            </a:r>
            <a:endParaRPr sz="1600" dirty="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lang="en" sz="1600" b="1" dirty="0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NPM (Node Package Manager)</a:t>
            </a: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has become the</a:t>
            </a:r>
            <a:r>
              <a:rPr lang="en" sz="1600" b="1" dirty="0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largest package registry</a:t>
            </a: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in the world, hosting millions of </a:t>
            </a:r>
            <a:r>
              <a:rPr lang="en" sz="1600" b="1" dirty="0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reusable packages </a:t>
            </a: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that have accelerated development and innovation.</a:t>
            </a:r>
            <a:endParaRPr sz="1600" dirty="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JavaScript is also moving into the</a:t>
            </a:r>
            <a:r>
              <a:rPr lang="en" sz="1600" b="1" dirty="0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hardware world.</a:t>
            </a: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Projects like</a:t>
            </a:r>
            <a:r>
              <a:rPr lang="en" sz="1600" b="1" dirty="0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Arduino, Tessel, Espruino, and NodeBots </a:t>
            </a:r>
            <a:r>
              <a:rPr lang="en" sz="1600" dirty="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foreshadow a time in the near future where JavaScript could be a common language for embedded systems and robotics.</a:t>
            </a:r>
            <a:endParaRPr sz="1600" dirty="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592650" y="5252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3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>
                <a:solidFill>
                  <a:srgbClr val="3D3B49"/>
                </a:solidFill>
                <a:highlight>
                  <a:srgbClr val="FFFFFF"/>
                </a:highlight>
              </a:rPr>
              <a:t>Advantages of JavaScript</a:t>
            </a:r>
            <a:endParaRPr sz="2300">
              <a:solidFill>
                <a:srgbClr val="3D3B49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629150" y="13401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FF"/>
                </a:solidFill>
                <a:highlight>
                  <a:srgbClr val="FFFFFF"/>
                </a:highlight>
              </a:rPr>
              <a:t>Performance</a:t>
            </a:r>
            <a:endParaRPr sz="1400" b="1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Just-in-time compiling:JavaScript is compiled, highly optimized, and executed like native code, so runtime performance is close to that of software written in C or C++.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FF"/>
                </a:solidFill>
                <a:highlight>
                  <a:srgbClr val="FFFFFF"/>
                </a:highlight>
              </a:rPr>
              <a:t>Objects</a:t>
            </a:r>
            <a:endParaRPr sz="1400" b="1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JavaScript has very rich object-oriented (OO) features. JavaScript uses a </a:t>
            </a:r>
            <a:r>
              <a:rPr lang="en" sz="1400" i="1">
                <a:solidFill>
                  <a:srgbClr val="333333"/>
                </a:solidFill>
                <a:highlight>
                  <a:srgbClr val="FFFFFF"/>
                </a:highlight>
              </a:rPr>
              <a:t>prototypal inheritance</a:t>
            </a: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 model. New objects automatically inherit methods and attributes of their parent object through the </a:t>
            </a:r>
            <a:r>
              <a:rPr lang="en" sz="1400" i="1">
                <a:solidFill>
                  <a:srgbClr val="333333"/>
                </a:solidFill>
                <a:highlight>
                  <a:srgbClr val="FFFFFF"/>
                </a:highlight>
              </a:rPr>
              <a:t>prototype chain</a:t>
            </a: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FF"/>
                </a:solidFill>
                <a:highlight>
                  <a:srgbClr val="FFFFFF"/>
                </a:highlight>
              </a:rPr>
              <a:t>Syntax</a:t>
            </a:r>
            <a:endParaRPr sz="1400" b="1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The JavaScript syntax should be immediately familiar to anybody who has experience with C-family languages, such as C++, Java, C#, and PHP.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40000"/>
              </a:lnSpc>
              <a:spcBef>
                <a:spcPts val="1900"/>
              </a:spcBef>
              <a:spcAft>
                <a:spcPts val="0"/>
              </a:spcAft>
              <a:buNone/>
            </a:pP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610900" y="1349300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2100" b="1">
                <a:solidFill>
                  <a:srgbClr val="0000FF"/>
                </a:solidFill>
                <a:highlight>
                  <a:srgbClr val="FFFFFF"/>
                </a:highlight>
              </a:rPr>
              <a:t>Events</a:t>
            </a:r>
            <a:endParaRPr sz="2100" b="1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</a:rPr>
              <a:t>Inside the browser, everything runs in an </a:t>
            </a:r>
            <a:r>
              <a:rPr lang="en" sz="1500" b="1">
                <a:solidFill>
                  <a:srgbClr val="333333"/>
                </a:solidFill>
                <a:highlight>
                  <a:srgbClr val="FFFFFF"/>
                </a:highlight>
              </a:rPr>
              <a:t>event loop</a:t>
            </a: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</a:rPr>
              <a:t>. Operations that might block processing in other languages happen concurrently in JavaScript.</a:t>
            </a: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2100" b="1">
                <a:solidFill>
                  <a:srgbClr val="0000FF"/>
                </a:solidFill>
                <a:highlight>
                  <a:srgbClr val="FFFFFF"/>
                </a:highlight>
              </a:rPr>
              <a:t>Reusability</a:t>
            </a:r>
            <a:endParaRPr sz="2100" b="1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</a:rPr>
              <a:t>JavaScript code, by virtue of its ubiquity, is the most portable, reusable code around.</a:t>
            </a: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11700" y="9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3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>
                <a:solidFill>
                  <a:srgbClr val="3D3B49"/>
                </a:solidFill>
                <a:highlight>
                  <a:srgbClr val="FFFFFF"/>
                </a:highlight>
              </a:rPr>
              <a:t>Anatomy of a Typical Modern JavaScript App</a:t>
            </a:r>
            <a:endParaRPr sz="2300">
              <a:solidFill>
                <a:srgbClr val="3D3B49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l="5192" r="4030"/>
          <a:stretch/>
        </p:blipFill>
        <p:spPr>
          <a:xfrm>
            <a:off x="90025" y="1259975"/>
            <a:ext cx="5654401" cy="290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5671075" y="670975"/>
            <a:ext cx="3327000" cy="39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65000"/>
              </a:lnSpc>
              <a:spcBef>
                <a:spcPts val="310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 b="1">
                <a:solidFill>
                  <a:srgbClr val="333333"/>
                </a:solidFill>
                <a:highlight>
                  <a:srgbClr val="FFFFFF"/>
                </a:highlight>
              </a:rPr>
              <a:t> Data store</a:t>
            </a:r>
            <a:endParaRPr sz="11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29845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 b="1">
                <a:solidFill>
                  <a:srgbClr val="333333"/>
                </a:solidFill>
                <a:highlight>
                  <a:srgbClr val="FFFFFF"/>
                </a:highlight>
              </a:rPr>
              <a:t>A virtual private network (VPN) or firewall (to protect the data store from unauthorized access)</a:t>
            </a:r>
            <a:endParaRPr sz="11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29845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 b="1">
                <a:solidFill>
                  <a:srgbClr val="333333"/>
                </a:solidFill>
                <a:highlight>
                  <a:srgbClr val="FFFFFF"/>
                </a:highlight>
              </a:rPr>
              <a:t>A black box JSON RESTful Web Service Layer</a:t>
            </a:r>
            <a:endParaRPr sz="11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29845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 b="1">
                <a:solidFill>
                  <a:srgbClr val="333333"/>
                </a:solidFill>
                <a:highlight>
                  <a:srgbClr val="FFFFFF"/>
                </a:highlight>
              </a:rPr>
              <a:t>Various third-party APIs</a:t>
            </a:r>
            <a:endParaRPr sz="11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29845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 b="1">
                <a:solidFill>
                  <a:srgbClr val="333333"/>
                </a:solidFill>
                <a:highlight>
                  <a:srgbClr val="FFFFFF"/>
                </a:highlight>
              </a:rPr>
              <a:t>An app server/content management system (CMS) to route requests and deliver pages to the client</a:t>
            </a:r>
            <a:endParaRPr sz="11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29845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 b="1">
                <a:solidFill>
                  <a:srgbClr val="333333"/>
                </a:solidFill>
                <a:highlight>
                  <a:srgbClr val="FFFFFF"/>
                </a:highlight>
              </a:rPr>
              <a:t>A static content deliver network (CDN) for cached files (like images, JavaScript, CSS, and client-side templates)</a:t>
            </a:r>
            <a:endParaRPr sz="11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29845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lang="en" sz="1100" b="1">
                <a:solidFill>
                  <a:srgbClr val="333333"/>
                </a:solidFill>
                <a:highlight>
                  <a:srgbClr val="FFFFFF"/>
                </a:highlight>
              </a:rPr>
              <a:t>The client (browser)</a:t>
            </a:r>
            <a:endParaRPr sz="1100" b="1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716" y="624384"/>
            <a:ext cx="7688700" cy="5295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63" y="0"/>
            <a:ext cx="8308074" cy="51435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533" y="982133"/>
            <a:ext cx="8906934" cy="3784600"/>
          </a:xfrm>
        </p:spPr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08706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804</Words>
  <Application>Microsoft Office PowerPoint</Application>
  <PresentationFormat>On-screen Show (16:9)</PresentationFormat>
  <Paragraphs>52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Raleway</vt:lpstr>
      <vt:lpstr>Arial</vt:lpstr>
      <vt:lpstr>Lato</vt:lpstr>
      <vt:lpstr>Lexend</vt:lpstr>
      <vt:lpstr>Roboto</vt:lpstr>
      <vt:lpstr>Georgia</vt:lpstr>
      <vt:lpstr>Streamline</vt:lpstr>
      <vt:lpstr>THE JAVASCRIPT REVOLUTION</vt:lpstr>
      <vt:lpstr>Pillars of Web Development</vt:lpstr>
      <vt:lpstr>Purpose of JavaScript</vt:lpstr>
      <vt:lpstr>The JavaScript Revolution </vt:lpstr>
      <vt:lpstr>PowerPoint Presentation</vt:lpstr>
      <vt:lpstr>Advantages of JavaScript </vt:lpstr>
      <vt:lpstr>PowerPoint Presentation</vt:lpstr>
      <vt:lpstr>Anatomy of a Typical Modern JavaScript App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JAVASCRIPT REVOLUTION</dc:title>
  <cp:lastModifiedBy>Debabrata Swain</cp:lastModifiedBy>
  <cp:revision>4</cp:revision>
  <dcterms:modified xsi:type="dcterms:W3CDTF">2026-01-06T09:50:45Z</dcterms:modified>
</cp:coreProperties>
</file>